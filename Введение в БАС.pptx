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5" autoAdjust="0"/>
    <p:restoredTop sz="94610"/>
  </p:normalViewPr>
  <p:slideViewPr>
    <p:cSldViewPr snapToGrid="0" snapToObjects="1">
      <p:cViewPr>
        <p:scale>
          <a:sx n="66" d="100"/>
          <a:sy n="66" d="100"/>
        </p:scale>
        <p:origin x="10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094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Приветствие. Обозначьте тему: вводное знакомство с беспилотными авиационными системами. Сразу подчеркните: речь не только о дронах как летательных аппаратах, а о целой системе — аппарат, наземная станция, связь, оператор, программное обеспечение и данные. Регламент: 60–90 минут, вопросы можно задавать по ходу или в финале.</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Поясните логику занятия: сначала определяем, что такое БАС, затем разбираем классификацию и области применения, после этого переходим к инженерному ядру — архитектуре системы, и завершаем безопасностью и регулированием.</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конце лекции студент должен уметь объяснить БАС как систему и на простом примере показать, как взаимодействуют аппарат, полезная нагрузка, оператор, наземная станция, связь и программная обработка данных.</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Начинаем с понятий. Важно снять главную путаницу: БПЛА — это воздушное судно, а БАС — система эксплуатации беспилотной авиации.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Разведите термины. БПЛА — отдельная физическая единица. БАС — комплексная инфраструктурная система. В международной практике используются UAS, UAV, RPA, RPAS. Подчеркните: когда мы проектируем или закупаем систему, нельзя учитывать только стоимость аппарата. Нужно учитывать наземную станцию, связь, полезную нагрузку, программное обеспечение, подготовку операторов, регламенты и сервисное обслуживание.</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Кратко пройдите историю: от радиоуправляемых мишеней и военных разведчиков к массовому гражданскому рынку. Укажите ключевые технологические драйверы: инерциальные датчики MEMS, спутниковая навигация, аккумуляторы, миниатюрные камеры, доступные полетные контроллеры и программное обеспечение.</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классификации. Это не формальность: тип аппарата определяет, какую задачу он сможет выполнить эффективно и безопасно.</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Сравните основные типы. Самолёт эффективен на больших расстояниях, но не висит и требует стартово-посадочной инфраструктуры. Мультиротор прост в эксплуатации, способен висеть и работать на точке, но обычно летает недолго. Вертолётный тип сложнее механически. VTOL сочетает вертикальный взлет с крейсерской эффективностью крыла, но усложняет конструкцию и алгоритмы перехода между режимами.</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Пороговые значения зависят от страны и конкретного регулятора. В учебной логике важно не заучивание одной таблицы, а понимание: чем больше масса и энергия аппарата, тем выше потенциальные риски, требования к квалификации, процедурам и технической надежности.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Используйте таблицу как практический инструмент выбора. Для поля 500 гектаров лучше самолётный тип или VTOL. Для осмотра изолятора на ЛЭП — мультиротор с тепловизором и зум-камерой. Для доставки тяжелого груза может потребоваться специализированная платформа с резервированием критических систем.</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применению. Сквозная мысль: одна летная платформа может решать разные задачи, если меняется полезная нагрузка и программная обработка данных.</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Дайте обзор сфер применения. Далее каждый блок будет раскрыт через пример. Подчеркивайте, что в большинстве гражданских задач итоговая ценность — не сам факт полета, а данные: карта, 3D-модель, обнаруженная аномалия, отчет для инженера или спасателя.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пример: вместо ручного обхода поля проводится облёт, затем строится карта состояния растений. NDVI показывает соотношение отражения в ближнем инфракрасном и красном диапазоне. Для внесения агродроны используют нисходящий поток винтов, который помогает препарату проникать в растительный покров. Укажите ограничения: ветер, влажность, регламент применения средств защиты растений и безопасность окружающих.</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Покажите ценность БАС на опасных и протяженных объектах. Осмотр ЛЭП, мостов, трубопроводов и ветрогенераторов часто требует подъема людей, остановки оборудования или длительного наземного обхода. Дрон сокращает время обследования и снижает риски, особенно при тепловизионной диагностике и мониторинге труднодоступных участков.</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фотограмметрию простыми словами: алгоритм находит общие точки на перекрывающихся фотографиях и восстанавливает геометрию. LiDAR полезен там, где обычные фотографии не видят поверхность земли из-за растительности. В строительстве дроны дают частые и сопоставимые срезы состояния площадки.</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Поясните, что массовая доставка дронами развивается не только как технология, но и как вопрос экономики и регулирования. Даже если аппарат способен лететь, нужно доказать безопасность маршрута, надежность связи, отказоустойчивость, безопасность людей на земле и устойчивость бизнес-модели.</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поисково-спасательных задачах особенно важны первые часы. БАС быстро дает картину сверху и может работать там, где человеку опасно или долго добираться. В экологических задачах ценна повторяемость: можно регулярно облетать территорию и сравнивать изменения во времени.</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Начинается основной инженерный блок. Объясняем БАС как совокупность взаимодействующих подсистем.</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Этот слайд — центральная модель архитектуры. Воздушный сегмент выполняет полет и несет полезную нагрузку. Наземный сегмент планирует и контролирует миссию. Каналы связи передают команды, телеметрию и данные полезной нагрузки. Человеческий сегмент принимает решения, отвечает за безопасность и выполняет регламенты.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дополнительном материале подробно разбираются композиты: CFRP, Nomex, PMI Foam, Kevlar Honeycomb, бальза. Для вводной лекции достаточно объяснить принцип: сэндвич-панель дает большую жесткость при малой массе, что критично для длительности полета и полезной нагрузки.</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компромисс. Электрические мультикоптеры удобны и просты, но обычно ограничены временем полета. ДВС и гибриды подходят для дальних миссий, но создают шум и вибрации. Водородные топливные элементы перспективны для длительного полета, но требуют инфраструктуры и строгой безопасности обращения с водородом.</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Контур управления работает много раз в секунду. Датчики измеряют ускорения, угловые скорости, высоту, курс и координаты. Полетный контроллер оценивает состояние аппарата и выдает команды моторам или рулевым поверхностям. Объясните функции: стабилизация, удержание позиции, полет по путевым точкам, возврат домой, реакция на потерю связи. Расшифруйте аббревиатуры при первом упоминании: IMU — инерциальный измерительный блок (акселерометры и гироскопы); GNSS — глобальная спутниковая навигация; RTK/PPK — высокоточное позиционирование (в реальном времени / постобработкой).</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Полезная нагрузка определяет прикладную ценность. Один и тот же носитель может использоваться для видеосъемки, тепловизионного поиска, мультиспектральной агроаналитики, лидарной съемки или доставки. Для камеры важен подвес-гимбал, который стабилизирует изображение и компенсирует колебания.</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Наземная станция — это рабочее место внешнего экипажа. В простых системах это пульт и смартфон, в профессиональных — защищенный кейс с промышленным компьютером, яркими экранами, резервированными органами управления и антеннами. Автоматические антенные трекеры повышают дальность и стабильность связи.</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Объясните uplink и downlink. Для управления важна надежность и задержка; для видео — пропускная способность. В профессиональных системах используются помехоустойчивые методы: частотная перестройка, кодирование, направленные антенны, резервные каналы. При потере связи аппарат должен иметь заранее заданное безопасное поведение: зависнуть, вернуться домой, сесть или прекратить полет. Расшифруйте аббревиатуры: C2 — командно-телеметрический канал; BLOS — вне радиовидимости; FTS — система аварийного прекращения полёта. Для баланса перечислите и другие риски связи: многолучёвость и отсутствие прямой видимости (NLOS), спуфинг GNSS и киберугрозы. Частотные диапазоны (433/868/915 МГц и др.) региональны — конкретные частоты зависят от страны.</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Сквозная мысль: итог работы БАС часто не полет, а цифровой продукт. Дополнительный инженерный материал описывает SLAM и навигацию в условиях GPS-denied. На вводном уровне важно сказать: автономность требует бортового вычислителя, датчиков и алгоритмов, которые сравнивают изображение или облако точек с окружающей средой и оценивают положение аппарата без спутниковой навигации.</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Финальный содержательный блок: безопасность, правовая среда и будущие тенденции.</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Конкретные нормы зависят от страны и меняются. На вводной лекции лучше объяснить принципы: чем выше риск для людей, воздушного движения и инфраструктуры, тем больше требований к аппарату, оператору и процедурам. U-space/UTM — цифровое управление движением беспилотников. SORA — риск-ориентированная методология для специфических операций. По дополнительному материалу также можно упомянуть российский контекст: класс H и специальные беспилотные маршруты.</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Подчеркните: безопасность начинается до взлета. Даже надежная техника может быть опасной при плохом планировании миссии. Важны чек-листы, резервирование, геозоны, контроль метеоусловий, корректная реакция на потерю связи и анализ логов после полета.</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Повторите пять главных выводов. Затем задайте контрольные вопросы аудитории. Если время ограничено, вопросы можно оставить как самостоятельную проверку. Укажите, что дополнительные технические сведения использованы для усиления разделов классификации, применения, архитектуры, связи, автономности и регулирования.</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pic>
        <p:nvPicPr>
          <p:cNvPr id="2" name="Image 0" descr="/mnt/data/a_clean_high_resolution_photorealistic_indoor_ha_batch_2.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3A5F">
              <a:alpha val="80000"/>
            </a:srgbClr>
          </a:solidFill>
          <a:ln w="12700">
            <a:solidFill>
              <a:srgbClr val="333333">
                <a:alpha val="0"/>
              </a:srgbClr>
            </a:solidFill>
            <a:prstDash val="solid"/>
          </a:ln>
        </p:spPr>
      </p:sp>
      <p:sp>
        <p:nvSpPr>
          <p:cNvPr id="4" name="Shape 1"/>
          <p:cNvSpPr/>
          <p:nvPr/>
        </p:nvSpPr>
        <p:spPr>
          <a:xfrm>
            <a:off x="502920" y="777240"/>
            <a:ext cx="109728" cy="5257800"/>
          </a:xfrm>
          <a:prstGeom prst="rect">
            <a:avLst/>
          </a:prstGeom>
          <a:solidFill>
            <a:srgbClr val="38BDF8"/>
          </a:solidFill>
          <a:ln w="12700">
            <a:solidFill>
              <a:srgbClr val="333333">
                <a:alpha val="0"/>
              </a:srgbClr>
            </a:solidFill>
            <a:prstDash val="solid"/>
          </a:ln>
        </p:spPr>
      </p:sp>
      <p:sp>
        <p:nvSpPr>
          <p:cNvPr id="5" name="Text 2"/>
          <p:cNvSpPr/>
          <p:nvPr/>
        </p:nvSpPr>
        <p:spPr>
          <a:xfrm>
            <a:off x="841248" y="1143000"/>
            <a:ext cx="7498080" cy="1463040"/>
          </a:xfrm>
          <a:prstGeom prst="rect">
            <a:avLst/>
          </a:prstGeom>
          <a:noFill/>
          <a:ln/>
        </p:spPr>
        <p:txBody>
          <a:bodyPr wrap="square" lIns="0" tIns="0" rIns="0" bIns="0" rtlCol="0" anchor="ctr">
            <a:normAutofit fontScale="92500"/>
          </a:bodyPr>
          <a:lstStyle/>
          <a:p>
            <a:pPr marL="0" indent="0">
              <a:buNone/>
            </a:pPr>
            <a:r>
              <a:rPr lang="en-US" sz="4200" b="1" dirty="0">
                <a:solidFill>
                  <a:srgbClr val="FFFFFF"/>
                </a:solidFill>
              </a:rPr>
              <a:t>Введение в беспилотные</a:t>
            </a:r>
            <a:endParaRPr lang="en-US" sz="4200" dirty="0"/>
          </a:p>
          <a:p>
            <a:pPr marL="0" indent="0">
              <a:buNone/>
            </a:pPr>
            <a:r>
              <a:rPr lang="en-US" sz="4200" b="1" dirty="0">
                <a:solidFill>
                  <a:srgbClr val="FFFFFF"/>
                </a:solidFill>
              </a:rPr>
              <a:t>авиационные системы (БАС)</a:t>
            </a:r>
            <a:endParaRPr lang="en-US" sz="4200" dirty="0"/>
          </a:p>
        </p:txBody>
      </p:sp>
      <p:sp>
        <p:nvSpPr>
          <p:cNvPr id="6" name="Text 3"/>
          <p:cNvSpPr/>
          <p:nvPr/>
        </p:nvSpPr>
        <p:spPr>
          <a:xfrm>
            <a:off x="877824" y="2788920"/>
            <a:ext cx="7680960" cy="329184"/>
          </a:xfrm>
          <a:prstGeom prst="rect">
            <a:avLst/>
          </a:prstGeom>
          <a:noFill/>
          <a:ln/>
        </p:spPr>
        <p:txBody>
          <a:bodyPr wrap="square" lIns="0" tIns="0" rIns="0" bIns="0" rtlCol="0" anchor="ctr">
            <a:normAutofit/>
          </a:bodyPr>
          <a:lstStyle/>
          <a:p>
            <a:pPr marL="0" indent="0">
              <a:buNone/>
            </a:pPr>
            <a:r>
              <a:rPr lang="en-US" sz="2000" dirty="0">
                <a:solidFill>
                  <a:srgbClr val="D9ECFF"/>
                </a:solidFill>
              </a:rPr>
              <a:t>Сферы применения · Архитектура БАС · Безопасность</a:t>
            </a:r>
            <a:endParaRPr lang="en-US" sz="2000" dirty="0"/>
          </a:p>
        </p:txBody>
      </p:sp>
      <p:sp>
        <p:nvSpPr>
          <p:cNvPr id="7" name="Shape 4"/>
          <p:cNvSpPr/>
          <p:nvPr/>
        </p:nvSpPr>
        <p:spPr>
          <a:xfrm>
            <a:off x="868680" y="5166360"/>
            <a:ext cx="3931920" cy="530352"/>
          </a:xfrm>
          <a:prstGeom prst="roundRect">
            <a:avLst>
              <a:gd name="adj" fmla="val 13793"/>
            </a:avLst>
          </a:prstGeom>
          <a:solidFill>
            <a:srgbClr val="2E86DE"/>
          </a:solidFill>
          <a:ln w="12700">
            <a:solidFill>
              <a:srgbClr val="333333">
                <a:alpha val="0"/>
              </a:srgbClr>
            </a:solidFill>
            <a:prstDash val="solid"/>
          </a:ln>
        </p:spPr>
      </p:sp>
      <p:sp>
        <p:nvSpPr>
          <p:cNvPr id="8" name="Text 5"/>
          <p:cNvSpPr/>
          <p:nvPr/>
        </p:nvSpPr>
        <p:spPr>
          <a:xfrm>
            <a:off x="1051560" y="5340096"/>
            <a:ext cx="3566160" cy="182880"/>
          </a:xfrm>
          <a:prstGeom prst="rect">
            <a:avLst/>
          </a:prstGeom>
          <a:noFill/>
          <a:ln/>
        </p:spPr>
        <p:txBody>
          <a:bodyPr wrap="square" lIns="0" tIns="0" rIns="0" bIns="0" rtlCol="0" anchor="ctr">
            <a:normAutofit lnSpcReduction="10000"/>
          </a:bodyPr>
          <a:lstStyle/>
          <a:p>
            <a:pPr marL="0" indent="0" algn="ctr">
              <a:buNone/>
            </a:pPr>
            <a:r>
              <a:rPr lang="en-US" sz="1250" b="1" dirty="0">
                <a:solidFill>
                  <a:srgbClr val="FFFFFF"/>
                </a:solidFill>
              </a:rPr>
              <a:t>Учебная презентация · 60–90 минут</a:t>
            </a:r>
            <a:endParaRPr lang="en-US" sz="1250" dirty="0"/>
          </a:p>
        </p:txBody>
      </p:sp>
      <p:sp>
        <p:nvSpPr>
          <p:cNvPr id="9" name="Text 6"/>
          <p:cNvSpPr/>
          <p:nvPr/>
        </p:nvSpPr>
        <p:spPr>
          <a:xfrm>
            <a:off x="868680" y="5989320"/>
            <a:ext cx="4754880" cy="256032"/>
          </a:xfrm>
          <a:prstGeom prst="rect">
            <a:avLst/>
          </a:prstGeom>
          <a:noFill/>
          <a:ln/>
        </p:spPr>
        <p:txBody>
          <a:bodyPr wrap="square" lIns="0" tIns="0" rIns="0" bIns="0" rtlCol="0" anchor="ctr">
            <a:normAutofit/>
          </a:bodyPr>
          <a:lstStyle/>
          <a:p>
            <a:pPr marL="0" indent="0">
              <a:buNone/>
            </a:pPr>
            <a:r>
              <a:rPr lang="en-US" sz="1200" dirty="0">
                <a:solidFill>
                  <a:srgbClr val="D9ECFF"/>
                </a:solidFill>
              </a:rPr>
              <a:t>ФИО докладчика · организация · дата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ВВЕДЕНИЕ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План лекции</a:t>
            </a:r>
            <a:endParaRPr lang="en-US" sz="3100" dirty="0"/>
          </a:p>
        </p:txBody>
      </p:sp>
      <p:sp>
        <p:nvSpPr>
          <p:cNvPr id="5" name="Shape 3"/>
          <p:cNvSpPr/>
          <p:nvPr/>
        </p:nvSpPr>
        <p:spPr>
          <a:xfrm>
            <a:off x="658368" y="1371600"/>
            <a:ext cx="438912" cy="438912"/>
          </a:xfrm>
          <a:prstGeom prst="ellipse">
            <a:avLst/>
          </a:prstGeom>
          <a:solidFill>
            <a:srgbClr val="2E86DE"/>
          </a:solidFill>
          <a:ln w="12700">
            <a:solidFill>
              <a:srgbClr val="333333">
                <a:alpha val="0"/>
              </a:srgbClr>
            </a:solidFill>
            <a:prstDash val="solid"/>
          </a:ln>
        </p:spPr>
      </p:sp>
      <p:sp>
        <p:nvSpPr>
          <p:cNvPr id="6" name="Text 4"/>
          <p:cNvSpPr/>
          <p:nvPr/>
        </p:nvSpPr>
        <p:spPr>
          <a:xfrm>
            <a:off x="658368" y="1490472"/>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01</a:t>
            </a:r>
            <a:endParaRPr lang="en-US" sz="1050" dirty="0"/>
          </a:p>
        </p:txBody>
      </p:sp>
      <p:sp>
        <p:nvSpPr>
          <p:cNvPr id="7" name="Text 5"/>
          <p:cNvSpPr/>
          <p:nvPr/>
        </p:nvSpPr>
        <p:spPr>
          <a:xfrm>
            <a:off x="1298448" y="1399032"/>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Понятия и терминология</a:t>
            </a:r>
            <a:endParaRPr lang="en-US" sz="1900" dirty="0"/>
          </a:p>
        </p:txBody>
      </p:sp>
      <p:sp>
        <p:nvSpPr>
          <p:cNvPr id="8" name="Text 6"/>
          <p:cNvSpPr/>
          <p:nvPr/>
        </p:nvSpPr>
        <p:spPr>
          <a:xfrm>
            <a:off x="4983480" y="1417320"/>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БАС, БПЛА, дрон, RPAS, уровни автономности</a:t>
            </a:r>
            <a:endParaRPr lang="en-US" sz="1550" dirty="0"/>
          </a:p>
        </p:txBody>
      </p:sp>
      <p:sp>
        <p:nvSpPr>
          <p:cNvPr id="9" name="Shape 7"/>
          <p:cNvSpPr/>
          <p:nvPr/>
        </p:nvSpPr>
        <p:spPr>
          <a:xfrm>
            <a:off x="658368" y="2084832"/>
            <a:ext cx="438912" cy="438912"/>
          </a:xfrm>
          <a:prstGeom prst="ellipse">
            <a:avLst/>
          </a:prstGeom>
          <a:solidFill>
            <a:srgbClr val="2E86DE"/>
          </a:solidFill>
          <a:ln w="12700">
            <a:solidFill>
              <a:srgbClr val="333333">
                <a:alpha val="0"/>
              </a:srgbClr>
            </a:solidFill>
            <a:prstDash val="solid"/>
          </a:ln>
        </p:spPr>
      </p:sp>
      <p:sp>
        <p:nvSpPr>
          <p:cNvPr id="10" name="Text 8"/>
          <p:cNvSpPr/>
          <p:nvPr/>
        </p:nvSpPr>
        <p:spPr>
          <a:xfrm>
            <a:off x="658368" y="2203704"/>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02</a:t>
            </a:r>
            <a:endParaRPr lang="en-US" sz="1050" dirty="0"/>
          </a:p>
        </p:txBody>
      </p:sp>
      <p:sp>
        <p:nvSpPr>
          <p:cNvPr id="11" name="Text 9"/>
          <p:cNvSpPr/>
          <p:nvPr/>
        </p:nvSpPr>
        <p:spPr>
          <a:xfrm>
            <a:off x="1298448" y="2112264"/>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Классификация БАС</a:t>
            </a:r>
            <a:endParaRPr lang="en-US" sz="1900" dirty="0"/>
          </a:p>
        </p:txBody>
      </p:sp>
      <p:sp>
        <p:nvSpPr>
          <p:cNvPr id="12" name="Text 10"/>
          <p:cNvSpPr/>
          <p:nvPr/>
        </p:nvSpPr>
        <p:spPr>
          <a:xfrm>
            <a:off x="4983480" y="2130552"/>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конструкция, масса, дальность, назначение</a:t>
            </a:r>
            <a:endParaRPr lang="en-US" sz="1550" dirty="0"/>
          </a:p>
        </p:txBody>
      </p:sp>
      <p:sp>
        <p:nvSpPr>
          <p:cNvPr id="13" name="Shape 11"/>
          <p:cNvSpPr/>
          <p:nvPr/>
        </p:nvSpPr>
        <p:spPr>
          <a:xfrm>
            <a:off x="658368" y="2798064"/>
            <a:ext cx="438912" cy="438912"/>
          </a:xfrm>
          <a:prstGeom prst="ellipse">
            <a:avLst/>
          </a:prstGeom>
          <a:solidFill>
            <a:srgbClr val="2E86DE"/>
          </a:solidFill>
          <a:ln w="12700">
            <a:solidFill>
              <a:srgbClr val="333333">
                <a:alpha val="0"/>
              </a:srgbClr>
            </a:solidFill>
            <a:prstDash val="solid"/>
          </a:ln>
        </p:spPr>
      </p:sp>
      <p:sp>
        <p:nvSpPr>
          <p:cNvPr id="14" name="Text 12"/>
          <p:cNvSpPr/>
          <p:nvPr/>
        </p:nvSpPr>
        <p:spPr>
          <a:xfrm>
            <a:off x="658368" y="2916936"/>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03</a:t>
            </a:r>
            <a:endParaRPr lang="en-US" sz="1050" dirty="0"/>
          </a:p>
        </p:txBody>
      </p:sp>
      <p:sp>
        <p:nvSpPr>
          <p:cNvPr id="15" name="Text 13"/>
          <p:cNvSpPr/>
          <p:nvPr/>
        </p:nvSpPr>
        <p:spPr>
          <a:xfrm>
            <a:off x="1298448" y="2825496"/>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Сферы применения</a:t>
            </a:r>
            <a:endParaRPr lang="en-US" sz="1900" dirty="0"/>
          </a:p>
        </p:txBody>
      </p:sp>
      <p:sp>
        <p:nvSpPr>
          <p:cNvPr id="16" name="Text 14"/>
          <p:cNvSpPr/>
          <p:nvPr/>
        </p:nvSpPr>
        <p:spPr>
          <a:xfrm>
            <a:off x="4983480" y="2843784"/>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агро, ТЭК, геодезия, логистика, МЧС, медиа</a:t>
            </a:r>
            <a:endParaRPr lang="en-US" sz="1550" dirty="0"/>
          </a:p>
        </p:txBody>
      </p:sp>
      <p:sp>
        <p:nvSpPr>
          <p:cNvPr id="17" name="Shape 15"/>
          <p:cNvSpPr/>
          <p:nvPr/>
        </p:nvSpPr>
        <p:spPr>
          <a:xfrm>
            <a:off x="658368" y="3511296"/>
            <a:ext cx="438912" cy="438912"/>
          </a:xfrm>
          <a:prstGeom prst="ellipse">
            <a:avLst/>
          </a:prstGeom>
          <a:solidFill>
            <a:srgbClr val="2E86DE"/>
          </a:solidFill>
          <a:ln w="12700">
            <a:solidFill>
              <a:srgbClr val="333333">
                <a:alpha val="0"/>
              </a:srgbClr>
            </a:solidFill>
            <a:prstDash val="solid"/>
          </a:ln>
        </p:spPr>
      </p:sp>
      <p:sp>
        <p:nvSpPr>
          <p:cNvPr id="18" name="Text 16"/>
          <p:cNvSpPr/>
          <p:nvPr/>
        </p:nvSpPr>
        <p:spPr>
          <a:xfrm>
            <a:off x="658368" y="3630168"/>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04</a:t>
            </a:r>
            <a:endParaRPr lang="en-US" sz="1050" dirty="0"/>
          </a:p>
        </p:txBody>
      </p:sp>
      <p:sp>
        <p:nvSpPr>
          <p:cNvPr id="19" name="Text 17"/>
          <p:cNvSpPr/>
          <p:nvPr/>
        </p:nvSpPr>
        <p:spPr>
          <a:xfrm>
            <a:off x="1298448" y="3538728"/>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Архитектура БАС</a:t>
            </a:r>
            <a:endParaRPr lang="en-US" sz="1900" dirty="0"/>
          </a:p>
        </p:txBody>
      </p:sp>
      <p:sp>
        <p:nvSpPr>
          <p:cNvPr id="20" name="Text 18"/>
          <p:cNvSpPr/>
          <p:nvPr/>
        </p:nvSpPr>
        <p:spPr>
          <a:xfrm>
            <a:off x="4983480" y="3557016"/>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воздушный, наземный, связь, человек, ПО</a:t>
            </a:r>
            <a:endParaRPr lang="en-US" sz="1550" dirty="0"/>
          </a:p>
        </p:txBody>
      </p:sp>
      <p:sp>
        <p:nvSpPr>
          <p:cNvPr id="21" name="Shape 19"/>
          <p:cNvSpPr/>
          <p:nvPr/>
        </p:nvSpPr>
        <p:spPr>
          <a:xfrm>
            <a:off x="658368" y="4224528"/>
            <a:ext cx="438912" cy="438912"/>
          </a:xfrm>
          <a:prstGeom prst="ellipse">
            <a:avLst/>
          </a:prstGeom>
          <a:solidFill>
            <a:srgbClr val="2E86DE"/>
          </a:solidFill>
          <a:ln w="12700">
            <a:solidFill>
              <a:srgbClr val="333333">
                <a:alpha val="0"/>
              </a:srgbClr>
            </a:solidFill>
            <a:prstDash val="solid"/>
          </a:ln>
        </p:spPr>
      </p:sp>
      <p:sp>
        <p:nvSpPr>
          <p:cNvPr id="22" name="Text 20"/>
          <p:cNvSpPr/>
          <p:nvPr/>
        </p:nvSpPr>
        <p:spPr>
          <a:xfrm>
            <a:off x="658368" y="4343400"/>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05</a:t>
            </a:r>
            <a:endParaRPr lang="en-US" sz="1050" dirty="0"/>
          </a:p>
        </p:txBody>
      </p:sp>
      <p:sp>
        <p:nvSpPr>
          <p:cNvPr id="23" name="Text 21"/>
          <p:cNvSpPr/>
          <p:nvPr/>
        </p:nvSpPr>
        <p:spPr>
          <a:xfrm>
            <a:off x="1298448" y="4251960"/>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Регулирование и безопасность</a:t>
            </a:r>
            <a:endParaRPr lang="en-US" sz="1900" dirty="0"/>
          </a:p>
        </p:txBody>
      </p:sp>
      <p:sp>
        <p:nvSpPr>
          <p:cNvPr id="24" name="Text 22"/>
          <p:cNvSpPr/>
          <p:nvPr/>
        </p:nvSpPr>
        <p:spPr>
          <a:xfrm>
            <a:off x="4983480" y="4270248"/>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VLOS/BVLOS, U-space/UTM, SORA, риски</a:t>
            </a:r>
            <a:endParaRPr lang="en-US" sz="1550" dirty="0"/>
          </a:p>
        </p:txBody>
      </p:sp>
      <p:sp>
        <p:nvSpPr>
          <p:cNvPr id="25" name="Shape 23"/>
          <p:cNvSpPr/>
          <p:nvPr/>
        </p:nvSpPr>
        <p:spPr>
          <a:xfrm>
            <a:off x="658368" y="4937760"/>
            <a:ext cx="438912" cy="438912"/>
          </a:xfrm>
          <a:prstGeom prst="ellipse">
            <a:avLst/>
          </a:prstGeom>
          <a:solidFill>
            <a:srgbClr val="2E86DE"/>
          </a:solidFill>
          <a:ln w="12700">
            <a:solidFill>
              <a:srgbClr val="333333">
                <a:alpha val="0"/>
              </a:srgbClr>
            </a:solidFill>
            <a:prstDash val="solid"/>
          </a:ln>
        </p:spPr>
      </p:sp>
      <p:sp>
        <p:nvSpPr>
          <p:cNvPr id="26" name="Text 24"/>
          <p:cNvSpPr/>
          <p:nvPr/>
        </p:nvSpPr>
        <p:spPr>
          <a:xfrm>
            <a:off x="658368" y="5056632"/>
            <a:ext cx="438912" cy="164592"/>
          </a:xfrm>
          <a:prstGeom prst="rect">
            <a:avLst/>
          </a:prstGeom>
          <a:noFill/>
          <a:ln/>
        </p:spPr>
        <p:txBody>
          <a:bodyPr wrap="square" lIns="0" tIns="0" rIns="0" bIns="0" rtlCol="0" anchor="ctr"/>
          <a:lstStyle/>
          <a:p>
            <a:pPr marL="0" indent="0" algn="ctr">
              <a:buNone/>
            </a:pPr>
            <a:r>
              <a:rPr lang="en-US" sz="1050" b="1" dirty="0">
                <a:solidFill>
                  <a:srgbClr val="FFFFFF"/>
                </a:solidFill>
              </a:rPr>
              <a:t>06</a:t>
            </a:r>
            <a:endParaRPr lang="en-US" sz="1050" dirty="0"/>
          </a:p>
        </p:txBody>
      </p:sp>
      <p:sp>
        <p:nvSpPr>
          <p:cNvPr id="27" name="Text 25"/>
          <p:cNvSpPr/>
          <p:nvPr/>
        </p:nvSpPr>
        <p:spPr>
          <a:xfrm>
            <a:off x="1298448" y="4965192"/>
            <a:ext cx="3657600" cy="228600"/>
          </a:xfrm>
          <a:prstGeom prst="rect">
            <a:avLst/>
          </a:prstGeom>
          <a:noFill/>
          <a:ln/>
        </p:spPr>
        <p:txBody>
          <a:bodyPr wrap="square" lIns="0" tIns="0" rIns="0" bIns="0" rtlCol="0" anchor="ctr"/>
          <a:lstStyle/>
          <a:p>
            <a:pPr marL="0" indent="0">
              <a:buNone/>
            </a:pPr>
            <a:r>
              <a:rPr lang="en-US" sz="1900" b="1" dirty="0">
                <a:solidFill>
                  <a:srgbClr val="13213A"/>
                </a:solidFill>
              </a:rPr>
              <a:t>Итоги и вопросы</a:t>
            </a:r>
            <a:endParaRPr lang="en-US" sz="1900" dirty="0"/>
          </a:p>
        </p:txBody>
      </p:sp>
      <p:sp>
        <p:nvSpPr>
          <p:cNvPr id="28" name="Text 26"/>
          <p:cNvSpPr/>
          <p:nvPr/>
        </p:nvSpPr>
        <p:spPr>
          <a:xfrm>
            <a:off x="4983480" y="4983480"/>
            <a:ext cx="6263640" cy="256032"/>
          </a:xfrm>
          <a:prstGeom prst="rect">
            <a:avLst/>
          </a:prstGeom>
          <a:noFill/>
          <a:ln/>
        </p:spPr>
        <p:txBody>
          <a:bodyPr wrap="square" lIns="0" tIns="0" rIns="0" bIns="0" rtlCol="0" anchor="ctr">
            <a:normAutofit/>
          </a:bodyPr>
          <a:lstStyle/>
          <a:p>
            <a:pPr marL="0" indent="0">
              <a:buNone/>
            </a:pPr>
            <a:r>
              <a:rPr lang="en-US" sz="1550" dirty="0">
                <a:solidFill>
                  <a:srgbClr val="657487"/>
                </a:solidFill>
              </a:rPr>
              <a:t>ключевые выводы и контрольные вопросы</a:t>
            </a:r>
            <a:endParaRPr lang="en-US" sz="1550" dirty="0"/>
          </a:p>
        </p:txBody>
      </p:sp>
      <p:sp>
        <p:nvSpPr>
          <p:cNvPr id="29" name="Shape 27"/>
          <p:cNvSpPr/>
          <p:nvPr/>
        </p:nvSpPr>
        <p:spPr>
          <a:xfrm>
            <a:off x="502920" y="6446520"/>
            <a:ext cx="11201400" cy="0"/>
          </a:xfrm>
          <a:prstGeom prst="line">
            <a:avLst/>
          </a:prstGeom>
          <a:noFill/>
          <a:ln w="7620">
            <a:solidFill>
              <a:srgbClr val="B9C7D8">
                <a:alpha val="65000"/>
              </a:srgbClr>
            </a:solidFill>
            <a:prstDash val="solid"/>
          </a:ln>
        </p:spPr>
      </p:sp>
      <p:sp>
        <p:nvSpPr>
          <p:cNvPr id="30" name="Text 28"/>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31" name="Text 29"/>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ВВЕДЕНИЕ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Учебные цели</a:t>
            </a:r>
            <a:endParaRPr lang="en-US" sz="3100" dirty="0"/>
          </a:p>
        </p:txBody>
      </p:sp>
      <p:sp>
        <p:nvSpPr>
          <p:cNvPr id="5" name="Text 3"/>
          <p:cNvSpPr/>
          <p:nvPr/>
        </p:nvSpPr>
        <p:spPr>
          <a:xfrm>
            <a:off x="777240" y="1325880"/>
            <a:ext cx="6583680" cy="4434840"/>
          </a:xfrm>
          <a:prstGeom prst="rect">
            <a:avLst/>
          </a:prstGeom>
          <a:noFill/>
          <a:ln/>
        </p:spPr>
        <p:txBody>
          <a:bodyPr wrap="square" lIns="1016" tIns="1016" rIns="1016" bIns="1016" rtlCol="0" anchor="t">
            <a:normAutofit/>
          </a:bodyPr>
          <a:lstStyle/>
          <a:p>
            <a:pPr marL="0" indent="0">
              <a:buNone/>
            </a:pPr>
            <a:r>
              <a:rPr lang="en-US" sz="2150" dirty="0">
                <a:solidFill>
                  <a:srgbClr val="13213A"/>
                </a:solidFill>
                <a:latin typeface="Arial" pitchFamily="34" charset="0"/>
                <a:ea typeface="Arial" pitchFamily="34" charset="-122"/>
                <a:cs typeface="Arial" pitchFamily="34" charset="-120"/>
              </a:rPr>
              <a:t>• дать определение БАС и отличать БАС от БПЛА и бытового термина «дрон»;</a:t>
            </a:r>
            <a:endParaRPr lang="en-US" sz="2150" dirty="0"/>
          </a:p>
          <a:p>
            <a:pPr marL="0" indent="0">
              <a:buNone/>
            </a:pPr>
            <a:r>
              <a:rPr lang="en-US" sz="2150" dirty="0">
                <a:solidFill>
                  <a:srgbClr val="13213A"/>
                </a:solidFill>
                <a:latin typeface="Arial" pitchFamily="34" charset="0"/>
                <a:ea typeface="Arial" pitchFamily="34" charset="-122"/>
                <a:cs typeface="Arial" pitchFamily="34" charset="-120"/>
              </a:rPr>
              <a:t>• назвать основные классы БАС и критерии классификации;</a:t>
            </a:r>
            <a:endParaRPr lang="en-US" sz="2150" dirty="0"/>
          </a:p>
          <a:p>
            <a:pPr marL="0" indent="0">
              <a:buNone/>
            </a:pPr>
            <a:r>
              <a:rPr lang="en-US" sz="2150" dirty="0">
                <a:solidFill>
                  <a:srgbClr val="13213A"/>
                </a:solidFill>
                <a:latin typeface="Arial" pitchFamily="34" charset="0"/>
                <a:ea typeface="Arial" pitchFamily="34" charset="-122"/>
                <a:cs typeface="Arial" pitchFamily="34" charset="-120"/>
              </a:rPr>
              <a:t>• привести примеры отраслевого применения и выбрать подходящий тип аппарата;</a:t>
            </a:r>
            <a:endParaRPr lang="en-US" sz="2150" dirty="0"/>
          </a:p>
          <a:p>
            <a:pPr marL="0" indent="0">
              <a:buNone/>
            </a:pPr>
            <a:r>
              <a:rPr lang="en-US" sz="2150" dirty="0">
                <a:solidFill>
                  <a:srgbClr val="13213A"/>
                </a:solidFill>
                <a:latin typeface="Arial" pitchFamily="34" charset="0"/>
                <a:ea typeface="Arial" pitchFamily="34" charset="-122"/>
                <a:cs typeface="Arial" pitchFamily="34" charset="-120"/>
              </a:rPr>
              <a:t>• описать архитектуру БАС: воздушный, наземный, связной и человеческий сегменты;</a:t>
            </a:r>
            <a:endParaRPr lang="en-US" sz="2150" dirty="0"/>
          </a:p>
          <a:p>
            <a:pPr marL="0" indent="0">
              <a:buNone/>
            </a:pPr>
            <a:r>
              <a:rPr lang="en-US" sz="2150" dirty="0">
                <a:solidFill>
                  <a:srgbClr val="13213A"/>
                </a:solidFill>
                <a:latin typeface="Arial" pitchFamily="34" charset="0"/>
                <a:ea typeface="Arial" pitchFamily="34" charset="-122"/>
                <a:cs typeface="Arial" pitchFamily="34" charset="-120"/>
              </a:rPr>
              <a:t>• понимать базовые риски, принципы безопасности и направления развития отрасли.</a:t>
            </a:r>
            <a:endParaRPr lang="en-US" sz="2150" dirty="0"/>
          </a:p>
        </p:txBody>
      </p:sp>
      <p:sp>
        <p:nvSpPr>
          <p:cNvPr id="6" name="Shape 4"/>
          <p:cNvSpPr/>
          <p:nvPr/>
        </p:nvSpPr>
        <p:spPr>
          <a:xfrm>
            <a:off x="7955280" y="1417320"/>
            <a:ext cx="3337560" cy="1325880"/>
          </a:xfrm>
          <a:prstGeom prst="roundRect">
            <a:avLst>
              <a:gd name="adj" fmla="val 5517"/>
            </a:avLst>
          </a:prstGeom>
          <a:solidFill>
            <a:srgbClr val="FFFFFF"/>
          </a:solidFill>
          <a:ln w="12700">
            <a:solidFill>
              <a:srgbClr val="D6E2F2"/>
            </a:solidFill>
            <a:prstDash val="solid"/>
          </a:ln>
        </p:spPr>
      </p:sp>
      <p:sp>
        <p:nvSpPr>
          <p:cNvPr id="7" name="Shape 5"/>
          <p:cNvSpPr/>
          <p:nvPr/>
        </p:nvSpPr>
        <p:spPr>
          <a:xfrm>
            <a:off x="7955280" y="1417320"/>
            <a:ext cx="73152" cy="1325880"/>
          </a:xfrm>
          <a:prstGeom prst="rect">
            <a:avLst/>
          </a:prstGeom>
          <a:solidFill>
            <a:srgbClr val="2E86DE"/>
          </a:solidFill>
          <a:ln w="12700">
            <a:solidFill>
              <a:srgbClr val="333333">
                <a:alpha val="0"/>
              </a:srgbClr>
            </a:solidFill>
            <a:prstDash val="solid"/>
          </a:ln>
        </p:spPr>
      </p:sp>
      <p:sp>
        <p:nvSpPr>
          <p:cNvPr id="8" name="Text 6"/>
          <p:cNvSpPr/>
          <p:nvPr/>
        </p:nvSpPr>
        <p:spPr>
          <a:xfrm>
            <a:off x="8183880" y="1581912"/>
            <a:ext cx="292608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Главная идея</a:t>
            </a:r>
            <a:endParaRPr lang="en-US" sz="1600" dirty="0"/>
          </a:p>
        </p:txBody>
      </p:sp>
      <p:sp>
        <p:nvSpPr>
          <p:cNvPr id="9" name="Text 7"/>
          <p:cNvSpPr/>
          <p:nvPr/>
        </p:nvSpPr>
        <p:spPr>
          <a:xfrm>
            <a:off x="8183880" y="1984248"/>
            <a:ext cx="2926080" cy="685800"/>
          </a:xfrm>
          <a:prstGeom prst="rect">
            <a:avLst/>
          </a:prstGeom>
          <a:noFill/>
          <a:ln/>
        </p:spPr>
        <p:txBody>
          <a:bodyPr wrap="square" lIns="254" tIns="254" rIns="254" bIns="254" rtlCol="0" anchor="t">
            <a:normAutofit fontScale="92500" lnSpcReduction="10000"/>
          </a:bodyPr>
          <a:lstStyle/>
          <a:p>
            <a:pPr marL="0" indent="0">
              <a:buNone/>
            </a:pPr>
            <a:r>
              <a:rPr lang="en-US" sz="1350" dirty="0">
                <a:solidFill>
                  <a:srgbClr val="13213A"/>
                </a:solidFill>
              </a:rPr>
              <a:t>БАС — это не «летающая камера», а инженерная система, где ценность создают полезная нагрузка, связь, данные и организация эксплуатации.</a:t>
            </a:r>
            <a:endParaRPr lang="en-US" sz="1350" dirty="0"/>
          </a:p>
        </p:txBody>
      </p:sp>
      <p:sp>
        <p:nvSpPr>
          <p:cNvPr id="10" name="Shape 8"/>
          <p:cNvSpPr/>
          <p:nvPr/>
        </p:nvSpPr>
        <p:spPr>
          <a:xfrm>
            <a:off x="7955280" y="3063240"/>
            <a:ext cx="3337560" cy="1325880"/>
          </a:xfrm>
          <a:prstGeom prst="roundRect">
            <a:avLst>
              <a:gd name="adj" fmla="val 5517"/>
            </a:avLst>
          </a:prstGeom>
          <a:solidFill>
            <a:srgbClr val="FFFFFF"/>
          </a:solidFill>
          <a:ln w="12700">
            <a:solidFill>
              <a:srgbClr val="D6E2F2"/>
            </a:solidFill>
            <a:prstDash val="solid"/>
          </a:ln>
        </p:spPr>
      </p:sp>
      <p:sp>
        <p:nvSpPr>
          <p:cNvPr id="11" name="Shape 9"/>
          <p:cNvSpPr/>
          <p:nvPr/>
        </p:nvSpPr>
        <p:spPr>
          <a:xfrm>
            <a:off x="7955280" y="3063240"/>
            <a:ext cx="73152" cy="1325880"/>
          </a:xfrm>
          <a:prstGeom prst="rect">
            <a:avLst/>
          </a:prstGeom>
          <a:solidFill>
            <a:srgbClr val="38BDF8"/>
          </a:solidFill>
          <a:ln w="12700">
            <a:solidFill>
              <a:srgbClr val="333333">
                <a:alpha val="0"/>
              </a:srgbClr>
            </a:solidFill>
            <a:prstDash val="solid"/>
          </a:ln>
        </p:spPr>
      </p:sp>
      <p:sp>
        <p:nvSpPr>
          <p:cNvPr id="12" name="Text 10"/>
          <p:cNvSpPr/>
          <p:nvPr/>
        </p:nvSpPr>
        <p:spPr>
          <a:xfrm>
            <a:off x="8183880" y="3227832"/>
            <a:ext cx="292608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Для кого курс</a:t>
            </a:r>
            <a:endParaRPr lang="en-US" sz="1600" dirty="0"/>
          </a:p>
        </p:txBody>
      </p:sp>
      <p:sp>
        <p:nvSpPr>
          <p:cNvPr id="13" name="Text 11"/>
          <p:cNvSpPr/>
          <p:nvPr/>
        </p:nvSpPr>
        <p:spPr>
          <a:xfrm>
            <a:off x="8183880" y="3630168"/>
            <a:ext cx="2926080" cy="685800"/>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Студенты технических специальностей и специалисты смежных областей без глубокой подготовки по БАС.</a:t>
            </a:r>
            <a:endParaRPr lang="en-US" sz="1350" dirty="0"/>
          </a:p>
        </p:txBody>
      </p:sp>
      <p:sp>
        <p:nvSpPr>
          <p:cNvPr id="14" name="Shape 12"/>
          <p:cNvSpPr/>
          <p:nvPr/>
        </p:nvSpPr>
        <p:spPr>
          <a:xfrm>
            <a:off x="502920" y="6446520"/>
            <a:ext cx="11201400" cy="0"/>
          </a:xfrm>
          <a:prstGeom prst="line">
            <a:avLst/>
          </a:prstGeom>
          <a:noFill/>
          <a:ln w="7620">
            <a:solidFill>
              <a:srgbClr val="B9C7D8">
                <a:alpha val="65000"/>
              </a:srgbClr>
            </a:solidFill>
            <a:prstDash val="solid"/>
          </a:ln>
        </p:spPr>
      </p:sp>
      <p:sp>
        <p:nvSpPr>
          <p:cNvPr id="15" name="Text 13"/>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16" name="Text 14"/>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566928" y="1051560"/>
            <a:ext cx="109728" cy="4389120"/>
          </a:xfrm>
          <a:prstGeom prst="rect">
            <a:avLst/>
          </a:prstGeom>
          <a:solidFill>
            <a:srgbClr val="38BDF8"/>
          </a:solidFill>
          <a:ln w="12700">
            <a:solidFill>
              <a:srgbClr val="333333">
                <a:alpha val="0"/>
              </a:srgbClr>
            </a:solidFill>
            <a:prstDash val="solid"/>
          </a:ln>
        </p:spPr>
      </p:sp>
      <p:sp>
        <p:nvSpPr>
          <p:cNvPr id="3" name="Text 1"/>
          <p:cNvSpPr/>
          <p:nvPr/>
        </p:nvSpPr>
        <p:spPr>
          <a:xfrm>
            <a:off x="868680" y="1874520"/>
            <a:ext cx="9875520" cy="822960"/>
          </a:xfrm>
          <a:prstGeom prst="rect">
            <a:avLst/>
          </a:prstGeom>
          <a:noFill/>
          <a:ln/>
        </p:spPr>
        <p:txBody>
          <a:bodyPr wrap="square" lIns="0" tIns="0" rIns="0" bIns="0" rtlCol="0" anchor="ctr">
            <a:normAutofit/>
          </a:bodyPr>
          <a:lstStyle/>
          <a:p>
            <a:pPr marL="0" indent="0">
              <a:buNone/>
            </a:pPr>
            <a:r>
              <a:rPr lang="en-US" sz="4200" b="1" dirty="0">
                <a:solidFill>
                  <a:srgbClr val="FFFFFF"/>
                </a:solidFill>
              </a:rPr>
              <a:t>Что такое БАС</a:t>
            </a:r>
            <a:endParaRPr lang="en-US" sz="4200" dirty="0"/>
          </a:p>
        </p:txBody>
      </p:sp>
      <p:sp>
        <p:nvSpPr>
          <p:cNvPr id="4" name="Text 2"/>
          <p:cNvSpPr/>
          <p:nvPr/>
        </p:nvSpPr>
        <p:spPr>
          <a:xfrm>
            <a:off x="896112" y="2816352"/>
            <a:ext cx="8961120" cy="411480"/>
          </a:xfrm>
          <a:prstGeom prst="rect">
            <a:avLst/>
          </a:prstGeom>
          <a:noFill/>
          <a:ln/>
        </p:spPr>
        <p:txBody>
          <a:bodyPr wrap="square" lIns="0" tIns="0" rIns="0" bIns="0" rtlCol="0" anchor="ctr">
            <a:normAutofit/>
          </a:bodyPr>
          <a:lstStyle/>
          <a:p>
            <a:pPr marL="0" indent="0">
              <a:buNone/>
            </a:pPr>
            <a:r>
              <a:rPr lang="en-US" sz="2000" dirty="0">
                <a:solidFill>
                  <a:srgbClr val="D9ECFF"/>
                </a:solidFill>
              </a:rPr>
              <a:t>Понятия, терминология и системный масштаб</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ПОНЯТИЯ</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БАС, БПЛА, дрон: где граница?</a:t>
            </a:r>
            <a:endParaRPr lang="en-US" sz="3100" dirty="0"/>
          </a:p>
        </p:txBody>
      </p:sp>
      <p:sp>
        <p:nvSpPr>
          <p:cNvPr id="5" name="Shape 3"/>
          <p:cNvSpPr/>
          <p:nvPr/>
        </p:nvSpPr>
        <p:spPr>
          <a:xfrm>
            <a:off x="685800" y="1325880"/>
            <a:ext cx="2514600" cy="1554480"/>
          </a:xfrm>
          <a:prstGeom prst="roundRect">
            <a:avLst>
              <a:gd name="adj" fmla="val 4706"/>
            </a:avLst>
          </a:prstGeom>
          <a:solidFill>
            <a:srgbClr val="FFFFFF"/>
          </a:solidFill>
          <a:ln w="12700">
            <a:solidFill>
              <a:srgbClr val="D6E2F2"/>
            </a:solidFill>
            <a:prstDash val="solid"/>
          </a:ln>
        </p:spPr>
      </p:sp>
      <p:sp>
        <p:nvSpPr>
          <p:cNvPr id="6" name="Shape 4"/>
          <p:cNvSpPr/>
          <p:nvPr/>
        </p:nvSpPr>
        <p:spPr>
          <a:xfrm>
            <a:off x="685800" y="1325880"/>
            <a:ext cx="73152" cy="1554480"/>
          </a:xfrm>
          <a:prstGeom prst="rect">
            <a:avLst/>
          </a:prstGeom>
          <a:solidFill>
            <a:srgbClr val="2E86DE"/>
          </a:solidFill>
          <a:ln w="12700">
            <a:solidFill>
              <a:srgbClr val="333333">
                <a:alpha val="0"/>
              </a:srgbClr>
            </a:solidFill>
            <a:prstDash val="solid"/>
          </a:ln>
        </p:spPr>
      </p:sp>
      <p:sp>
        <p:nvSpPr>
          <p:cNvPr id="7" name="Text 5"/>
          <p:cNvSpPr/>
          <p:nvPr/>
        </p:nvSpPr>
        <p:spPr>
          <a:xfrm>
            <a:off x="914400" y="1490472"/>
            <a:ext cx="210312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БАС / UAS</a:t>
            </a:r>
            <a:endParaRPr lang="en-US" sz="1600" dirty="0"/>
          </a:p>
        </p:txBody>
      </p:sp>
      <p:sp>
        <p:nvSpPr>
          <p:cNvPr id="8" name="Text 6"/>
          <p:cNvSpPr/>
          <p:nvPr/>
        </p:nvSpPr>
        <p:spPr>
          <a:xfrm>
            <a:off x="914400" y="1892808"/>
            <a:ext cx="2103120" cy="9144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Комплекс: БПЛА + НСУ/GCS + каналы связи + оператор/экипаж + регламенты и данные.</a:t>
            </a:r>
            <a:endParaRPr lang="en-US" sz="1350" dirty="0"/>
          </a:p>
        </p:txBody>
      </p:sp>
      <p:sp>
        <p:nvSpPr>
          <p:cNvPr id="9" name="Shape 7"/>
          <p:cNvSpPr/>
          <p:nvPr/>
        </p:nvSpPr>
        <p:spPr>
          <a:xfrm>
            <a:off x="3429000" y="1325880"/>
            <a:ext cx="2514600" cy="1554480"/>
          </a:xfrm>
          <a:prstGeom prst="roundRect">
            <a:avLst>
              <a:gd name="adj" fmla="val 4706"/>
            </a:avLst>
          </a:prstGeom>
          <a:solidFill>
            <a:srgbClr val="FFFFFF"/>
          </a:solidFill>
          <a:ln w="12700">
            <a:solidFill>
              <a:srgbClr val="D6E2F2"/>
            </a:solidFill>
            <a:prstDash val="solid"/>
          </a:ln>
        </p:spPr>
      </p:sp>
      <p:sp>
        <p:nvSpPr>
          <p:cNvPr id="10" name="Shape 8"/>
          <p:cNvSpPr/>
          <p:nvPr/>
        </p:nvSpPr>
        <p:spPr>
          <a:xfrm>
            <a:off x="3429000" y="1325880"/>
            <a:ext cx="73152" cy="1554480"/>
          </a:xfrm>
          <a:prstGeom prst="rect">
            <a:avLst/>
          </a:prstGeom>
          <a:solidFill>
            <a:srgbClr val="38BDF8"/>
          </a:solidFill>
          <a:ln w="12700">
            <a:solidFill>
              <a:srgbClr val="333333">
                <a:alpha val="0"/>
              </a:srgbClr>
            </a:solidFill>
            <a:prstDash val="solid"/>
          </a:ln>
        </p:spPr>
      </p:sp>
      <p:sp>
        <p:nvSpPr>
          <p:cNvPr id="11" name="Text 9"/>
          <p:cNvSpPr/>
          <p:nvPr/>
        </p:nvSpPr>
        <p:spPr>
          <a:xfrm>
            <a:off x="3657600" y="1490472"/>
            <a:ext cx="210312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БПЛА / UAV</a:t>
            </a:r>
            <a:endParaRPr lang="en-US" sz="1600" dirty="0"/>
          </a:p>
        </p:txBody>
      </p:sp>
      <p:sp>
        <p:nvSpPr>
          <p:cNvPr id="12" name="Text 10"/>
          <p:cNvSpPr/>
          <p:nvPr/>
        </p:nvSpPr>
        <p:spPr>
          <a:xfrm>
            <a:off x="3657600" y="1892808"/>
            <a:ext cx="2103120" cy="914400"/>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Физический летательный аппарат без пилота на борту: планер, моторы, авионика, полезная нагрузка.</a:t>
            </a:r>
            <a:endParaRPr lang="en-US" sz="1350" dirty="0"/>
          </a:p>
        </p:txBody>
      </p:sp>
      <p:sp>
        <p:nvSpPr>
          <p:cNvPr id="13" name="Shape 11"/>
          <p:cNvSpPr/>
          <p:nvPr/>
        </p:nvSpPr>
        <p:spPr>
          <a:xfrm>
            <a:off x="6172200" y="1325880"/>
            <a:ext cx="2514600" cy="1554480"/>
          </a:xfrm>
          <a:prstGeom prst="roundRect">
            <a:avLst>
              <a:gd name="adj" fmla="val 4706"/>
            </a:avLst>
          </a:prstGeom>
          <a:solidFill>
            <a:srgbClr val="FFFFFF"/>
          </a:solidFill>
          <a:ln w="12700">
            <a:solidFill>
              <a:srgbClr val="D6E2F2"/>
            </a:solidFill>
            <a:prstDash val="solid"/>
          </a:ln>
        </p:spPr>
      </p:sp>
      <p:sp>
        <p:nvSpPr>
          <p:cNvPr id="14" name="Shape 12"/>
          <p:cNvSpPr/>
          <p:nvPr/>
        </p:nvSpPr>
        <p:spPr>
          <a:xfrm>
            <a:off x="6172200" y="1325880"/>
            <a:ext cx="73152" cy="1554480"/>
          </a:xfrm>
          <a:prstGeom prst="rect">
            <a:avLst/>
          </a:prstGeom>
          <a:solidFill>
            <a:srgbClr val="F59E0B"/>
          </a:solidFill>
          <a:ln w="12700">
            <a:solidFill>
              <a:srgbClr val="333333">
                <a:alpha val="0"/>
              </a:srgbClr>
            </a:solidFill>
            <a:prstDash val="solid"/>
          </a:ln>
        </p:spPr>
      </p:sp>
      <p:sp>
        <p:nvSpPr>
          <p:cNvPr id="15" name="Text 13"/>
          <p:cNvSpPr/>
          <p:nvPr/>
        </p:nvSpPr>
        <p:spPr>
          <a:xfrm>
            <a:off x="6400800" y="1490472"/>
            <a:ext cx="210312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Дрон</a:t>
            </a:r>
            <a:endParaRPr lang="en-US" sz="1600" dirty="0"/>
          </a:p>
        </p:txBody>
      </p:sp>
      <p:sp>
        <p:nvSpPr>
          <p:cNvPr id="16" name="Text 14"/>
          <p:cNvSpPr/>
          <p:nvPr/>
        </p:nvSpPr>
        <p:spPr>
          <a:xfrm>
            <a:off x="6400800" y="1892808"/>
            <a:ext cx="2103120" cy="914400"/>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Бытовой и медийный термин. Удобен в разговоре, но недостаточно точен для инженерного анализа.</a:t>
            </a:r>
            <a:endParaRPr lang="en-US" sz="1350" dirty="0"/>
          </a:p>
        </p:txBody>
      </p:sp>
      <p:sp>
        <p:nvSpPr>
          <p:cNvPr id="17" name="Shape 15"/>
          <p:cNvSpPr/>
          <p:nvPr/>
        </p:nvSpPr>
        <p:spPr>
          <a:xfrm>
            <a:off x="8915400" y="1325880"/>
            <a:ext cx="2514600" cy="1554480"/>
          </a:xfrm>
          <a:prstGeom prst="roundRect">
            <a:avLst>
              <a:gd name="adj" fmla="val 4706"/>
            </a:avLst>
          </a:prstGeom>
          <a:solidFill>
            <a:srgbClr val="FFFFFF"/>
          </a:solidFill>
          <a:ln w="12700">
            <a:solidFill>
              <a:srgbClr val="D6E2F2"/>
            </a:solidFill>
            <a:prstDash val="solid"/>
          </a:ln>
        </p:spPr>
      </p:sp>
      <p:sp>
        <p:nvSpPr>
          <p:cNvPr id="18" name="Shape 16"/>
          <p:cNvSpPr/>
          <p:nvPr/>
        </p:nvSpPr>
        <p:spPr>
          <a:xfrm>
            <a:off x="8915400" y="1325880"/>
            <a:ext cx="73152" cy="1554480"/>
          </a:xfrm>
          <a:prstGeom prst="rect">
            <a:avLst/>
          </a:prstGeom>
          <a:solidFill>
            <a:srgbClr val="2FB344"/>
          </a:solidFill>
          <a:ln w="12700">
            <a:solidFill>
              <a:srgbClr val="333333">
                <a:alpha val="0"/>
              </a:srgbClr>
            </a:solidFill>
            <a:prstDash val="solid"/>
          </a:ln>
        </p:spPr>
      </p:sp>
      <p:sp>
        <p:nvSpPr>
          <p:cNvPr id="19" name="Text 17"/>
          <p:cNvSpPr/>
          <p:nvPr/>
        </p:nvSpPr>
        <p:spPr>
          <a:xfrm>
            <a:off x="9144000" y="1490472"/>
            <a:ext cx="210312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RPAS / RPA</a:t>
            </a:r>
            <a:endParaRPr lang="en-US" sz="1600" dirty="0"/>
          </a:p>
        </p:txBody>
      </p:sp>
      <p:sp>
        <p:nvSpPr>
          <p:cNvPr id="20" name="Text 18"/>
          <p:cNvSpPr/>
          <p:nvPr/>
        </p:nvSpPr>
        <p:spPr>
          <a:xfrm>
            <a:off x="9144000" y="1892808"/>
            <a:ext cx="2103120" cy="914400"/>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Дистанционно пилотируемая авиационная система: человек остается в контуре управления.</a:t>
            </a:r>
            <a:endParaRPr lang="en-US" sz="1350" dirty="0"/>
          </a:p>
        </p:txBody>
      </p:sp>
      <p:sp>
        <p:nvSpPr>
          <p:cNvPr id="21" name="Shape 19"/>
          <p:cNvSpPr/>
          <p:nvPr/>
        </p:nvSpPr>
        <p:spPr>
          <a:xfrm>
            <a:off x="960120" y="3703320"/>
            <a:ext cx="10241280" cy="1234440"/>
          </a:xfrm>
          <a:prstGeom prst="roundRect">
            <a:avLst>
              <a:gd name="adj" fmla="val 4444"/>
            </a:avLst>
          </a:prstGeom>
          <a:solidFill>
            <a:srgbClr val="E9F2FF"/>
          </a:solidFill>
          <a:ln w="12700">
            <a:solidFill>
              <a:srgbClr val="C8DAEF"/>
            </a:solidFill>
            <a:prstDash val="solid"/>
          </a:ln>
        </p:spPr>
      </p:sp>
      <p:sp>
        <p:nvSpPr>
          <p:cNvPr id="22" name="Text 20"/>
          <p:cNvSpPr/>
          <p:nvPr/>
        </p:nvSpPr>
        <p:spPr>
          <a:xfrm>
            <a:off x="1234440" y="3895344"/>
            <a:ext cx="2011680" cy="228600"/>
          </a:xfrm>
          <a:prstGeom prst="rect">
            <a:avLst/>
          </a:prstGeom>
          <a:noFill/>
          <a:ln/>
        </p:spPr>
        <p:txBody>
          <a:bodyPr wrap="square" lIns="0" tIns="0" rIns="0" bIns="0" rtlCol="0" anchor="ctr"/>
          <a:lstStyle/>
          <a:p>
            <a:pPr marL="0" indent="0">
              <a:buNone/>
            </a:pPr>
            <a:r>
              <a:rPr lang="en-US" sz="1500" b="1" dirty="0">
                <a:solidFill>
                  <a:srgbClr val="2E86DE"/>
                </a:solidFill>
              </a:rPr>
              <a:t>Ключевая мысль</a:t>
            </a:r>
            <a:endParaRPr lang="en-US" sz="1500" dirty="0"/>
          </a:p>
        </p:txBody>
      </p:sp>
      <p:sp>
        <p:nvSpPr>
          <p:cNvPr id="23" name="Text 21"/>
          <p:cNvSpPr/>
          <p:nvPr/>
        </p:nvSpPr>
        <p:spPr>
          <a:xfrm>
            <a:off x="1234440" y="4279392"/>
            <a:ext cx="9326880" cy="393192"/>
          </a:xfrm>
          <a:prstGeom prst="rect">
            <a:avLst/>
          </a:prstGeom>
          <a:noFill/>
          <a:ln/>
        </p:spPr>
        <p:txBody>
          <a:bodyPr wrap="square" lIns="0" tIns="0" rIns="0" bIns="0" rtlCol="0" anchor="ctr">
            <a:normAutofit fontScale="92500" lnSpcReduction="20000"/>
          </a:bodyPr>
          <a:lstStyle/>
          <a:p>
            <a:pPr marL="0" indent="0">
              <a:buNone/>
            </a:pPr>
            <a:r>
              <a:rPr lang="en-US" sz="1700" dirty="0">
                <a:solidFill>
                  <a:srgbClr val="13213A"/>
                </a:solidFill>
              </a:rPr>
              <a:t>Ошибка — думать, что система заканчивается планером. В реальном проекте важны также ПО, радиолиния, наземная инфраструктура, оператор и обработка данных.</a:t>
            </a:r>
            <a:endParaRPr lang="en-US" sz="1700" dirty="0"/>
          </a:p>
        </p:txBody>
      </p:sp>
      <p:sp>
        <p:nvSpPr>
          <p:cNvPr id="24" name="Shape 22"/>
          <p:cNvSpPr/>
          <p:nvPr/>
        </p:nvSpPr>
        <p:spPr>
          <a:xfrm>
            <a:off x="502920" y="6446520"/>
            <a:ext cx="11201400" cy="0"/>
          </a:xfrm>
          <a:prstGeom prst="line">
            <a:avLst/>
          </a:prstGeom>
          <a:noFill/>
          <a:ln w="7620">
            <a:solidFill>
              <a:srgbClr val="B9C7D8">
                <a:alpha val="65000"/>
              </a:srgbClr>
            </a:solidFill>
            <a:prstDash val="solid"/>
          </a:ln>
        </p:spPr>
      </p:sp>
      <p:sp>
        <p:nvSpPr>
          <p:cNvPr id="25" name="Text 23"/>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6" name="Text 24"/>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ПОНЯТИЯ</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Почему БАС стали массовыми именно сейчас</a:t>
            </a:r>
            <a:endParaRPr lang="en-US" sz="3100" dirty="0"/>
          </a:p>
        </p:txBody>
      </p:sp>
      <p:sp>
        <p:nvSpPr>
          <p:cNvPr id="5" name="Shape 3"/>
          <p:cNvSpPr/>
          <p:nvPr/>
        </p:nvSpPr>
        <p:spPr>
          <a:xfrm>
            <a:off x="777240" y="1965960"/>
            <a:ext cx="566928" cy="566928"/>
          </a:xfrm>
          <a:prstGeom prst="ellipse">
            <a:avLst/>
          </a:prstGeom>
          <a:solidFill>
            <a:srgbClr val="2E86DE"/>
          </a:solidFill>
          <a:ln w="19050">
            <a:solidFill>
              <a:srgbClr val="FFFFFF"/>
            </a:solidFill>
            <a:prstDash val="solid"/>
          </a:ln>
        </p:spPr>
      </p:sp>
      <p:sp>
        <p:nvSpPr>
          <p:cNvPr id="6" name="Text 4"/>
          <p:cNvSpPr/>
          <p:nvPr/>
        </p:nvSpPr>
        <p:spPr>
          <a:xfrm>
            <a:off x="777240" y="2112264"/>
            <a:ext cx="566928" cy="22860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hape 5"/>
          <p:cNvSpPr/>
          <p:nvPr/>
        </p:nvSpPr>
        <p:spPr>
          <a:xfrm>
            <a:off x="1463040" y="2249424"/>
            <a:ext cx="1709928" cy="0"/>
          </a:xfrm>
          <a:prstGeom prst="line">
            <a:avLst/>
          </a:prstGeom>
          <a:noFill/>
          <a:ln w="13970">
            <a:solidFill>
              <a:srgbClr val="B9C7D8"/>
            </a:solidFill>
            <a:prstDash val="solid"/>
            <a:tailEnd type="triangle"/>
          </a:ln>
        </p:spPr>
      </p:sp>
      <p:sp>
        <p:nvSpPr>
          <p:cNvPr id="8" name="Text 6"/>
          <p:cNvSpPr/>
          <p:nvPr/>
        </p:nvSpPr>
        <p:spPr>
          <a:xfrm>
            <a:off x="731520" y="2788920"/>
            <a:ext cx="1097280" cy="228600"/>
          </a:xfrm>
          <a:prstGeom prst="rect">
            <a:avLst/>
          </a:prstGeom>
          <a:noFill/>
          <a:ln/>
        </p:spPr>
        <p:txBody>
          <a:bodyPr wrap="square" lIns="0" tIns="0" rIns="0" bIns="0" rtlCol="0" anchor="ctr"/>
          <a:lstStyle/>
          <a:p>
            <a:pPr marL="0" indent="0" algn="ctr">
              <a:buNone/>
            </a:pPr>
            <a:r>
              <a:rPr lang="en-US" sz="1600" b="1" dirty="0">
                <a:solidFill>
                  <a:srgbClr val="2E86DE"/>
                </a:solidFill>
              </a:rPr>
              <a:t>XX век</a:t>
            </a:r>
            <a:endParaRPr lang="en-US" sz="1600" dirty="0"/>
          </a:p>
        </p:txBody>
      </p:sp>
      <p:sp>
        <p:nvSpPr>
          <p:cNvPr id="9" name="Text 7"/>
          <p:cNvSpPr/>
          <p:nvPr/>
        </p:nvSpPr>
        <p:spPr>
          <a:xfrm>
            <a:off x="429768" y="3154680"/>
            <a:ext cx="1783080" cy="868680"/>
          </a:xfrm>
          <a:prstGeom prst="rect">
            <a:avLst/>
          </a:prstGeom>
          <a:noFill/>
          <a:ln/>
        </p:spPr>
        <p:txBody>
          <a:bodyPr wrap="square" lIns="254" tIns="254" rIns="254" bIns="254" rtlCol="0" anchor="ctr">
            <a:normAutofit/>
          </a:bodyPr>
          <a:lstStyle/>
          <a:p>
            <a:pPr marL="0" indent="0" algn="ctr">
              <a:buNone/>
            </a:pPr>
            <a:r>
              <a:rPr lang="en-US" sz="1280" dirty="0">
                <a:solidFill>
                  <a:srgbClr val="13213A"/>
                </a:solidFill>
              </a:rPr>
              <a:t>радиоуправляемые мишени и разведывательные аппараты</a:t>
            </a:r>
            <a:endParaRPr lang="en-US" sz="1280" dirty="0"/>
          </a:p>
        </p:txBody>
      </p:sp>
      <p:sp>
        <p:nvSpPr>
          <p:cNvPr id="10" name="Shape 8"/>
          <p:cNvSpPr/>
          <p:nvPr/>
        </p:nvSpPr>
        <p:spPr>
          <a:xfrm>
            <a:off x="3566160" y="1965960"/>
            <a:ext cx="566928" cy="566928"/>
          </a:xfrm>
          <a:prstGeom prst="ellipse">
            <a:avLst/>
          </a:prstGeom>
          <a:solidFill>
            <a:srgbClr val="2E86DE"/>
          </a:solidFill>
          <a:ln w="19050">
            <a:solidFill>
              <a:srgbClr val="FFFFFF"/>
            </a:solidFill>
            <a:prstDash val="solid"/>
          </a:ln>
        </p:spPr>
      </p:sp>
      <p:sp>
        <p:nvSpPr>
          <p:cNvPr id="11" name="Text 9"/>
          <p:cNvSpPr/>
          <p:nvPr/>
        </p:nvSpPr>
        <p:spPr>
          <a:xfrm>
            <a:off x="3566160" y="2112264"/>
            <a:ext cx="566928" cy="22860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2" name="Shape 10"/>
          <p:cNvSpPr/>
          <p:nvPr/>
        </p:nvSpPr>
        <p:spPr>
          <a:xfrm>
            <a:off x="4251960" y="2249424"/>
            <a:ext cx="1709928" cy="0"/>
          </a:xfrm>
          <a:prstGeom prst="line">
            <a:avLst/>
          </a:prstGeom>
          <a:noFill/>
          <a:ln w="13970">
            <a:solidFill>
              <a:srgbClr val="B9C7D8"/>
            </a:solidFill>
            <a:prstDash val="solid"/>
            <a:tailEnd type="triangle"/>
          </a:ln>
        </p:spPr>
      </p:sp>
      <p:sp>
        <p:nvSpPr>
          <p:cNvPr id="13" name="Text 11"/>
          <p:cNvSpPr/>
          <p:nvPr/>
        </p:nvSpPr>
        <p:spPr>
          <a:xfrm>
            <a:off x="3520440" y="2788920"/>
            <a:ext cx="1097280" cy="228600"/>
          </a:xfrm>
          <a:prstGeom prst="rect">
            <a:avLst/>
          </a:prstGeom>
          <a:noFill/>
          <a:ln/>
        </p:spPr>
        <p:txBody>
          <a:bodyPr wrap="square" lIns="0" tIns="0" rIns="0" bIns="0" rtlCol="0" anchor="ctr"/>
          <a:lstStyle/>
          <a:p>
            <a:pPr marL="0" indent="0" algn="ctr">
              <a:buNone/>
            </a:pPr>
            <a:r>
              <a:rPr lang="en-US" sz="1600" b="1" dirty="0">
                <a:solidFill>
                  <a:srgbClr val="2E86DE"/>
                </a:solidFill>
              </a:rPr>
              <a:t>2000-е</a:t>
            </a:r>
            <a:endParaRPr lang="en-US" sz="1600" dirty="0"/>
          </a:p>
        </p:txBody>
      </p:sp>
      <p:sp>
        <p:nvSpPr>
          <p:cNvPr id="14" name="Text 12"/>
          <p:cNvSpPr/>
          <p:nvPr/>
        </p:nvSpPr>
        <p:spPr>
          <a:xfrm>
            <a:off x="3218688" y="3154680"/>
            <a:ext cx="1783080" cy="868680"/>
          </a:xfrm>
          <a:prstGeom prst="rect">
            <a:avLst/>
          </a:prstGeom>
          <a:noFill/>
          <a:ln/>
        </p:spPr>
        <p:txBody>
          <a:bodyPr wrap="square" lIns="254" tIns="254" rIns="254" bIns="254" rtlCol="0" anchor="ctr">
            <a:normAutofit/>
          </a:bodyPr>
          <a:lstStyle/>
          <a:p>
            <a:pPr marL="0" indent="0" algn="ctr">
              <a:buNone/>
            </a:pPr>
            <a:r>
              <a:rPr lang="en-US" sz="1280" dirty="0">
                <a:solidFill>
                  <a:srgbClr val="13213A"/>
                </a:solidFill>
              </a:rPr>
              <a:t>MEMS-датчики, GPS, LiPo-аккумуляторы, миниатюризация</a:t>
            </a:r>
            <a:endParaRPr lang="en-US" sz="1280" dirty="0"/>
          </a:p>
        </p:txBody>
      </p:sp>
      <p:sp>
        <p:nvSpPr>
          <p:cNvPr id="15" name="Shape 13"/>
          <p:cNvSpPr/>
          <p:nvPr/>
        </p:nvSpPr>
        <p:spPr>
          <a:xfrm>
            <a:off x="6355080" y="1965960"/>
            <a:ext cx="566928" cy="566928"/>
          </a:xfrm>
          <a:prstGeom prst="ellipse">
            <a:avLst/>
          </a:prstGeom>
          <a:solidFill>
            <a:srgbClr val="2E86DE"/>
          </a:solidFill>
          <a:ln w="19050">
            <a:solidFill>
              <a:srgbClr val="FFFFFF"/>
            </a:solidFill>
            <a:prstDash val="solid"/>
          </a:ln>
        </p:spPr>
      </p:sp>
      <p:sp>
        <p:nvSpPr>
          <p:cNvPr id="16" name="Text 14"/>
          <p:cNvSpPr/>
          <p:nvPr/>
        </p:nvSpPr>
        <p:spPr>
          <a:xfrm>
            <a:off x="6355080" y="2112264"/>
            <a:ext cx="566928" cy="22860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Shape 15"/>
          <p:cNvSpPr/>
          <p:nvPr/>
        </p:nvSpPr>
        <p:spPr>
          <a:xfrm>
            <a:off x="7040880" y="2249424"/>
            <a:ext cx="1709928" cy="0"/>
          </a:xfrm>
          <a:prstGeom prst="line">
            <a:avLst/>
          </a:prstGeom>
          <a:noFill/>
          <a:ln w="13970">
            <a:solidFill>
              <a:srgbClr val="B9C7D8"/>
            </a:solidFill>
            <a:prstDash val="solid"/>
            <a:tailEnd type="triangle"/>
          </a:ln>
        </p:spPr>
      </p:sp>
      <p:sp>
        <p:nvSpPr>
          <p:cNvPr id="18" name="Text 16"/>
          <p:cNvSpPr/>
          <p:nvPr/>
        </p:nvSpPr>
        <p:spPr>
          <a:xfrm>
            <a:off x="6309360" y="2788920"/>
            <a:ext cx="1097280" cy="228600"/>
          </a:xfrm>
          <a:prstGeom prst="rect">
            <a:avLst/>
          </a:prstGeom>
          <a:noFill/>
          <a:ln/>
        </p:spPr>
        <p:txBody>
          <a:bodyPr wrap="square" lIns="0" tIns="0" rIns="0" bIns="0" rtlCol="0" anchor="ctr"/>
          <a:lstStyle/>
          <a:p>
            <a:pPr marL="0" indent="0" algn="ctr">
              <a:buNone/>
            </a:pPr>
            <a:r>
              <a:rPr lang="en-US" sz="1600" b="1" dirty="0">
                <a:solidFill>
                  <a:srgbClr val="2E86DE"/>
                </a:solidFill>
              </a:rPr>
              <a:t>2010-е</a:t>
            </a:r>
            <a:endParaRPr lang="en-US" sz="1600" dirty="0"/>
          </a:p>
        </p:txBody>
      </p:sp>
      <p:sp>
        <p:nvSpPr>
          <p:cNvPr id="19" name="Text 17"/>
          <p:cNvSpPr/>
          <p:nvPr/>
        </p:nvSpPr>
        <p:spPr>
          <a:xfrm>
            <a:off x="6007608" y="3154680"/>
            <a:ext cx="1783080" cy="868680"/>
          </a:xfrm>
          <a:prstGeom prst="rect">
            <a:avLst/>
          </a:prstGeom>
          <a:noFill/>
          <a:ln/>
        </p:spPr>
        <p:txBody>
          <a:bodyPr wrap="square" lIns="254" tIns="254" rIns="254" bIns="254" rtlCol="0" anchor="ctr">
            <a:normAutofit/>
          </a:bodyPr>
          <a:lstStyle/>
          <a:p>
            <a:pPr marL="0" indent="0" algn="ctr">
              <a:buNone/>
            </a:pPr>
            <a:r>
              <a:rPr lang="en-US" sz="1280" dirty="0">
                <a:solidFill>
                  <a:srgbClr val="13213A"/>
                </a:solidFill>
              </a:rPr>
              <a:t>массовые мультироторы и гражданский рынок</a:t>
            </a:r>
            <a:endParaRPr lang="en-US" sz="1280" dirty="0"/>
          </a:p>
        </p:txBody>
      </p:sp>
      <p:sp>
        <p:nvSpPr>
          <p:cNvPr id="20" name="Shape 18"/>
          <p:cNvSpPr/>
          <p:nvPr/>
        </p:nvSpPr>
        <p:spPr>
          <a:xfrm>
            <a:off x="9144000" y="1965960"/>
            <a:ext cx="566928" cy="566928"/>
          </a:xfrm>
          <a:prstGeom prst="ellipse">
            <a:avLst/>
          </a:prstGeom>
          <a:solidFill>
            <a:srgbClr val="2E86DE"/>
          </a:solidFill>
          <a:ln w="19050">
            <a:solidFill>
              <a:srgbClr val="FFFFFF"/>
            </a:solidFill>
            <a:prstDash val="solid"/>
          </a:ln>
        </p:spPr>
      </p:sp>
      <p:sp>
        <p:nvSpPr>
          <p:cNvPr id="21" name="Text 19"/>
          <p:cNvSpPr/>
          <p:nvPr/>
        </p:nvSpPr>
        <p:spPr>
          <a:xfrm>
            <a:off x="9144000" y="2112264"/>
            <a:ext cx="566928" cy="22860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p:nvPr/>
        </p:nvSpPr>
        <p:spPr>
          <a:xfrm>
            <a:off x="9098280" y="2788920"/>
            <a:ext cx="1097280" cy="228600"/>
          </a:xfrm>
          <a:prstGeom prst="rect">
            <a:avLst/>
          </a:prstGeom>
          <a:noFill/>
          <a:ln/>
        </p:spPr>
        <p:txBody>
          <a:bodyPr wrap="square" lIns="0" tIns="0" rIns="0" bIns="0" rtlCol="0" anchor="ctr"/>
          <a:lstStyle/>
          <a:p>
            <a:pPr marL="0" indent="0" algn="ctr">
              <a:buNone/>
            </a:pPr>
            <a:r>
              <a:rPr lang="en-US" sz="1600" b="1" dirty="0">
                <a:solidFill>
                  <a:srgbClr val="2E86DE"/>
                </a:solidFill>
              </a:rPr>
              <a:t>2020-е+</a:t>
            </a:r>
            <a:endParaRPr lang="en-US" sz="1600" dirty="0"/>
          </a:p>
        </p:txBody>
      </p:sp>
      <p:sp>
        <p:nvSpPr>
          <p:cNvPr id="23" name="Text 21"/>
          <p:cNvSpPr/>
          <p:nvPr/>
        </p:nvSpPr>
        <p:spPr>
          <a:xfrm>
            <a:off x="8796528" y="3154680"/>
            <a:ext cx="1783080" cy="868680"/>
          </a:xfrm>
          <a:prstGeom prst="rect">
            <a:avLst/>
          </a:prstGeom>
          <a:noFill/>
          <a:ln/>
        </p:spPr>
        <p:txBody>
          <a:bodyPr wrap="square" lIns="254" tIns="254" rIns="254" bIns="254" rtlCol="0" anchor="ctr">
            <a:normAutofit/>
          </a:bodyPr>
          <a:lstStyle/>
          <a:p>
            <a:pPr marL="0" indent="0" algn="ctr">
              <a:buNone/>
            </a:pPr>
            <a:r>
              <a:rPr lang="en-US" sz="1280" dirty="0">
                <a:solidFill>
                  <a:srgbClr val="13213A"/>
                </a:solidFill>
              </a:rPr>
              <a:t>цифровые экосистемы, UTM/U-space, автономность и ИИ</a:t>
            </a:r>
            <a:endParaRPr lang="en-US" sz="1280" dirty="0"/>
          </a:p>
        </p:txBody>
      </p:sp>
      <p:sp>
        <p:nvSpPr>
          <p:cNvPr id="24" name="Shape 22"/>
          <p:cNvSpPr/>
          <p:nvPr/>
        </p:nvSpPr>
        <p:spPr>
          <a:xfrm>
            <a:off x="987552" y="4709160"/>
            <a:ext cx="4572000" cy="749808"/>
          </a:xfrm>
          <a:prstGeom prst="roundRect">
            <a:avLst>
              <a:gd name="adj" fmla="val 6098"/>
            </a:avLst>
          </a:prstGeom>
          <a:solidFill>
            <a:srgbClr val="2E86DE">
              <a:alpha val="92000"/>
            </a:srgbClr>
          </a:solidFill>
          <a:ln w="12700">
            <a:solidFill>
              <a:srgbClr val="333333">
                <a:alpha val="0"/>
              </a:srgbClr>
            </a:solidFill>
            <a:prstDash val="solid"/>
          </a:ln>
        </p:spPr>
      </p:sp>
      <p:sp>
        <p:nvSpPr>
          <p:cNvPr id="25" name="Text 23"/>
          <p:cNvSpPr/>
          <p:nvPr/>
        </p:nvSpPr>
        <p:spPr>
          <a:xfrm>
            <a:off x="1152144" y="4818888"/>
            <a:ext cx="4242816" cy="5669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Драйвер массовости — дешёвая электроника + доступные автопилоты</a:t>
            </a:r>
            <a:endParaRPr lang="en-US" sz="1500" dirty="0"/>
          </a:p>
        </p:txBody>
      </p:sp>
      <p:sp>
        <p:nvSpPr>
          <p:cNvPr id="26" name="Shape 24"/>
          <p:cNvSpPr/>
          <p:nvPr/>
        </p:nvSpPr>
        <p:spPr>
          <a:xfrm>
            <a:off x="5989320" y="4709160"/>
            <a:ext cx="4937760" cy="749808"/>
          </a:xfrm>
          <a:prstGeom prst="roundRect">
            <a:avLst>
              <a:gd name="adj" fmla="val 6098"/>
            </a:avLst>
          </a:prstGeom>
          <a:solidFill>
            <a:srgbClr val="1F3A5F">
              <a:alpha val="92000"/>
            </a:srgbClr>
          </a:solidFill>
          <a:ln w="12700">
            <a:solidFill>
              <a:srgbClr val="333333">
                <a:alpha val="0"/>
              </a:srgbClr>
            </a:solidFill>
            <a:prstDash val="solid"/>
          </a:ln>
        </p:spPr>
      </p:sp>
      <p:sp>
        <p:nvSpPr>
          <p:cNvPr id="27" name="Text 25"/>
          <p:cNvSpPr/>
          <p:nvPr/>
        </p:nvSpPr>
        <p:spPr>
          <a:xfrm>
            <a:off x="6153912" y="4818888"/>
            <a:ext cx="4608576" cy="56692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Новые профессии: оператор, инженер БАС, аналитик аэроданных</a:t>
            </a:r>
            <a:endParaRPr lang="en-US" sz="1500" dirty="0"/>
          </a:p>
        </p:txBody>
      </p:sp>
      <p:sp>
        <p:nvSpPr>
          <p:cNvPr id="28" name="Shape 26"/>
          <p:cNvSpPr/>
          <p:nvPr/>
        </p:nvSpPr>
        <p:spPr>
          <a:xfrm>
            <a:off x="502920" y="6446520"/>
            <a:ext cx="11201400" cy="0"/>
          </a:xfrm>
          <a:prstGeom prst="line">
            <a:avLst/>
          </a:prstGeom>
          <a:noFill/>
          <a:ln w="7620">
            <a:solidFill>
              <a:srgbClr val="B9C7D8">
                <a:alpha val="65000"/>
              </a:srgbClr>
            </a:solidFill>
            <a:prstDash val="solid"/>
          </a:ln>
        </p:spPr>
      </p:sp>
      <p:sp>
        <p:nvSpPr>
          <p:cNvPr id="29" name="Text 27"/>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30" name="Text 28"/>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566928" y="1051560"/>
            <a:ext cx="109728" cy="4389120"/>
          </a:xfrm>
          <a:prstGeom prst="rect">
            <a:avLst/>
          </a:prstGeom>
          <a:solidFill>
            <a:srgbClr val="38BDF8"/>
          </a:solidFill>
          <a:ln w="12700">
            <a:solidFill>
              <a:srgbClr val="333333">
                <a:alpha val="0"/>
              </a:srgbClr>
            </a:solidFill>
            <a:prstDash val="solid"/>
          </a:ln>
        </p:spPr>
      </p:sp>
      <p:sp>
        <p:nvSpPr>
          <p:cNvPr id="3" name="Text 1"/>
          <p:cNvSpPr/>
          <p:nvPr/>
        </p:nvSpPr>
        <p:spPr>
          <a:xfrm>
            <a:off x="868680" y="1874520"/>
            <a:ext cx="9875520" cy="822960"/>
          </a:xfrm>
          <a:prstGeom prst="rect">
            <a:avLst/>
          </a:prstGeom>
          <a:noFill/>
          <a:ln/>
        </p:spPr>
        <p:txBody>
          <a:bodyPr wrap="square" lIns="0" tIns="0" rIns="0" bIns="0" rtlCol="0" anchor="ctr">
            <a:normAutofit/>
          </a:bodyPr>
          <a:lstStyle/>
          <a:p>
            <a:pPr marL="0" indent="0">
              <a:buNone/>
            </a:pPr>
            <a:r>
              <a:rPr lang="en-US" sz="4200" b="1" dirty="0">
                <a:solidFill>
                  <a:srgbClr val="FFFFFF"/>
                </a:solidFill>
              </a:rPr>
              <a:t>Классификация БАС</a:t>
            </a:r>
            <a:endParaRPr lang="en-US" sz="4200" dirty="0"/>
          </a:p>
        </p:txBody>
      </p:sp>
      <p:sp>
        <p:nvSpPr>
          <p:cNvPr id="4" name="Text 2"/>
          <p:cNvSpPr/>
          <p:nvPr/>
        </p:nvSpPr>
        <p:spPr>
          <a:xfrm>
            <a:off x="896112" y="2816352"/>
            <a:ext cx="8961120" cy="411480"/>
          </a:xfrm>
          <a:prstGeom prst="rect">
            <a:avLst/>
          </a:prstGeom>
          <a:noFill/>
          <a:ln/>
        </p:spPr>
        <p:txBody>
          <a:bodyPr wrap="square" lIns="0" tIns="0" rIns="0" bIns="0" rtlCol="0" anchor="ctr">
            <a:normAutofit/>
          </a:bodyPr>
          <a:lstStyle/>
          <a:p>
            <a:pPr marL="0" indent="0">
              <a:buNone/>
            </a:pPr>
            <a:r>
              <a:rPr lang="en-US" sz="2000" dirty="0">
                <a:solidFill>
                  <a:srgbClr val="D9ECFF"/>
                </a:solidFill>
              </a:rPr>
              <a:t>Тип конструкции, масса, дальность, назначение и управление</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КЛАССИФИКАЦИЯ</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Классификация по типу конструкции</a:t>
            </a:r>
            <a:endParaRPr lang="en-US" sz="3100" dirty="0"/>
          </a:p>
        </p:txBody>
      </p:sp>
      <p:sp>
        <p:nvSpPr>
          <p:cNvPr id="5" name="Shape 3"/>
          <p:cNvSpPr/>
          <p:nvPr/>
        </p:nvSpPr>
        <p:spPr>
          <a:xfrm>
            <a:off x="685800" y="1371600"/>
            <a:ext cx="2514600" cy="3246120"/>
          </a:xfrm>
          <a:prstGeom prst="roundRect">
            <a:avLst>
              <a:gd name="adj" fmla="val 2182"/>
            </a:avLst>
          </a:prstGeom>
          <a:solidFill>
            <a:srgbClr val="FFFFFF"/>
          </a:solidFill>
          <a:ln w="12700">
            <a:solidFill>
              <a:srgbClr val="D6E2F2"/>
            </a:solidFill>
            <a:prstDash val="solid"/>
          </a:ln>
        </p:spPr>
      </p:sp>
      <p:sp>
        <p:nvSpPr>
          <p:cNvPr id="6" name="Shape 4"/>
          <p:cNvSpPr/>
          <p:nvPr/>
        </p:nvSpPr>
        <p:spPr>
          <a:xfrm>
            <a:off x="1472184" y="1737360"/>
            <a:ext cx="914400" cy="914400"/>
          </a:xfrm>
          <a:prstGeom prst="ellipse">
            <a:avLst/>
          </a:prstGeom>
          <a:solidFill>
            <a:srgbClr val="2E86DE">
              <a:alpha val="95000"/>
            </a:srgbClr>
          </a:solidFill>
          <a:ln w="12700">
            <a:solidFill>
              <a:srgbClr val="333333">
                <a:alpha val="0"/>
              </a:srgbClr>
            </a:solidFill>
            <a:prstDash val="solid"/>
          </a:ln>
        </p:spPr>
      </p:sp>
      <p:sp>
        <p:nvSpPr>
          <p:cNvPr id="7" name="Text 5"/>
          <p:cNvSpPr/>
          <p:nvPr/>
        </p:nvSpPr>
        <p:spPr>
          <a:xfrm>
            <a:off x="1472184" y="1947672"/>
            <a:ext cx="91440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FFFFFF"/>
                </a:solidFill>
              </a:rPr>
              <a:t>✈</a:t>
            </a:r>
            <a:endParaRPr lang="en-US" sz="2400" dirty="0"/>
          </a:p>
        </p:txBody>
      </p:sp>
      <p:sp>
        <p:nvSpPr>
          <p:cNvPr id="8" name="Text 6"/>
          <p:cNvSpPr/>
          <p:nvPr/>
        </p:nvSpPr>
        <p:spPr>
          <a:xfrm>
            <a:off x="914400" y="2880360"/>
            <a:ext cx="2057400" cy="292608"/>
          </a:xfrm>
          <a:prstGeom prst="rect">
            <a:avLst/>
          </a:prstGeom>
          <a:noFill/>
          <a:ln/>
        </p:spPr>
        <p:txBody>
          <a:bodyPr wrap="square" lIns="0" tIns="0" rIns="0" bIns="0" rtlCol="0" anchor="ctr">
            <a:normAutofit/>
          </a:bodyPr>
          <a:lstStyle/>
          <a:p>
            <a:pPr marL="0" indent="0" algn="ctr">
              <a:buNone/>
            </a:pPr>
            <a:r>
              <a:rPr lang="en-US" sz="1600" b="1" dirty="0">
                <a:solidFill>
                  <a:srgbClr val="2E86DE"/>
                </a:solidFill>
              </a:rPr>
              <a:t>Самолётный тип</a:t>
            </a:r>
            <a:endParaRPr lang="en-US" sz="1600" dirty="0"/>
          </a:p>
        </p:txBody>
      </p:sp>
      <p:sp>
        <p:nvSpPr>
          <p:cNvPr id="9" name="Text 7"/>
          <p:cNvSpPr/>
          <p:nvPr/>
        </p:nvSpPr>
        <p:spPr>
          <a:xfrm>
            <a:off x="914400" y="3429000"/>
            <a:ext cx="2057400" cy="713232"/>
          </a:xfrm>
          <a:prstGeom prst="rect">
            <a:avLst/>
          </a:prstGeom>
          <a:noFill/>
          <a:ln/>
        </p:spPr>
        <p:txBody>
          <a:bodyPr wrap="square" lIns="254" tIns="254" rIns="254" bIns="254" rtlCol="0" anchor="ctr">
            <a:normAutofit/>
          </a:bodyPr>
          <a:lstStyle/>
          <a:p>
            <a:pPr marL="0" indent="0" algn="ctr">
              <a:buNone/>
            </a:pPr>
            <a:r>
              <a:rPr lang="en-US" sz="1320" dirty="0">
                <a:solidFill>
                  <a:srgbClr val="13213A"/>
                </a:solidFill>
              </a:rPr>
              <a:t>дальность, скорость, эффективность на больших площадях</a:t>
            </a:r>
            <a:endParaRPr lang="en-US" sz="1320" dirty="0"/>
          </a:p>
        </p:txBody>
      </p:sp>
      <p:sp>
        <p:nvSpPr>
          <p:cNvPr id="10" name="Shape 8"/>
          <p:cNvSpPr/>
          <p:nvPr/>
        </p:nvSpPr>
        <p:spPr>
          <a:xfrm>
            <a:off x="3520440" y="1371600"/>
            <a:ext cx="2514600" cy="3246120"/>
          </a:xfrm>
          <a:prstGeom prst="roundRect">
            <a:avLst>
              <a:gd name="adj" fmla="val 2182"/>
            </a:avLst>
          </a:prstGeom>
          <a:solidFill>
            <a:srgbClr val="FFFFFF"/>
          </a:solidFill>
          <a:ln w="12700">
            <a:solidFill>
              <a:srgbClr val="D6E2F2"/>
            </a:solidFill>
            <a:prstDash val="solid"/>
          </a:ln>
        </p:spPr>
      </p:sp>
      <p:sp>
        <p:nvSpPr>
          <p:cNvPr id="11" name="Shape 9"/>
          <p:cNvSpPr/>
          <p:nvPr/>
        </p:nvSpPr>
        <p:spPr>
          <a:xfrm>
            <a:off x="4306824" y="1737360"/>
            <a:ext cx="914400" cy="914400"/>
          </a:xfrm>
          <a:prstGeom prst="ellipse">
            <a:avLst/>
          </a:prstGeom>
          <a:solidFill>
            <a:srgbClr val="38BDF8">
              <a:alpha val="95000"/>
            </a:srgbClr>
          </a:solidFill>
          <a:ln w="12700">
            <a:solidFill>
              <a:srgbClr val="333333">
                <a:alpha val="0"/>
              </a:srgbClr>
            </a:solidFill>
            <a:prstDash val="solid"/>
          </a:ln>
        </p:spPr>
      </p:sp>
      <p:sp>
        <p:nvSpPr>
          <p:cNvPr id="12" name="Text 10"/>
          <p:cNvSpPr/>
          <p:nvPr/>
        </p:nvSpPr>
        <p:spPr>
          <a:xfrm>
            <a:off x="4306824" y="1947672"/>
            <a:ext cx="91440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FFFFFF"/>
                </a:solidFill>
              </a:rPr>
              <a:t>✣</a:t>
            </a:r>
            <a:endParaRPr lang="en-US" sz="2400" dirty="0"/>
          </a:p>
        </p:txBody>
      </p:sp>
      <p:sp>
        <p:nvSpPr>
          <p:cNvPr id="13" name="Text 11"/>
          <p:cNvSpPr/>
          <p:nvPr/>
        </p:nvSpPr>
        <p:spPr>
          <a:xfrm>
            <a:off x="3749040" y="2880360"/>
            <a:ext cx="2057400" cy="292608"/>
          </a:xfrm>
          <a:prstGeom prst="rect">
            <a:avLst/>
          </a:prstGeom>
          <a:noFill/>
          <a:ln/>
        </p:spPr>
        <p:txBody>
          <a:bodyPr wrap="square" lIns="0" tIns="0" rIns="0" bIns="0" rtlCol="0" anchor="ctr">
            <a:normAutofit/>
          </a:bodyPr>
          <a:lstStyle/>
          <a:p>
            <a:pPr marL="0" indent="0" algn="ctr">
              <a:buNone/>
            </a:pPr>
            <a:r>
              <a:rPr lang="en-US" sz="1600" b="1" dirty="0">
                <a:solidFill>
                  <a:srgbClr val="38BDF8"/>
                </a:solidFill>
              </a:rPr>
              <a:t>Мультиротор</a:t>
            </a:r>
            <a:endParaRPr lang="en-US" sz="1600" dirty="0"/>
          </a:p>
        </p:txBody>
      </p:sp>
      <p:sp>
        <p:nvSpPr>
          <p:cNvPr id="14" name="Text 12"/>
          <p:cNvSpPr/>
          <p:nvPr/>
        </p:nvSpPr>
        <p:spPr>
          <a:xfrm>
            <a:off x="3749040" y="3429000"/>
            <a:ext cx="2057400" cy="713232"/>
          </a:xfrm>
          <a:prstGeom prst="rect">
            <a:avLst/>
          </a:prstGeom>
          <a:noFill/>
          <a:ln/>
        </p:spPr>
        <p:txBody>
          <a:bodyPr wrap="square" lIns="254" tIns="254" rIns="254" bIns="254" rtlCol="0" anchor="ctr">
            <a:normAutofit/>
          </a:bodyPr>
          <a:lstStyle/>
          <a:p>
            <a:pPr marL="0" indent="0" algn="ctr">
              <a:buNone/>
            </a:pPr>
            <a:r>
              <a:rPr lang="en-US" sz="1320" dirty="0">
                <a:solidFill>
                  <a:srgbClr val="13213A"/>
                </a:solidFill>
              </a:rPr>
              <a:t>вертикальный взлёт, зависание, манёвренность</a:t>
            </a:r>
            <a:endParaRPr lang="en-US" sz="1320" dirty="0"/>
          </a:p>
        </p:txBody>
      </p:sp>
      <p:sp>
        <p:nvSpPr>
          <p:cNvPr id="15" name="Shape 13"/>
          <p:cNvSpPr/>
          <p:nvPr/>
        </p:nvSpPr>
        <p:spPr>
          <a:xfrm>
            <a:off x="6355080" y="1371600"/>
            <a:ext cx="2514600" cy="3246120"/>
          </a:xfrm>
          <a:prstGeom prst="roundRect">
            <a:avLst>
              <a:gd name="adj" fmla="val 2182"/>
            </a:avLst>
          </a:prstGeom>
          <a:solidFill>
            <a:srgbClr val="FFFFFF"/>
          </a:solidFill>
          <a:ln w="12700">
            <a:solidFill>
              <a:srgbClr val="D6E2F2"/>
            </a:solidFill>
            <a:prstDash val="solid"/>
          </a:ln>
        </p:spPr>
      </p:sp>
      <p:sp>
        <p:nvSpPr>
          <p:cNvPr id="16" name="Shape 14"/>
          <p:cNvSpPr/>
          <p:nvPr/>
        </p:nvSpPr>
        <p:spPr>
          <a:xfrm>
            <a:off x="7141464" y="1737360"/>
            <a:ext cx="914400" cy="914400"/>
          </a:xfrm>
          <a:prstGeom prst="ellipse">
            <a:avLst/>
          </a:prstGeom>
          <a:solidFill>
            <a:srgbClr val="F59E0B">
              <a:alpha val="95000"/>
            </a:srgbClr>
          </a:solidFill>
          <a:ln w="12700">
            <a:solidFill>
              <a:srgbClr val="333333">
                <a:alpha val="0"/>
              </a:srgbClr>
            </a:solidFill>
            <a:prstDash val="solid"/>
          </a:ln>
        </p:spPr>
      </p:sp>
      <p:sp>
        <p:nvSpPr>
          <p:cNvPr id="17" name="Text 15"/>
          <p:cNvSpPr/>
          <p:nvPr/>
        </p:nvSpPr>
        <p:spPr>
          <a:xfrm>
            <a:off x="7141464" y="1947672"/>
            <a:ext cx="91440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FFFFFF"/>
                </a:solidFill>
              </a:rPr>
              <a:t>↻</a:t>
            </a:r>
            <a:endParaRPr lang="en-US" sz="2400" dirty="0"/>
          </a:p>
        </p:txBody>
      </p:sp>
      <p:sp>
        <p:nvSpPr>
          <p:cNvPr id="18" name="Text 16"/>
          <p:cNvSpPr/>
          <p:nvPr/>
        </p:nvSpPr>
        <p:spPr>
          <a:xfrm>
            <a:off x="6583680" y="2880360"/>
            <a:ext cx="2057400" cy="292608"/>
          </a:xfrm>
          <a:prstGeom prst="rect">
            <a:avLst/>
          </a:prstGeom>
          <a:noFill/>
          <a:ln/>
        </p:spPr>
        <p:txBody>
          <a:bodyPr wrap="square" lIns="0" tIns="0" rIns="0" bIns="0" rtlCol="0" anchor="ctr">
            <a:normAutofit/>
          </a:bodyPr>
          <a:lstStyle/>
          <a:p>
            <a:pPr marL="0" indent="0" algn="ctr">
              <a:buNone/>
            </a:pPr>
            <a:r>
              <a:rPr lang="en-US" sz="1600" b="1" dirty="0">
                <a:solidFill>
                  <a:srgbClr val="F59E0B"/>
                </a:solidFill>
              </a:rPr>
              <a:t>Вертолётный тип</a:t>
            </a:r>
            <a:endParaRPr lang="en-US" sz="1600" dirty="0"/>
          </a:p>
        </p:txBody>
      </p:sp>
      <p:sp>
        <p:nvSpPr>
          <p:cNvPr id="19" name="Text 17"/>
          <p:cNvSpPr/>
          <p:nvPr/>
        </p:nvSpPr>
        <p:spPr>
          <a:xfrm>
            <a:off x="6583680" y="3429000"/>
            <a:ext cx="2057400" cy="713232"/>
          </a:xfrm>
          <a:prstGeom prst="rect">
            <a:avLst/>
          </a:prstGeom>
          <a:noFill/>
          <a:ln/>
        </p:spPr>
        <p:txBody>
          <a:bodyPr wrap="square" lIns="254" tIns="254" rIns="254" bIns="254" rtlCol="0" anchor="ctr">
            <a:normAutofit/>
          </a:bodyPr>
          <a:lstStyle/>
          <a:p>
            <a:pPr marL="0" indent="0" algn="ctr">
              <a:buNone/>
            </a:pPr>
            <a:r>
              <a:rPr lang="en-US" sz="1320" dirty="0">
                <a:solidFill>
                  <a:srgbClr val="13213A"/>
                </a:solidFill>
              </a:rPr>
              <a:t>висение и грузоподъёмность, но сложная механика</a:t>
            </a:r>
            <a:endParaRPr lang="en-US" sz="1320" dirty="0"/>
          </a:p>
        </p:txBody>
      </p:sp>
      <p:sp>
        <p:nvSpPr>
          <p:cNvPr id="20" name="Shape 18"/>
          <p:cNvSpPr/>
          <p:nvPr/>
        </p:nvSpPr>
        <p:spPr>
          <a:xfrm>
            <a:off x="9189720" y="1371600"/>
            <a:ext cx="2514600" cy="3246120"/>
          </a:xfrm>
          <a:prstGeom prst="roundRect">
            <a:avLst>
              <a:gd name="adj" fmla="val 2182"/>
            </a:avLst>
          </a:prstGeom>
          <a:solidFill>
            <a:srgbClr val="FFFFFF"/>
          </a:solidFill>
          <a:ln w="12700">
            <a:solidFill>
              <a:srgbClr val="D6E2F2"/>
            </a:solidFill>
            <a:prstDash val="solid"/>
          </a:ln>
        </p:spPr>
      </p:sp>
      <p:sp>
        <p:nvSpPr>
          <p:cNvPr id="21" name="Shape 19"/>
          <p:cNvSpPr/>
          <p:nvPr/>
        </p:nvSpPr>
        <p:spPr>
          <a:xfrm>
            <a:off x="9976104" y="1737360"/>
            <a:ext cx="914400" cy="914400"/>
          </a:xfrm>
          <a:prstGeom prst="ellipse">
            <a:avLst/>
          </a:prstGeom>
          <a:solidFill>
            <a:srgbClr val="2FB344">
              <a:alpha val="95000"/>
            </a:srgbClr>
          </a:solidFill>
          <a:ln w="12700">
            <a:solidFill>
              <a:srgbClr val="333333">
                <a:alpha val="0"/>
              </a:srgbClr>
            </a:solidFill>
            <a:prstDash val="solid"/>
          </a:ln>
        </p:spPr>
      </p:sp>
      <p:sp>
        <p:nvSpPr>
          <p:cNvPr id="22" name="Text 20"/>
          <p:cNvSpPr/>
          <p:nvPr/>
        </p:nvSpPr>
        <p:spPr>
          <a:xfrm>
            <a:off x="9976104" y="1947672"/>
            <a:ext cx="914400" cy="320040"/>
          </a:xfrm>
          <a:prstGeom prst="rect">
            <a:avLst/>
          </a:prstGeom>
          <a:noFill/>
          <a:ln/>
        </p:spPr>
        <p:txBody>
          <a:bodyPr wrap="square" lIns="0" tIns="0" rIns="0" bIns="0" rtlCol="0" anchor="ctr">
            <a:normAutofit fontScale="92500" lnSpcReduction="10000"/>
          </a:bodyPr>
          <a:lstStyle/>
          <a:p>
            <a:pPr marL="0" indent="0" algn="ctr">
              <a:buNone/>
            </a:pPr>
            <a:r>
              <a:rPr lang="en-US" sz="2400" b="1" dirty="0">
                <a:solidFill>
                  <a:srgbClr val="FFFFFF"/>
                </a:solidFill>
              </a:rPr>
              <a:t>⇄</a:t>
            </a:r>
            <a:endParaRPr lang="en-US" sz="2400" dirty="0"/>
          </a:p>
        </p:txBody>
      </p:sp>
      <p:sp>
        <p:nvSpPr>
          <p:cNvPr id="23" name="Text 21"/>
          <p:cNvSpPr/>
          <p:nvPr/>
        </p:nvSpPr>
        <p:spPr>
          <a:xfrm>
            <a:off x="9418320" y="2880360"/>
            <a:ext cx="2057400" cy="292608"/>
          </a:xfrm>
          <a:prstGeom prst="rect">
            <a:avLst/>
          </a:prstGeom>
          <a:noFill/>
          <a:ln/>
        </p:spPr>
        <p:txBody>
          <a:bodyPr wrap="square" lIns="0" tIns="0" rIns="0" bIns="0" rtlCol="0" anchor="ctr">
            <a:normAutofit/>
          </a:bodyPr>
          <a:lstStyle/>
          <a:p>
            <a:pPr marL="0" indent="0" algn="ctr">
              <a:buNone/>
            </a:pPr>
            <a:r>
              <a:rPr lang="en-US" sz="1600" b="1" dirty="0">
                <a:solidFill>
                  <a:srgbClr val="2FB344"/>
                </a:solidFill>
              </a:rPr>
              <a:t>Гибрид / VTOL</a:t>
            </a:r>
            <a:endParaRPr lang="en-US" sz="1600" dirty="0"/>
          </a:p>
        </p:txBody>
      </p:sp>
      <p:sp>
        <p:nvSpPr>
          <p:cNvPr id="24" name="Text 22"/>
          <p:cNvSpPr/>
          <p:nvPr/>
        </p:nvSpPr>
        <p:spPr>
          <a:xfrm>
            <a:off x="9418320" y="3429000"/>
            <a:ext cx="2057400" cy="713232"/>
          </a:xfrm>
          <a:prstGeom prst="rect">
            <a:avLst/>
          </a:prstGeom>
          <a:noFill/>
          <a:ln/>
        </p:spPr>
        <p:txBody>
          <a:bodyPr wrap="square" lIns="254" tIns="254" rIns="254" bIns="254" rtlCol="0" anchor="ctr">
            <a:normAutofit/>
          </a:bodyPr>
          <a:lstStyle/>
          <a:p>
            <a:pPr marL="0" indent="0" algn="ctr">
              <a:buNone/>
            </a:pPr>
            <a:r>
              <a:rPr lang="en-US" sz="1320" dirty="0">
                <a:solidFill>
                  <a:srgbClr val="13213A"/>
                </a:solidFill>
              </a:rPr>
              <a:t>вертикальный взлёт + крыло в крейсерском режиме</a:t>
            </a:r>
            <a:endParaRPr lang="en-US" sz="1320" dirty="0"/>
          </a:p>
        </p:txBody>
      </p:sp>
      <p:sp>
        <p:nvSpPr>
          <p:cNvPr id="25" name="Shape 23"/>
          <p:cNvSpPr/>
          <p:nvPr/>
        </p:nvSpPr>
        <p:spPr>
          <a:xfrm>
            <a:off x="1097280" y="5193792"/>
            <a:ext cx="9966960" cy="475488"/>
          </a:xfrm>
          <a:prstGeom prst="roundRect">
            <a:avLst>
              <a:gd name="adj" fmla="val 9615"/>
            </a:avLst>
          </a:prstGeom>
          <a:solidFill>
            <a:srgbClr val="1F3A5F">
              <a:alpha val="92000"/>
            </a:srgbClr>
          </a:solidFill>
          <a:ln w="12700">
            <a:solidFill>
              <a:srgbClr val="333333">
                <a:alpha val="0"/>
              </a:srgbClr>
            </a:solidFill>
            <a:prstDash val="solid"/>
          </a:ln>
        </p:spPr>
      </p:sp>
      <p:sp>
        <p:nvSpPr>
          <p:cNvPr id="26" name="Text 24"/>
          <p:cNvSpPr/>
          <p:nvPr/>
        </p:nvSpPr>
        <p:spPr>
          <a:xfrm>
            <a:off x="1261872" y="5303520"/>
            <a:ext cx="9637776" cy="292608"/>
          </a:xfrm>
          <a:prstGeom prst="rect">
            <a:avLst/>
          </a:prstGeom>
          <a:noFill/>
          <a:ln/>
        </p:spPr>
        <p:txBody>
          <a:bodyPr wrap="square" lIns="0" tIns="0" rIns="0" bIns="0" rtlCol="0" anchor="ctr">
            <a:normAutofit fontScale="92500"/>
          </a:bodyPr>
          <a:lstStyle/>
          <a:p>
            <a:pPr marL="0" indent="0" algn="ctr">
              <a:buNone/>
            </a:pPr>
            <a:r>
              <a:rPr lang="en-US" sz="1500" b="1" dirty="0">
                <a:solidFill>
                  <a:srgbClr val="FFFFFF"/>
                </a:solidFill>
              </a:rPr>
              <a:t>Компромисс выбора: дальность и экономичность крыла ↔ удобство зависания и точность мультиротора</a:t>
            </a:r>
            <a:endParaRPr lang="en-US" sz="1500" dirty="0"/>
          </a:p>
        </p:txBody>
      </p:sp>
      <p:sp>
        <p:nvSpPr>
          <p:cNvPr id="27" name="Shape 25"/>
          <p:cNvSpPr/>
          <p:nvPr/>
        </p:nvSpPr>
        <p:spPr>
          <a:xfrm>
            <a:off x="502920" y="6446520"/>
            <a:ext cx="11201400" cy="0"/>
          </a:xfrm>
          <a:prstGeom prst="line">
            <a:avLst/>
          </a:prstGeom>
          <a:noFill/>
          <a:ln w="7620">
            <a:solidFill>
              <a:srgbClr val="B9C7D8">
                <a:alpha val="65000"/>
              </a:srgbClr>
            </a:solidFill>
            <a:prstDash val="solid"/>
          </a:ln>
        </p:spPr>
      </p:sp>
      <p:sp>
        <p:nvSpPr>
          <p:cNvPr id="28" name="Text 26"/>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9" name="Text 27"/>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КЛАССИФИКАЦИЯ</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Классификация по массе, дальности и задаче</a:t>
            </a:r>
            <a:endParaRPr lang="en-US" sz="3100" dirty="0"/>
          </a:p>
        </p:txBody>
      </p:sp>
      <p:sp>
        <p:nvSpPr>
          <p:cNvPr id="5" name="Shape 3"/>
          <p:cNvSpPr/>
          <p:nvPr/>
        </p:nvSpPr>
        <p:spPr>
          <a:xfrm>
            <a:off x="713232" y="1371600"/>
            <a:ext cx="10698480" cy="530352"/>
          </a:xfrm>
          <a:prstGeom prst="roundRect">
            <a:avLst>
              <a:gd name="adj" fmla="val 6897"/>
            </a:avLst>
          </a:prstGeom>
          <a:solidFill>
            <a:srgbClr val="FFFFFF"/>
          </a:solidFill>
          <a:ln w="12700">
            <a:solidFill>
              <a:srgbClr val="D6E2F2"/>
            </a:solidFill>
            <a:prstDash val="solid"/>
          </a:ln>
        </p:spPr>
      </p:sp>
      <p:sp>
        <p:nvSpPr>
          <p:cNvPr id="6" name="Text 4"/>
          <p:cNvSpPr/>
          <p:nvPr/>
        </p:nvSpPr>
        <p:spPr>
          <a:xfrm>
            <a:off x="960120" y="1517904"/>
            <a:ext cx="1920240" cy="182880"/>
          </a:xfrm>
          <a:prstGeom prst="rect">
            <a:avLst/>
          </a:prstGeom>
          <a:noFill/>
          <a:ln/>
        </p:spPr>
        <p:txBody>
          <a:bodyPr wrap="square" lIns="0" tIns="0" rIns="0" bIns="0" rtlCol="0" anchor="ctr"/>
          <a:lstStyle/>
          <a:p>
            <a:pPr marL="0" indent="0">
              <a:buNone/>
            </a:pPr>
            <a:r>
              <a:rPr lang="en-US" sz="1450" b="1" dirty="0">
                <a:solidFill>
                  <a:srgbClr val="2E86DE"/>
                </a:solidFill>
              </a:rPr>
              <a:t>Микро-БАС</a:t>
            </a:r>
            <a:endParaRPr lang="en-US" sz="1450" dirty="0"/>
          </a:p>
        </p:txBody>
      </p:sp>
      <p:sp>
        <p:nvSpPr>
          <p:cNvPr id="7" name="Text 5"/>
          <p:cNvSpPr/>
          <p:nvPr/>
        </p:nvSpPr>
        <p:spPr>
          <a:xfrm>
            <a:off x="3154680" y="1517904"/>
            <a:ext cx="1508760" cy="182880"/>
          </a:xfrm>
          <a:prstGeom prst="rect">
            <a:avLst/>
          </a:prstGeom>
          <a:noFill/>
          <a:ln/>
        </p:spPr>
        <p:txBody>
          <a:bodyPr wrap="square" lIns="0" tIns="0" rIns="0" bIns="0" rtlCol="0" anchor="ctr"/>
          <a:lstStyle/>
          <a:p>
            <a:pPr marL="0" indent="0">
              <a:buNone/>
            </a:pPr>
            <a:r>
              <a:rPr lang="en-US" sz="1450" b="1" dirty="0">
                <a:solidFill>
                  <a:srgbClr val="13213A"/>
                </a:solidFill>
              </a:rPr>
              <a:t>до 0,25 кг</a:t>
            </a:r>
            <a:endParaRPr lang="en-US" sz="1450" dirty="0"/>
          </a:p>
        </p:txBody>
      </p:sp>
      <p:sp>
        <p:nvSpPr>
          <p:cNvPr id="8" name="Text 6"/>
          <p:cNvSpPr/>
          <p:nvPr/>
        </p:nvSpPr>
        <p:spPr>
          <a:xfrm>
            <a:off x="4983480" y="1517904"/>
            <a:ext cx="5989320" cy="182880"/>
          </a:xfrm>
          <a:prstGeom prst="rect">
            <a:avLst/>
          </a:prstGeom>
          <a:noFill/>
          <a:ln/>
        </p:spPr>
        <p:txBody>
          <a:bodyPr wrap="square" lIns="0" tIns="0" rIns="0" bIns="0" rtlCol="0" anchor="ctr">
            <a:normAutofit fontScale="92500" lnSpcReduction="10000"/>
          </a:bodyPr>
          <a:lstStyle/>
          <a:p>
            <a:pPr marL="0" indent="0">
              <a:buNone/>
            </a:pPr>
            <a:r>
              <a:rPr lang="en-US" sz="1420" dirty="0">
                <a:solidFill>
                  <a:srgbClr val="13213A"/>
                </a:solidFill>
              </a:rPr>
              <a:t>малые риски, обучение, простые осмотры</a:t>
            </a:r>
            <a:endParaRPr lang="en-US" sz="1420" dirty="0"/>
          </a:p>
        </p:txBody>
      </p:sp>
      <p:sp>
        <p:nvSpPr>
          <p:cNvPr id="9" name="Shape 7"/>
          <p:cNvSpPr/>
          <p:nvPr/>
        </p:nvSpPr>
        <p:spPr>
          <a:xfrm>
            <a:off x="713232" y="2121408"/>
            <a:ext cx="10698480" cy="530352"/>
          </a:xfrm>
          <a:prstGeom prst="roundRect">
            <a:avLst>
              <a:gd name="adj" fmla="val 6897"/>
            </a:avLst>
          </a:prstGeom>
          <a:solidFill>
            <a:srgbClr val="EFF6FF"/>
          </a:solidFill>
          <a:ln w="12700">
            <a:solidFill>
              <a:srgbClr val="D6E2F2"/>
            </a:solidFill>
            <a:prstDash val="solid"/>
          </a:ln>
        </p:spPr>
      </p:sp>
      <p:sp>
        <p:nvSpPr>
          <p:cNvPr id="10" name="Text 8"/>
          <p:cNvSpPr/>
          <p:nvPr/>
        </p:nvSpPr>
        <p:spPr>
          <a:xfrm>
            <a:off x="960120" y="2267712"/>
            <a:ext cx="1920240" cy="182880"/>
          </a:xfrm>
          <a:prstGeom prst="rect">
            <a:avLst/>
          </a:prstGeom>
          <a:noFill/>
          <a:ln/>
        </p:spPr>
        <p:txBody>
          <a:bodyPr wrap="square" lIns="0" tIns="0" rIns="0" bIns="0" rtlCol="0" anchor="ctr"/>
          <a:lstStyle/>
          <a:p>
            <a:pPr marL="0" indent="0">
              <a:buNone/>
            </a:pPr>
            <a:r>
              <a:rPr lang="en-US" sz="1450" b="1" dirty="0">
                <a:solidFill>
                  <a:srgbClr val="2E86DE"/>
                </a:solidFill>
              </a:rPr>
              <a:t>Мини / sUAS</a:t>
            </a:r>
            <a:endParaRPr lang="en-US" sz="1450" dirty="0"/>
          </a:p>
        </p:txBody>
      </p:sp>
      <p:sp>
        <p:nvSpPr>
          <p:cNvPr id="11" name="Text 9"/>
          <p:cNvSpPr/>
          <p:nvPr/>
        </p:nvSpPr>
        <p:spPr>
          <a:xfrm>
            <a:off x="3154680" y="2267712"/>
            <a:ext cx="1508760" cy="182880"/>
          </a:xfrm>
          <a:prstGeom prst="rect">
            <a:avLst/>
          </a:prstGeom>
          <a:noFill/>
          <a:ln/>
        </p:spPr>
        <p:txBody>
          <a:bodyPr wrap="square" lIns="0" tIns="0" rIns="0" bIns="0" rtlCol="0" anchor="ctr"/>
          <a:lstStyle/>
          <a:p>
            <a:pPr marL="0" indent="0">
              <a:buNone/>
            </a:pPr>
            <a:r>
              <a:rPr lang="en-US" sz="1450" b="1" dirty="0">
                <a:solidFill>
                  <a:srgbClr val="13213A"/>
                </a:solidFill>
              </a:rPr>
              <a:t>0,25–25/30 кг</a:t>
            </a:r>
            <a:endParaRPr lang="en-US" sz="1450" dirty="0"/>
          </a:p>
        </p:txBody>
      </p:sp>
      <p:sp>
        <p:nvSpPr>
          <p:cNvPr id="12" name="Text 10"/>
          <p:cNvSpPr/>
          <p:nvPr/>
        </p:nvSpPr>
        <p:spPr>
          <a:xfrm>
            <a:off x="4983480" y="2267712"/>
            <a:ext cx="5989320" cy="182880"/>
          </a:xfrm>
          <a:prstGeom prst="rect">
            <a:avLst/>
          </a:prstGeom>
          <a:noFill/>
          <a:ln/>
        </p:spPr>
        <p:txBody>
          <a:bodyPr wrap="square" lIns="0" tIns="0" rIns="0" bIns="0" rtlCol="0" anchor="ctr">
            <a:normAutofit fontScale="92500" lnSpcReduction="10000"/>
          </a:bodyPr>
          <a:lstStyle/>
          <a:p>
            <a:pPr marL="0" indent="0">
              <a:buNone/>
            </a:pPr>
            <a:r>
              <a:rPr lang="en-US" sz="1420" dirty="0">
                <a:solidFill>
                  <a:srgbClr val="13213A"/>
                </a:solidFill>
              </a:rPr>
              <a:t>самый массовый коммерческий сегмент</a:t>
            </a:r>
            <a:endParaRPr lang="en-US" sz="1420" dirty="0"/>
          </a:p>
        </p:txBody>
      </p:sp>
      <p:sp>
        <p:nvSpPr>
          <p:cNvPr id="13" name="Shape 11"/>
          <p:cNvSpPr/>
          <p:nvPr/>
        </p:nvSpPr>
        <p:spPr>
          <a:xfrm>
            <a:off x="713232" y="2871216"/>
            <a:ext cx="10698480" cy="530352"/>
          </a:xfrm>
          <a:prstGeom prst="roundRect">
            <a:avLst>
              <a:gd name="adj" fmla="val 6897"/>
            </a:avLst>
          </a:prstGeom>
          <a:solidFill>
            <a:srgbClr val="FFFFFF"/>
          </a:solidFill>
          <a:ln w="12700">
            <a:solidFill>
              <a:srgbClr val="D6E2F2"/>
            </a:solidFill>
            <a:prstDash val="solid"/>
          </a:ln>
        </p:spPr>
      </p:sp>
      <p:sp>
        <p:nvSpPr>
          <p:cNvPr id="14" name="Text 12"/>
          <p:cNvSpPr/>
          <p:nvPr/>
        </p:nvSpPr>
        <p:spPr>
          <a:xfrm>
            <a:off x="960120" y="3017520"/>
            <a:ext cx="1920240" cy="182880"/>
          </a:xfrm>
          <a:prstGeom prst="rect">
            <a:avLst/>
          </a:prstGeom>
          <a:noFill/>
          <a:ln/>
        </p:spPr>
        <p:txBody>
          <a:bodyPr wrap="square" lIns="0" tIns="0" rIns="0" bIns="0" rtlCol="0" anchor="ctr"/>
          <a:lstStyle/>
          <a:p>
            <a:pPr marL="0" indent="0">
              <a:buNone/>
            </a:pPr>
            <a:r>
              <a:rPr lang="en-US" sz="1450" b="1" dirty="0">
                <a:solidFill>
                  <a:srgbClr val="2E86DE"/>
                </a:solidFill>
              </a:rPr>
              <a:t>Средние</a:t>
            </a:r>
            <a:endParaRPr lang="en-US" sz="1450" dirty="0"/>
          </a:p>
        </p:txBody>
      </p:sp>
      <p:sp>
        <p:nvSpPr>
          <p:cNvPr id="15" name="Text 13"/>
          <p:cNvSpPr/>
          <p:nvPr/>
        </p:nvSpPr>
        <p:spPr>
          <a:xfrm>
            <a:off x="3154680" y="3017520"/>
            <a:ext cx="1508760" cy="182880"/>
          </a:xfrm>
          <a:prstGeom prst="rect">
            <a:avLst/>
          </a:prstGeom>
          <a:noFill/>
          <a:ln/>
        </p:spPr>
        <p:txBody>
          <a:bodyPr wrap="square" lIns="0" tIns="0" rIns="0" bIns="0" rtlCol="0" anchor="ctr"/>
          <a:lstStyle/>
          <a:p>
            <a:pPr marL="0" indent="0">
              <a:buNone/>
            </a:pPr>
            <a:r>
              <a:rPr lang="en-US" sz="1450" b="1" dirty="0">
                <a:solidFill>
                  <a:srgbClr val="13213A"/>
                </a:solidFill>
              </a:rPr>
              <a:t>30–2000 кг</a:t>
            </a:r>
            <a:endParaRPr lang="en-US" sz="1450" dirty="0"/>
          </a:p>
        </p:txBody>
      </p:sp>
      <p:sp>
        <p:nvSpPr>
          <p:cNvPr id="16" name="Text 14"/>
          <p:cNvSpPr/>
          <p:nvPr/>
        </p:nvSpPr>
        <p:spPr>
          <a:xfrm>
            <a:off x="4983480" y="3017520"/>
            <a:ext cx="5989320" cy="182880"/>
          </a:xfrm>
          <a:prstGeom prst="rect">
            <a:avLst/>
          </a:prstGeom>
          <a:noFill/>
          <a:ln/>
        </p:spPr>
        <p:txBody>
          <a:bodyPr wrap="square" lIns="0" tIns="0" rIns="0" bIns="0" rtlCol="0" anchor="ctr">
            <a:normAutofit fontScale="92500" lnSpcReduction="10000"/>
          </a:bodyPr>
          <a:lstStyle/>
          <a:p>
            <a:pPr marL="0" indent="0">
              <a:buNone/>
            </a:pPr>
            <a:r>
              <a:rPr lang="en-US" sz="1420" dirty="0">
                <a:solidFill>
                  <a:srgbClr val="13213A"/>
                </a:solidFill>
              </a:rPr>
              <a:t>тяжёлая целевая нагрузка, промышленность</a:t>
            </a:r>
            <a:endParaRPr lang="en-US" sz="1420" dirty="0"/>
          </a:p>
        </p:txBody>
      </p:sp>
      <p:sp>
        <p:nvSpPr>
          <p:cNvPr id="17" name="Shape 15"/>
          <p:cNvSpPr/>
          <p:nvPr/>
        </p:nvSpPr>
        <p:spPr>
          <a:xfrm>
            <a:off x="713232" y="3621024"/>
            <a:ext cx="10698480" cy="530352"/>
          </a:xfrm>
          <a:prstGeom prst="roundRect">
            <a:avLst>
              <a:gd name="adj" fmla="val 6897"/>
            </a:avLst>
          </a:prstGeom>
          <a:solidFill>
            <a:srgbClr val="EFF6FF"/>
          </a:solidFill>
          <a:ln w="12700">
            <a:solidFill>
              <a:srgbClr val="D6E2F2"/>
            </a:solidFill>
            <a:prstDash val="solid"/>
          </a:ln>
        </p:spPr>
      </p:sp>
      <p:sp>
        <p:nvSpPr>
          <p:cNvPr id="18" name="Text 16"/>
          <p:cNvSpPr/>
          <p:nvPr/>
        </p:nvSpPr>
        <p:spPr>
          <a:xfrm>
            <a:off x="960120" y="3767328"/>
            <a:ext cx="1920240" cy="182880"/>
          </a:xfrm>
          <a:prstGeom prst="rect">
            <a:avLst/>
          </a:prstGeom>
          <a:noFill/>
          <a:ln/>
        </p:spPr>
        <p:txBody>
          <a:bodyPr wrap="square" lIns="0" tIns="0" rIns="0" bIns="0" rtlCol="0" anchor="ctr"/>
          <a:lstStyle/>
          <a:p>
            <a:pPr marL="0" indent="0">
              <a:buNone/>
            </a:pPr>
            <a:r>
              <a:rPr lang="en-US" sz="1450" b="1" dirty="0">
                <a:solidFill>
                  <a:srgbClr val="2E86DE"/>
                </a:solidFill>
              </a:rPr>
              <a:t>Тяжёлые</a:t>
            </a:r>
            <a:endParaRPr lang="en-US" sz="1450" dirty="0"/>
          </a:p>
        </p:txBody>
      </p:sp>
      <p:sp>
        <p:nvSpPr>
          <p:cNvPr id="19" name="Text 17"/>
          <p:cNvSpPr/>
          <p:nvPr/>
        </p:nvSpPr>
        <p:spPr>
          <a:xfrm>
            <a:off x="3154680" y="3767328"/>
            <a:ext cx="1508760" cy="182880"/>
          </a:xfrm>
          <a:prstGeom prst="rect">
            <a:avLst/>
          </a:prstGeom>
          <a:noFill/>
          <a:ln/>
        </p:spPr>
        <p:txBody>
          <a:bodyPr wrap="square" lIns="0" tIns="0" rIns="0" bIns="0" rtlCol="0" anchor="ctr"/>
          <a:lstStyle/>
          <a:p>
            <a:pPr marL="0" indent="0">
              <a:buNone/>
            </a:pPr>
            <a:r>
              <a:rPr lang="en-US" sz="1450" b="1" dirty="0">
                <a:solidFill>
                  <a:srgbClr val="13213A"/>
                </a:solidFill>
              </a:rPr>
              <a:t>&gt;2000 кг</a:t>
            </a:r>
            <a:endParaRPr lang="en-US" sz="1450" dirty="0"/>
          </a:p>
        </p:txBody>
      </p:sp>
      <p:sp>
        <p:nvSpPr>
          <p:cNvPr id="20" name="Text 18"/>
          <p:cNvSpPr/>
          <p:nvPr/>
        </p:nvSpPr>
        <p:spPr>
          <a:xfrm>
            <a:off x="4983480" y="3767328"/>
            <a:ext cx="5989320" cy="182880"/>
          </a:xfrm>
          <a:prstGeom prst="rect">
            <a:avLst/>
          </a:prstGeom>
          <a:noFill/>
          <a:ln/>
        </p:spPr>
        <p:txBody>
          <a:bodyPr wrap="square" lIns="0" tIns="0" rIns="0" bIns="0" rtlCol="0" anchor="ctr">
            <a:normAutofit fontScale="92500" lnSpcReduction="10000"/>
          </a:bodyPr>
          <a:lstStyle/>
          <a:p>
            <a:pPr marL="0" indent="0">
              <a:buNone/>
            </a:pPr>
            <a:r>
              <a:rPr lang="en-US" sz="1420" dirty="0">
                <a:solidFill>
                  <a:srgbClr val="13213A"/>
                </a:solidFill>
              </a:rPr>
              <a:t>большая дальность, стратегические задачи</a:t>
            </a:r>
            <a:endParaRPr lang="en-US" sz="1420" dirty="0"/>
          </a:p>
        </p:txBody>
      </p:sp>
      <p:sp>
        <p:nvSpPr>
          <p:cNvPr id="21" name="Text 19"/>
          <p:cNvSpPr/>
          <p:nvPr/>
        </p:nvSpPr>
        <p:spPr>
          <a:xfrm>
            <a:off x="777240" y="4800600"/>
            <a:ext cx="6492240" cy="365760"/>
          </a:xfrm>
          <a:prstGeom prst="rect">
            <a:avLst/>
          </a:prstGeom>
          <a:noFill/>
          <a:ln/>
        </p:spPr>
        <p:txBody>
          <a:bodyPr wrap="square" lIns="0" tIns="0" rIns="0" bIns="0" rtlCol="0" anchor="ctr"/>
          <a:lstStyle/>
          <a:p>
            <a:pPr marL="0" indent="0">
              <a:buNone/>
            </a:pPr>
            <a:r>
              <a:rPr lang="en-US" sz="1800" b="1" dirty="0">
                <a:solidFill>
                  <a:srgbClr val="1F3A5F"/>
                </a:solidFill>
              </a:rPr>
              <a:t>Пороги массы условны и зависят от юрисдикции. Также классифицируют по дальности, высоте, назначению и типу управления.</a:t>
            </a:r>
            <a:endParaRPr lang="en-US" sz="1800" dirty="0"/>
          </a:p>
        </p:txBody>
      </p:sp>
      <p:sp>
        <p:nvSpPr>
          <p:cNvPr id="22" name="Text 20"/>
          <p:cNvSpPr/>
          <p:nvPr/>
        </p:nvSpPr>
        <p:spPr>
          <a:xfrm>
            <a:off x="7360920" y="4251960"/>
            <a:ext cx="3657600" cy="1417320"/>
          </a:xfrm>
          <a:prstGeom prst="rect">
            <a:avLst/>
          </a:prstGeom>
          <a:noFill/>
          <a:ln/>
        </p:spPr>
        <p:txBody>
          <a:bodyPr wrap="square" lIns="1016" tIns="1016" rIns="1016" bIns="1016" rtlCol="0" anchor="t">
            <a:normAutofit fontScale="92500"/>
          </a:bodyPr>
          <a:lstStyle/>
          <a:p>
            <a:pPr marL="0" indent="0">
              <a:buNone/>
            </a:pPr>
            <a:r>
              <a:rPr lang="en-US" sz="1450" dirty="0">
                <a:solidFill>
                  <a:srgbClr val="13213A"/>
                </a:solidFill>
                <a:latin typeface="Arial" pitchFamily="34" charset="0"/>
                <a:ea typeface="Arial" pitchFamily="34" charset="-122"/>
                <a:cs typeface="Arial" pitchFamily="34" charset="-120"/>
              </a:rPr>
              <a:t>• ближнего действия: до десятков/сотен километров;</a:t>
            </a:r>
            <a:endParaRPr lang="en-US" sz="1450" dirty="0"/>
          </a:p>
          <a:p>
            <a:pPr marL="0" indent="0">
              <a:buNone/>
            </a:pPr>
            <a:r>
              <a:rPr lang="en-US" sz="1450" dirty="0">
                <a:solidFill>
                  <a:srgbClr val="13213A"/>
                </a:solidFill>
                <a:latin typeface="Arial" pitchFamily="34" charset="0"/>
                <a:ea typeface="Arial" pitchFamily="34" charset="-122"/>
                <a:cs typeface="Arial" pitchFamily="34" charset="-120"/>
              </a:rPr>
              <a:t>• среднемагистральные: сотни километров;</a:t>
            </a:r>
            <a:endParaRPr lang="en-US" sz="1450" dirty="0"/>
          </a:p>
          <a:p>
            <a:pPr marL="0" indent="0">
              <a:buNone/>
            </a:pPr>
            <a:r>
              <a:rPr lang="en-US" sz="1450" dirty="0">
                <a:solidFill>
                  <a:srgbClr val="13213A"/>
                </a:solidFill>
                <a:latin typeface="Arial" pitchFamily="34" charset="0"/>
                <a:ea typeface="Arial" pitchFamily="34" charset="-122"/>
                <a:cs typeface="Arial" pitchFamily="34" charset="-120"/>
              </a:rPr>
              <a:t>• MALE/HALE: большая продолжительность и высота;</a:t>
            </a:r>
            <a:endParaRPr lang="en-US" sz="1450" dirty="0"/>
          </a:p>
          <a:p>
            <a:pPr marL="0" indent="0">
              <a:buNone/>
            </a:pPr>
            <a:r>
              <a:rPr lang="en-US" sz="1450" dirty="0">
                <a:solidFill>
                  <a:srgbClr val="13213A"/>
                </a:solidFill>
                <a:latin typeface="Arial" pitchFamily="34" charset="0"/>
                <a:ea typeface="Arial" pitchFamily="34" charset="-122"/>
                <a:cs typeface="Arial" pitchFamily="34" charset="-120"/>
              </a:rPr>
              <a:t>• управление: ручное, маршрутное, полуавтономное, автономное.</a:t>
            </a:r>
            <a:endParaRPr lang="en-US" sz="1450" dirty="0"/>
          </a:p>
        </p:txBody>
      </p:sp>
      <p:sp>
        <p:nvSpPr>
          <p:cNvPr id="23" name="Shape 21"/>
          <p:cNvSpPr/>
          <p:nvPr/>
        </p:nvSpPr>
        <p:spPr>
          <a:xfrm>
            <a:off x="502920" y="6446520"/>
            <a:ext cx="11201400" cy="0"/>
          </a:xfrm>
          <a:prstGeom prst="line">
            <a:avLst/>
          </a:prstGeom>
          <a:noFill/>
          <a:ln w="7620">
            <a:solidFill>
              <a:srgbClr val="B9C7D8">
                <a:alpha val="65000"/>
              </a:srgbClr>
            </a:solidFill>
            <a:prstDash val="solid"/>
          </a:ln>
        </p:spPr>
      </p:sp>
      <p:sp>
        <p:nvSpPr>
          <p:cNvPr id="24" name="Text 22"/>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5" name="Text 23"/>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КЛАССИФИКАЦИЯ</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Сравнение конструктивных типов</a:t>
            </a:r>
            <a:endParaRPr lang="en-US" sz="3100" dirty="0"/>
          </a:p>
        </p:txBody>
      </p:sp>
      <p:sp>
        <p:nvSpPr>
          <p:cNvPr id="5" name="Shape 3"/>
          <p:cNvSpPr/>
          <p:nvPr/>
        </p:nvSpPr>
        <p:spPr>
          <a:xfrm>
            <a:off x="594360" y="1325880"/>
            <a:ext cx="1874520" cy="713232"/>
          </a:xfrm>
          <a:prstGeom prst="rect">
            <a:avLst/>
          </a:prstGeom>
          <a:solidFill>
            <a:srgbClr val="1F3A5F"/>
          </a:solidFill>
          <a:ln w="7620">
            <a:solidFill>
              <a:srgbClr val="D6E2F2"/>
            </a:solidFill>
            <a:prstDash val="solid"/>
          </a:ln>
        </p:spPr>
      </p:sp>
      <p:sp>
        <p:nvSpPr>
          <p:cNvPr id="6" name="Text 4"/>
          <p:cNvSpPr/>
          <p:nvPr/>
        </p:nvSpPr>
        <p:spPr>
          <a:xfrm>
            <a:off x="667512" y="1545336"/>
            <a:ext cx="1728216" cy="219456"/>
          </a:xfrm>
          <a:prstGeom prst="rect">
            <a:avLst/>
          </a:prstGeom>
          <a:noFill/>
          <a:ln/>
        </p:spPr>
        <p:txBody>
          <a:bodyPr wrap="square" lIns="0" tIns="0" rIns="0" bIns="0" rtlCol="0" anchor="ctr">
            <a:normAutofit/>
          </a:bodyPr>
          <a:lstStyle/>
          <a:p>
            <a:pPr marL="0" indent="0" algn="ctr">
              <a:buNone/>
            </a:pPr>
            <a:r>
              <a:rPr lang="en-US" sz="1160" b="1" dirty="0">
                <a:solidFill>
                  <a:srgbClr val="FFFFFF"/>
                </a:solidFill>
              </a:rPr>
              <a:t>Критерий</a:t>
            </a:r>
            <a:endParaRPr lang="en-US" sz="1160" dirty="0"/>
          </a:p>
        </p:txBody>
      </p:sp>
      <p:sp>
        <p:nvSpPr>
          <p:cNvPr id="7" name="Shape 5"/>
          <p:cNvSpPr/>
          <p:nvPr/>
        </p:nvSpPr>
        <p:spPr>
          <a:xfrm>
            <a:off x="2468880" y="1325880"/>
            <a:ext cx="2011680" cy="713232"/>
          </a:xfrm>
          <a:prstGeom prst="rect">
            <a:avLst/>
          </a:prstGeom>
          <a:solidFill>
            <a:srgbClr val="1F3A5F"/>
          </a:solidFill>
          <a:ln w="7620">
            <a:solidFill>
              <a:srgbClr val="D6E2F2"/>
            </a:solidFill>
            <a:prstDash val="solid"/>
          </a:ln>
        </p:spPr>
      </p:sp>
      <p:sp>
        <p:nvSpPr>
          <p:cNvPr id="8" name="Text 6"/>
          <p:cNvSpPr/>
          <p:nvPr/>
        </p:nvSpPr>
        <p:spPr>
          <a:xfrm>
            <a:off x="2542032" y="1545336"/>
            <a:ext cx="1865376" cy="219456"/>
          </a:xfrm>
          <a:prstGeom prst="rect">
            <a:avLst/>
          </a:prstGeom>
          <a:noFill/>
          <a:ln/>
        </p:spPr>
        <p:txBody>
          <a:bodyPr wrap="square" lIns="0" tIns="0" rIns="0" bIns="0" rtlCol="0" anchor="ctr">
            <a:normAutofit/>
          </a:bodyPr>
          <a:lstStyle/>
          <a:p>
            <a:pPr marL="0" indent="0" algn="ctr">
              <a:buNone/>
            </a:pPr>
            <a:r>
              <a:rPr lang="en-US" sz="1160" b="1" dirty="0">
                <a:solidFill>
                  <a:srgbClr val="FFFFFF"/>
                </a:solidFill>
              </a:rPr>
              <a:t>Мультиротор</a:t>
            </a:r>
            <a:endParaRPr lang="en-US" sz="1160" dirty="0"/>
          </a:p>
        </p:txBody>
      </p:sp>
      <p:sp>
        <p:nvSpPr>
          <p:cNvPr id="9" name="Shape 7"/>
          <p:cNvSpPr/>
          <p:nvPr/>
        </p:nvSpPr>
        <p:spPr>
          <a:xfrm>
            <a:off x="4480560" y="1325880"/>
            <a:ext cx="1920240" cy="713232"/>
          </a:xfrm>
          <a:prstGeom prst="rect">
            <a:avLst/>
          </a:prstGeom>
          <a:solidFill>
            <a:srgbClr val="1F3A5F"/>
          </a:solidFill>
          <a:ln w="7620">
            <a:solidFill>
              <a:srgbClr val="D6E2F2"/>
            </a:solidFill>
            <a:prstDash val="solid"/>
          </a:ln>
        </p:spPr>
      </p:sp>
      <p:sp>
        <p:nvSpPr>
          <p:cNvPr id="10" name="Text 8"/>
          <p:cNvSpPr/>
          <p:nvPr/>
        </p:nvSpPr>
        <p:spPr>
          <a:xfrm>
            <a:off x="4553712" y="1545336"/>
            <a:ext cx="1773936" cy="219456"/>
          </a:xfrm>
          <a:prstGeom prst="rect">
            <a:avLst/>
          </a:prstGeom>
          <a:noFill/>
          <a:ln/>
        </p:spPr>
        <p:txBody>
          <a:bodyPr wrap="square" lIns="0" tIns="0" rIns="0" bIns="0" rtlCol="0" anchor="ctr">
            <a:normAutofit/>
          </a:bodyPr>
          <a:lstStyle/>
          <a:p>
            <a:pPr marL="0" indent="0" algn="ctr">
              <a:buNone/>
            </a:pPr>
            <a:r>
              <a:rPr lang="en-US" sz="1160" b="1" dirty="0">
                <a:solidFill>
                  <a:srgbClr val="FFFFFF"/>
                </a:solidFill>
              </a:rPr>
              <a:t>Самолёт</a:t>
            </a:r>
            <a:endParaRPr lang="en-US" sz="1160" dirty="0"/>
          </a:p>
        </p:txBody>
      </p:sp>
      <p:sp>
        <p:nvSpPr>
          <p:cNvPr id="11" name="Shape 9"/>
          <p:cNvSpPr/>
          <p:nvPr/>
        </p:nvSpPr>
        <p:spPr>
          <a:xfrm>
            <a:off x="6400800" y="1325880"/>
            <a:ext cx="1965960" cy="713232"/>
          </a:xfrm>
          <a:prstGeom prst="rect">
            <a:avLst/>
          </a:prstGeom>
          <a:solidFill>
            <a:srgbClr val="1F3A5F"/>
          </a:solidFill>
          <a:ln w="7620">
            <a:solidFill>
              <a:srgbClr val="D6E2F2"/>
            </a:solidFill>
            <a:prstDash val="solid"/>
          </a:ln>
        </p:spPr>
      </p:sp>
      <p:sp>
        <p:nvSpPr>
          <p:cNvPr id="12" name="Text 10"/>
          <p:cNvSpPr/>
          <p:nvPr/>
        </p:nvSpPr>
        <p:spPr>
          <a:xfrm>
            <a:off x="6473952" y="1545336"/>
            <a:ext cx="1819656" cy="219456"/>
          </a:xfrm>
          <a:prstGeom prst="rect">
            <a:avLst/>
          </a:prstGeom>
          <a:noFill/>
          <a:ln/>
        </p:spPr>
        <p:txBody>
          <a:bodyPr wrap="square" lIns="0" tIns="0" rIns="0" bIns="0" rtlCol="0" anchor="ctr">
            <a:normAutofit/>
          </a:bodyPr>
          <a:lstStyle/>
          <a:p>
            <a:pPr marL="0" indent="0" algn="ctr">
              <a:buNone/>
            </a:pPr>
            <a:r>
              <a:rPr lang="en-US" sz="1160" b="1" dirty="0">
                <a:solidFill>
                  <a:srgbClr val="FFFFFF"/>
                </a:solidFill>
              </a:rPr>
              <a:t>Вертолёт</a:t>
            </a:r>
            <a:endParaRPr lang="en-US" sz="1160" dirty="0"/>
          </a:p>
        </p:txBody>
      </p:sp>
      <p:sp>
        <p:nvSpPr>
          <p:cNvPr id="13" name="Shape 11"/>
          <p:cNvSpPr/>
          <p:nvPr/>
        </p:nvSpPr>
        <p:spPr>
          <a:xfrm>
            <a:off x="8366760" y="1325880"/>
            <a:ext cx="1965960" cy="713232"/>
          </a:xfrm>
          <a:prstGeom prst="rect">
            <a:avLst/>
          </a:prstGeom>
          <a:solidFill>
            <a:srgbClr val="1F3A5F"/>
          </a:solidFill>
          <a:ln w="7620">
            <a:solidFill>
              <a:srgbClr val="D6E2F2"/>
            </a:solidFill>
            <a:prstDash val="solid"/>
          </a:ln>
        </p:spPr>
      </p:sp>
      <p:sp>
        <p:nvSpPr>
          <p:cNvPr id="14" name="Text 12"/>
          <p:cNvSpPr/>
          <p:nvPr/>
        </p:nvSpPr>
        <p:spPr>
          <a:xfrm>
            <a:off x="8439912" y="1545336"/>
            <a:ext cx="1819656" cy="219456"/>
          </a:xfrm>
          <a:prstGeom prst="rect">
            <a:avLst/>
          </a:prstGeom>
          <a:noFill/>
          <a:ln/>
        </p:spPr>
        <p:txBody>
          <a:bodyPr wrap="square" lIns="0" tIns="0" rIns="0" bIns="0" rtlCol="0" anchor="ctr">
            <a:normAutofit/>
          </a:bodyPr>
          <a:lstStyle/>
          <a:p>
            <a:pPr marL="0" indent="0" algn="ctr">
              <a:buNone/>
            </a:pPr>
            <a:r>
              <a:rPr lang="en-US" sz="1160" b="1" dirty="0">
                <a:solidFill>
                  <a:srgbClr val="FFFFFF"/>
                </a:solidFill>
              </a:rPr>
              <a:t>VTOL</a:t>
            </a:r>
            <a:endParaRPr lang="en-US" sz="1160" dirty="0"/>
          </a:p>
        </p:txBody>
      </p:sp>
      <p:sp>
        <p:nvSpPr>
          <p:cNvPr id="15" name="Shape 13"/>
          <p:cNvSpPr/>
          <p:nvPr/>
        </p:nvSpPr>
        <p:spPr>
          <a:xfrm>
            <a:off x="594360" y="2039112"/>
            <a:ext cx="1874520" cy="713232"/>
          </a:xfrm>
          <a:prstGeom prst="rect">
            <a:avLst/>
          </a:prstGeom>
          <a:solidFill>
            <a:srgbClr val="FFFFFF"/>
          </a:solidFill>
          <a:ln w="7620">
            <a:solidFill>
              <a:srgbClr val="D6E2F2"/>
            </a:solidFill>
            <a:prstDash val="solid"/>
          </a:ln>
        </p:spPr>
      </p:sp>
      <p:sp>
        <p:nvSpPr>
          <p:cNvPr id="16" name="Text 14"/>
          <p:cNvSpPr/>
          <p:nvPr/>
        </p:nvSpPr>
        <p:spPr>
          <a:xfrm>
            <a:off x="667512" y="2258568"/>
            <a:ext cx="1728216" cy="219456"/>
          </a:xfrm>
          <a:prstGeom prst="rect">
            <a:avLst/>
          </a:prstGeom>
          <a:noFill/>
          <a:ln/>
        </p:spPr>
        <p:txBody>
          <a:bodyPr wrap="square" lIns="0" tIns="0" rIns="0" bIns="0" rtlCol="0" anchor="ctr">
            <a:normAutofit/>
          </a:bodyPr>
          <a:lstStyle/>
          <a:p>
            <a:pPr marL="0" indent="0" algn="ctr">
              <a:buNone/>
            </a:pPr>
            <a:r>
              <a:rPr lang="en-US" sz="1120" b="1" dirty="0">
                <a:solidFill>
                  <a:srgbClr val="2E86DE"/>
                </a:solidFill>
              </a:rPr>
              <a:t>Время полёта</a:t>
            </a:r>
            <a:endParaRPr lang="en-US" sz="1120" dirty="0"/>
          </a:p>
        </p:txBody>
      </p:sp>
      <p:sp>
        <p:nvSpPr>
          <p:cNvPr id="17" name="Shape 15"/>
          <p:cNvSpPr/>
          <p:nvPr/>
        </p:nvSpPr>
        <p:spPr>
          <a:xfrm>
            <a:off x="2468880" y="2039112"/>
            <a:ext cx="2011680" cy="713232"/>
          </a:xfrm>
          <a:prstGeom prst="rect">
            <a:avLst/>
          </a:prstGeom>
          <a:solidFill>
            <a:srgbClr val="FFFFFF"/>
          </a:solidFill>
          <a:ln w="7620">
            <a:solidFill>
              <a:srgbClr val="D6E2F2"/>
            </a:solidFill>
            <a:prstDash val="solid"/>
          </a:ln>
        </p:spPr>
      </p:sp>
      <p:sp>
        <p:nvSpPr>
          <p:cNvPr id="18" name="Text 16"/>
          <p:cNvSpPr/>
          <p:nvPr/>
        </p:nvSpPr>
        <p:spPr>
          <a:xfrm>
            <a:off x="2542032" y="2258568"/>
            <a:ext cx="186537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20–40 мин</a:t>
            </a:r>
            <a:endParaRPr lang="en-US" sz="1120" dirty="0"/>
          </a:p>
        </p:txBody>
      </p:sp>
      <p:sp>
        <p:nvSpPr>
          <p:cNvPr id="19" name="Shape 17"/>
          <p:cNvSpPr/>
          <p:nvPr/>
        </p:nvSpPr>
        <p:spPr>
          <a:xfrm>
            <a:off x="4480560" y="2039112"/>
            <a:ext cx="1920240" cy="713232"/>
          </a:xfrm>
          <a:prstGeom prst="rect">
            <a:avLst/>
          </a:prstGeom>
          <a:solidFill>
            <a:srgbClr val="FFFFFF"/>
          </a:solidFill>
          <a:ln w="7620">
            <a:solidFill>
              <a:srgbClr val="D6E2F2"/>
            </a:solidFill>
            <a:prstDash val="solid"/>
          </a:ln>
        </p:spPr>
      </p:sp>
      <p:sp>
        <p:nvSpPr>
          <p:cNvPr id="20" name="Text 18"/>
          <p:cNvSpPr/>
          <p:nvPr/>
        </p:nvSpPr>
        <p:spPr>
          <a:xfrm>
            <a:off x="4553712" y="2258568"/>
            <a:ext cx="177393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2–16+ ч</a:t>
            </a:r>
            <a:endParaRPr lang="en-US" sz="1120" dirty="0"/>
          </a:p>
        </p:txBody>
      </p:sp>
      <p:sp>
        <p:nvSpPr>
          <p:cNvPr id="21" name="Shape 19"/>
          <p:cNvSpPr/>
          <p:nvPr/>
        </p:nvSpPr>
        <p:spPr>
          <a:xfrm>
            <a:off x="6400800" y="2039112"/>
            <a:ext cx="1965960" cy="713232"/>
          </a:xfrm>
          <a:prstGeom prst="rect">
            <a:avLst/>
          </a:prstGeom>
          <a:solidFill>
            <a:srgbClr val="FFFFFF"/>
          </a:solidFill>
          <a:ln w="7620">
            <a:solidFill>
              <a:srgbClr val="D6E2F2"/>
            </a:solidFill>
            <a:prstDash val="solid"/>
          </a:ln>
        </p:spPr>
      </p:sp>
      <p:sp>
        <p:nvSpPr>
          <p:cNvPr id="22" name="Text 20"/>
          <p:cNvSpPr/>
          <p:nvPr/>
        </p:nvSpPr>
        <p:spPr>
          <a:xfrm>
            <a:off x="6473952" y="2258568"/>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1–3 ч</a:t>
            </a:r>
            <a:endParaRPr lang="en-US" sz="1120" dirty="0"/>
          </a:p>
        </p:txBody>
      </p:sp>
      <p:sp>
        <p:nvSpPr>
          <p:cNvPr id="23" name="Shape 21"/>
          <p:cNvSpPr/>
          <p:nvPr/>
        </p:nvSpPr>
        <p:spPr>
          <a:xfrm>
            <a:off x="8366760" y="2039112"/>
            <a:ext cx="1965960" cy="713232"/>
          </a:xfrm>
          <a:prstGeom prst="rect">
            <a:avLst/>
          </a:prstGeom>
          <a:solidFill>
            <a:srgbClr val="FFFFFF"/>
          </a:solidFill>
          <a:ln w="7620">
            <a:solidFill>
              <a:srgbClr val="D6E2F2"/>
            </a:solidFill>
            <a:prstDash val="solid"/>
          </a:ln>
        </p:spPr>
      </p:sp>
      <p:sp>
        <p:nvSpPr>
          <p:cNvPr id="24" name="Text 22"/>
          <p:cNvSpPr/>
          <p:nvPr/>
        </p:nvSpPr>
        <p:spPr>
          <a:xfrm>
            <a:off x="8439912" y="2258568"/>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1–4 ч</a:t>
            </a:r>
            <a:endParaRPr lang="en-US" sz="1120" dirty="0"/>
          </a:p>
        </p:txBody>
      </p:sp>
      <p:sp>
        <p:nvSpPr>
          <p:cNvPr id="25" name="Shape 23"/>
          <p:cNvSpPr/>
          <p:nvPr/>
        </p:nvSpPr>
        <p:spPr>
          <a:xfrm>
            <a:off x="594360" y="2752344"/>
            <a:ext cx="1874520" cy="713232"/>
          </a:xfrm>
          <a:prstGeom prst="rect">
            <a:avLst/>
          </a:prstGeom>
          <a:solidFill>
            <a:srgbClr val="EFF6FF"/>
          </a:solidFill>
          <a:ln w="7620">
            <a:solidFill>
              <a:srgbClr val="D6E2F2"/>
            </a:solidFill>
            <a:prstDash val="solid"/>
          </a:ln>
        </p:spPr>
      </p:sp>
      <p:sp>
        <p:nvSpPr>
          <p:cNvPr id="26" name="Text 24"/>
          <p:cNvSpPr/>
          <p:nvPr/>
        </p:nvSpPr>
        <p:spPr>
          <a:xfrm>
            <a:off x="667512" y="2971800"/>
            <a:ext cx="1728216" cy="219456"/>
          </a:xfrm>
          <a:prstGeom prst="rect">
            <a:avLst/>
          </a:prstGeom>
          <a:noFill/>
          <a:ln/>
        </p:spPr>
        <p:txBody>
          <a:bodyPr wrap="square" lIns="0" tIns="0" rIns="0" bIns="0" rtlCol="0" anchor="ctr">
            <a:normAutofit/>
          </a:bodyPr>
          <a:lstStyle/>
          <a:p>
            <a:pPr marL="0" indent="0" algn="ctr">
              <a:buNone/>
            </a:pPr>
            <a:r>
              <a:rPr lang="en-US" sz="1120" b="1" dirty="0">
                <a:solidFill>
                  <a:srgbClr val="2E86DE"/>
                </a:solidFill>
              </a:rPr>
              <a:t>Площадка</a:t>
            </a:r>
            <a:endParaRPr lang="en-US" sz="1120" dirty="0"/>
          </a:p>
        </p:txBody>
      </p:sp>
      <p:sp>
        <p:nvSpPr>
          <p:cNvPr id="27" name="Shape 25"/>
          <p:cNvSpPr/>
          <p:nvPr/>
        </p:nvSpPr>
        <p:spPr>
          <a:xfrm>
            <a:off x="2468880" y="2752344"/>
            <a:ext cx="2011680" cy="713232"/>
          </a:xfrm>
          <a:prstGeom prst="rect">
            <a:avLst/>
          </a:prstGeom>
          <a:solidFill>
            <a:srgbClr val="EFF6FF"/>
          </a:solidFill>
          <a:ln w="7620">
            <a:solidFill>
              <a:srgbClr val="D6E2F2"/>
            </a:solidFill>
            <a:prstDash val="solid"/>
          </a:ln>
        </p:spPr>
      </p:sp>
      <p:sp>
        <p:nvSpPr>
          <p:cNvPr id="28" name="Text 26"/>
          <p:cNvSpPr/>
          <p:nvPr/>
        </p:nvSpPr>
        <p:spPr>
          <a:xfrm>
            <a:off x="2542032" y="2971800"/>
            <a:ext cx="186537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не нужна</a:t>
            </a:r>
            <a:endParaRPr lang="en-US" sz="1120" dirty="0"/>
          </a:p>
        </p:txBody>
      </p:sp>
      <p:sp>
        <p:nvSpPr>
          <p:cNvPr id="29" name="Shape 27"/>
          <p:cNvSpPr/>
          <p:nvPr/>
        </p:nvSpPr>
        <p:spPr>
          <a:xfrm>
            <a:off x="4480560" y="2752344"/>
            <a:ext cx="1920240" cy="713232"/>
          </a:xfrm>
          <a:prstGeom prst="rect">
            <a:avLst/>
          </a:prstGeom>
          <a:solidFill>
            <a:srgbClr val="EFF6FF"/>
          </a:solidFill>
          <a:ln w="7620">
            <a:solidFill>
              <a:srgbClr val="D6E2F2"/>
            </a:solidFill>
            <a:prstDash val="solid"/>
          </a:ln>
        </p:spPr>
      </p:sp>
      <p:sp>
        <p:nvSpPr>
          <p:cNvPr id="30" name="Text 28"/>
          <p:cNvSpPr/>
          <p:nvPr/>
        </p:nvSpPr>
        <p:spPr>
          <a:xfrm>
            <a:off x="4553712" y="2971800"/>
            <a:ext cx="177393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ВПП/катапульта</a:t>
            </a:r>
            <a:endParaRPr lang="en-US" sz="1120" dirty="0"/>
          </a:p>
        </p:txBody>
      </p:sp>
      <p:sp>
        <p:nvSpPr>
          <p:cNvPr id="31" name="Shape 29"/>
          <p:cNvSpPr/>
          <p:nvPr/>
        </p:nvSpPr>
        <p:spPr>
          <a:xfrm>
            <a:off x="6400800" y="2752344"/>
            <a:ext cx="1965960" cy="713232"/>
          </a:xfrm>
          <a:prstGeom prst="rect">
            <a:avLst/>
          </a:prstGeom>
          <a:solidFill>
            <a:srgbClr val="EFF6FF"/>
          </a:solidFill>
          <a:ln w="7620">
            <a:solidFill>
              <a:srgbClr val="D6E2F2"/>
            </a:solidFill>
            <a:prstDash val="solid"/>
          </a:ln>
        </p:spPr>
      </p:sp>
      <p:sp>
        <p:nvSpPr>
          <p:cNvPr id="32" name="Text 30"/>
          <p:cNvSpPr/>
          <p:nvPr/>
        </p:nvSpPr>
        <p:spPr>
          <a:xfrm>
            <a:off x="6473952" y="2971800"/>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не нужна</a:t>
            </a:r>
            <a:endParaRPr lang="en-US" sz="1120" dirty="0"/>
          </a:p>
        </p:txBody>
      </p:sp>
      <p:sp>
        <p:nvSpPr>
          <p:cNvPr id="33" name="Shape 31"/>
          <p:cNvSpPr/>
          <p:nvPr/>
        </p:nvSpPr>
        <p:spPr>
          <a:xfrm>
            <a:off x="8366760" y="2752344"/>
            <a:ext cx="1965960" cy="713232"/>
          </a:xfrm>
          <a:prstGeom prst="rect">
            <a:avLst/>
          </a:prstGeom>
          <a:solidFill>
            <a:srgbClr val="EFF6FF"/>
          </a:solidFill>
          <a:ln w="7620">
            <a:solidFill>
              <a:srgbClr val="D6E2F2"/>
            </a:solidFill>
            <a:prstDash val="solid"/>
          </a:ln>
        </p:spPr>
      </p:sp>
      <p:sp>
        <p:nvSpPr>
          <p:cNvPr id="34" name="Text 32"/>
          <p:cNvSpPr/>
          <p:nvPr/>
        </p:nvSpPr>
        <p:spPr>
          <a:xfrm>
            <a:off x="8439912" y="2971800"/>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не нужна</a:t>
            </a:r>
            <a:endParaRPr lang="en-US" sz="1120" dirty="0"/>
          </a:p>
        </p:txBody>
      </p:sp>
      <p:sp>
        <p:nvSpPr>
          <p:cNvPr id="35" name="Shape 33"/>
          <p:cNvSpPr/>
          <p:nvPr/>
        </p:nvSpPr>
        <p:spPr>
          <a:xfrm>
            <a:off x="594360" y="3465576"/>
            <a:ext cx="1874520" cy="713232"/>
          </a:xfrm>
          <a:prstGeom prst="rect">
            <a:avLst/>
          </a:prstGeom>
          <a:solidFill>
            <a:srgbClr val="FFFFFF"/>
          </a:solidFill>
          <a:ln w="7620">
            <a:solidFill>
              <a:srgbClr val="D6E2F2"/>
            </a:solidFill>
            <a:prstDash val="solid"/>
          </a:ln>
        </p:spPr>
      </p:sp>
      <p:sp>
        <p:nvSpPr>
          <p:cNvPr id="36" name="Text 34"/>
          <p:cNvSpPr/>
          <p:nvPr/>
        </p:nvSpPr>
        <p:spPr>
          <a:xfrm>
            <a:off x="667512" y="3685032"/>
            <a:ext cx="1728216" cy="219456"/>
          </a:xfrm>
          <a:prstGeom prst="rect">
            <a:avLst/>
          </a:prstGeom>
          <a:noFill/>
          <a:ln/>
        </p:spPr>
        <p:txBody>
          <a:bodyPr wrap="square" lIns="0" tIns="0" rIns="0" bIns="0" rtlCol="0" anchor="ctr">
            <a:normAutofit/>
          </a:bodyPr>
          <a:lstStyle/>
          <a:p>
            <a:pPr marL="0" indent="0" algn="ctr">
              <a:buNone/>
            </a:pPr>
            <a:r>
              <a:rPr lang="en-US" sz="1120" b="1" dirty="0">
                <a:solidFill>
                  <a:srgbClr val="2E86DE"/>
                </a:solidFill>
              </a:rPr>
              <a:t>Сильная сторона</a:t>
            </a:r>
            <a:endParaRPr lang="en-US" sz="1120" dirty="0"/>
          </a:p>
        </p:txBody>
      </p:sp>
      <p:sp>
        <p:nvSpPr>
          <p:cNvPr id="37" name="Shape 35"/>
          <p:cNvSpPr/>
          <p:nvPr/>
        </p:nvSpPr>
        <p:spPr>
          <a:xfrm>
            <a:off x="2468880" y="3465576"/>
            <a:ext cx="2011680" cy="713232"/>
          </a:xfrm>
          <a:prstGeom prst="rect">
            <a:avLst/>
          </a:prstGeom>
          <a:solidFill>
            <a:srgbClr val="FFFFFF"/>
          </a:solidFill>
          <a:ln w="7620">
            <a:solidFill>
              <a:srgbClr val="D6E2F2"/>
            </a:solidFill>
            <a:prstDash val="solid"/>
          </a:ln>
        </p:spPr>
      </p:sp>
      <p:sp>
        <p:nvSpPr>
          <p:cNvPr id="38" name="Text 36"/>
          <p:cNvSpPr/>
          <p:nvPr/>
        </p:nvSpPr>
        <p:spPr>
          <a:xfrm>
            <a:off x="2542032" y="3685032"/>
            <a:ext cx="186537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зависание</a:t>
            </a:r>
            <a:endParaRPr lang="en-US" sz="1120" dirty="0"/>
          </a:p>
        </p:txBody>
      </p:sp>
      <p:sp>
        <p:nvSpPr>
          <p:cNvPr id="39" name="Shape 37"/>
          <p:cNvSpPr/>
          <p:nvPr/>
        </p:nvSpPr>
        <p:spPr>
          <a:xfrm>
            <a:off x="4480560" y="3465576"/>
            <a:ext cx="1920240" cy="713232"/>
          </a:xfrm>
          <a:prstGeom prst="rect">
            <a:avLst/>
          </a:prstGeom>
          <a:solidFill>
            <a:srgbClr val="FFFFFF"/>
          </a:solidFill>
          <a:ln w="7620">
            <a:solidFill>
              <a:srgbClr val="D6E2F2"/>
            </a:solidFill>
            <a:prstDash val="solid"/>
          </a:ln>
        </p:spPr>
      </p:sp>
      <p:sp>
        <p:nvSpPr>
          <p:cNvPr id="40" name="Text 38"/>
          <p:cNvSpPr/>
          <p:nvPr/>
        </p:nvSpPr>
        <p:spPr>
          <a:xfrm>
            <a:off x="4553712" y="3685032"/>
            <a:ext cx="177393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дальность</a:t>
            </a:r>
            <a:endParaRPr lang="en-US" sz="1120" dirty="0"/>
          </a:p>
        </p:txBody>
      </p:sp>
      <p:sp>
        <p:nvSpPr>
          <p:cNvPr id="41" name="Shape 39"/>
          <p:cNvSpPr/>
          <p:nvPr/>
        </p:nvSpPr>
        <p:spPr>
          <a:xfrm>
            <a:off x="6400800" y="3465576"/>
            <a:ext cx="1965960" cy="713232"/>
          </a:xfrm>
          <a:prstGeom prst="rect">
            <a:avLst/>
          </a:prstGeom>
          <a:solidFill>
            <a:srgbClr val="FFFFFF"/>
          </a:solidFill>
          <a:ln w="7620">
            <a:solidFill>
              <a:srgbClr val="D6E2F2"/>
            </a:solidFill>
            <a:prstDash val="solid"/>
          </a:ln>
        </p:spPr>
      </p:sp>
      <p:sp>
        <p:nvSpPr>
          <p:cNvPr id="42" name="Text 40"/>
          <p:cNvSpPr/>
          <p:nvPr/>
        </p:nvSpPr>
        <p:spPr>
          <a:xfrm>
            <a:off x="6473952" y="3685032"/>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груз/висение</a:t>
            </a:r>
            <a:endParaRPr lang="en-US" sz="1120" dirty="0"/>
          </a:p>
        </p:txBody>
      </p:sp>
      <p:sp>
        <p:nvSpPr>
          <p:cNvPr id="43" name="Shape 41"/>
          <p:cNvSpPr/>
          <p:nvPr/>
        </p:nvSpPr>
        <p:spPr>
          <a:xfrm>
            <a:off x="8366760" y="3465576"/>
            <a:ext cx="1965960" cy="713232"/>
          </a:xfrm>
          <a:prstGeom prst="rect">
            <a:avLst/>
          </a:prstGeom>
          <a:solidFill>
            <a:srgbClr val="FFFFFF"/>
          </a:solidFill>
          <a:ln w="7620">
            <a:solidFill>
              <a:srgbClr val="D6E2F2"/>
            </a:solidFill>
            <a:prstDash val="solid"/>
          </a:ln>
        </p:spPr>
      </p:sp>
      <p:sp>
        <p:nvSpPr>
          <p:cNvPr id="44" name="Text 42"/>
          <p:cNvSpPr/>
          <p:nvPr/>
        </p:nvSpPr>
        <p:spPr>
          <a:xfrm>
            <a:off x="8439912" y="3685032"/>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универсальность</a:t>
            </a:r>
            <a:endParaRPr lang="en-US" sz="1120" dirty="0"/>
          </a:p>
        </p:txBody>
      </p:sp>
      <p:sp>
        <p:nvSpPr>
          <p:cNvPr id="45" name="Shape 43"/>
          <p:cNvSpPr/>
          <p:nvPr/>
        </p:nvSpPr>
        <p:spPr>
          <a:xfrm>
            <a:off x="594360" y="4178808"/>
            <a:ext cx="1874520" cy="713232"/>
          </a:xfrm>
          <a:prstGeom prst="rect">
            <a:avLst/>
          </a:prstGeom>
          <a:solidFill>
            <a:srgbClr val="EFF6FF"/>
          </a:solidFill>
          <a:ln w="7620">
            <a:solidFill>
              <a:srgbClr val="D6E2F2"/>
            </a:solidFill>
            <a:prstDash val="solid"/>
          </a:ln>
        </p:spPr>
      </p:sp>
      <p:sp>
        <p:nvSpPr>
          <p:cNvPr id="46" name="Text 44"/>
          <p:cNvSpPr/>
          <p:nvPr/>
        </p:nvSpPr>
        <p:spPr>
          <a:xfrm>
            <a:off x="667512" y="4398264"/>
            <a:ext cx="1728216" cy="219456"/>
          </a:xfrm>
          <a:prstGeom prst="rect">
            <a:avLst/>
          </a:prstGeom>
          <a:noFill/>
          <a:ln/>
        </p:spPr>
        <p:txBody>
          <a:bodyPr wrap="square" lIns="0" tIns="0" rIns="0" bIns="0" rtlCol="0" anchor="ctr">
            <a:normAutofit/>
          </a:bodyPr>
          <a:lstStyle/>
          <a:p>
            <a:pPr marL="0" indent="0" algn="ctr">
              <a:buNone/>
            </a:pPr>
            <a:r>
              <a:rPr lang="en-US" sz="1120" b="1" dirty="0">
                <a:solidFill>
                  <a:srgbClr val="2E86DE"/>
                </a:solidFill>
              </a:rPr>
              <a:t>Слабая сторона</a:t>
            </a:r>
            <a:endParaRPr lang="en-US" sz="1120" dirty="0"/>
          </a:p>
        </p:txBody>
      </p:sp>
      <p:sp>
        <p:nvSpPr>
          <p:cNvPr id="47" name="Shape 45"/>
          <p:cNvSpPr/>
          <p:nvPr/>
        </p:nvSpPr>
        <p:spPr>
          <a:xfrm>
            <a:off x="2468880" y="4178808"/>
            <a:ext cx="2011680" cy="713232"/>
          </a:xfrm>
          <a:prstGeom prst="rect">
            <a:avLst/>
          </a:prstGeom>
          <a:solidFill>
            <a:srgbClr val="EFF6FF"/>
          </a:solidFill>
          <a:ln w="7620">
            <a:solidFill>
              <a:srgbClr val="D6E2F2"/>
            </a:solidFill>
            <a:prstDash val="solid"/>
          </a:ln>
        </p:spPr>
      </p:sp>
      <p:sp>
        <p:nvSpPr>
          <p:cNvPr id="48" name="Text 46"/>
          <p:cNvSpPr/>
          <p:nvPr/>
        </p:nvSpPr>
        <p:spPr>
          <a:xfrm>
            <a:off x="2542032" y="4398264"/>
            <a:ext cx="186537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малая дальность</a:t>
            </a:r>
            <a:endParaRPr lang="en-US" sz="1120" dirty="0"/>
          </a:p>
        </p:txBody>
      </p:sp>
      <p:sp>
        <p:nvSpPr>
          <p:cNvPr id="49" name="Shape 47"/>
          <p:cNvSpPr/>
          <p:nvPr/>
        </p:nvSpPr>
        <p:spPr>
          <a:xfrm>
            <a:off x="4480560" y="4178808"/>
            <a:ext cx="1920240" cy="713232"/>
          </a:xfrm>
          <a:prstGeom prst="rect">
            <a:avLst/>
          </a:prstGeom>
          <a:solidFill>
            <a:srgbClr val="EFF6FF"/>
          </a:solidFill>
          <a:ln w="7620">
            <a:solidFill>
              <a:srgbClr val="D6E2F2"/>
            </a:solidFill>
            <a:prstDash val="solid"/>
          </a:ln>
        </p:spPr>
      </p:sp>
      <p:sp>
        <p:nvSpPr>
          <p:cNvPr id="50" name="Text 48"/>
          <p:cNvSpPr/>
          <p:nvPr/>
        </p:nvSpPr>
        <p:spPr>
          <a:xfrm>
            <a:off x="4553712" y="4398264"/>
            <a:ext cx="177393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нет зависания</a:t>
            </a:r>
            <a:endParaRPr lang="en-US" sz="1120" dirty="0"/>
          </a:p>
        </p:txBody>
      </p:sp>
      <p:sp>
        <p:nvSpPr>
          <p:cNvPr id="51" name="Shape 49"/>
          <p:cNvSpPr/>
          <p:nvPr/>
        </p:nvSpPr>
        <p:spPr>
          <a:xfrm>
            <a:off x="6400800" y="4178808"/>
            <a:ext cx="1965960" cy="713232"/>
          </a:xfrm>
          <a:prstGeom prst="rect">
            <a:avLst/>
          </a:prstGeom>
          <a:solidFill>
            <a:srgbClr val="EFF6FF"/>
          </a:solidFill>
          <a:ln w="7620">
            <a:solidFill>
              <a:srgbClr val="D6E2F2"/>
            </a:solidFill>
            <a:prstDash val="solid"/>
          </a:ln>
        </p:spPr>
      </p:sp>
      <p:sp>
        <p:nvSpPr>
          <p:cNvPr id="52" name="Text 50"/>
          <p:cNvSpPr/>
          <p:nvPr/>
        </p:nvSpPr>
        <p:spPr>
          <a:xfrm>
            <a:off x="6473952" y="4398264"/>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сложная механика</a:t>
            </a:r>
            <a:endParaRPr lang="en-US" sz="1120" dirty="0"/>
          </a:p>
        </p:txBody>
      </p:sp>
      <p:sp>
        <p:nvSpPr>
          <p:cNvPr id="53" name="Shape 51"/>
          <p:cNvSpPr/>
          <p:nvPr/>
        </p:nvSpPr>
        <p:spPr>
          <a:xfrm>
            <a:off x="8366760" y="4178808"/>
            <a:ext cx="1965960" cy="713232"/>
          </a:xfrm>
          <a:prstGeom prst="rect">
            <a:avLst/>
          </a:prstGeom>
          <a:solidFill>
            <a:srgbClr val="EFF6FF"/>
          </a:solidFill>
          <a:ln w="7620">
            <a:solidFill>
              <a:srgbClr val="D6E2F2"/>
            </a:solidFill>
            <a:prstDash val="solid"/>
          </a:ln>
        </p:spPr>
      </p:sp>
      <p:sp>
        <p:nvSpPr>
          <p:cNvPr id="54" name="Text 52"/>
          <p:cNvSpPr/>
          <p:nvPr/>
        </p:nvSpPr>
        <p:spPr>
          <a:xfrm>
            <a:off x="8439912" y="4398264"/>
            <a:ext cx="1819656" cy="219456"/>
          </a:xfrm>
          <a:prstGeom prst="rect">
            <a:avLst/>
          </a:prstGeom>
          <a:noFill/>
          <a:ln/>
        </p:spPr>
        <p:txBody>
          <a:bodyPr wrap="square" lIns="0" tIns="0" rIns="0" bIns="0" rtlCol="0" anchor="ctr">
            <a:normAutofit/>
          </a:bodyPr>
          <a:lstStyle/>
          <a:p>
            <a:pPr marL="0" indent="0" algn="ctr">
              <a:buNone/>
            </a:pPr>
            <a:r>
              <a:rPr lang="en-US" sz="1120" dirty="0">
                <a:solidFill>
                  <a:srgbClr val="13213A"/>
                </a:solidFill>
              </a:rPr>
              <a:t>сложный переход</a:t>
            </a:r>
            <a:endParaRPr lang="en-US" sz="1120" dirty="0"/>
          </a:p>
        </p:txBody>
      </p:sp>
      <p:sp>
        <p:nvSpPr>
          <p:cNvPr id="55" name="Shape 53"/>
          <p:cNvSpPr/>
          <p:nvPr/>
        </p:nvSpPr>
        <p:spPr>
          <a:xfrm>
            <a:off x="1097280" y="5303520"/>
            <a:ext cx="10012680" cy="475488"/>
          </a:xfrm>
          <a:prstGeom prst="roundRect">
            <a:avLst>
              <a:gd name="adj" fmla="val 9615"/>
            </a:avLst>
          </a:prstGeom>
          <a:solidFill>
            <a:srgbClr val="2E86DE">
              <a:alpha val="92000"/>
            </a:srgbClr>
          </a:solidFill>
          <a:ln w="12700">
            <a:solidFill>
              <a:srgbClr val="333333">
                <a:alpha val="0"/>
              </a:srgbClr>
            </a:solidFill>
            <a:prstDash val="solid"/>
          </a:ln>
        </p:spPr>
      </p:sp>
      <p:sp>
        <p:nvSpPr>
          <p:cNvPr id="56" name="Text 54"/>
          <p:cNvSpPr/>
          <p:nvPr/>
        </p:nvSpPr>
        <p:spPr>
          <a:xfrm>
            <a:off x="1261872" y="5413248"/>
            <a:ext cx="9683496" cy="292608"/>
          </a:xfrm>
          <a:prstGeom prst="rect">
            <a:avLst/>
          </a:prstGeom>
          <a:noFill/>
          <a:ln/>
        </p:spPr>
        <p:txBody>
          <a:bodyPr wrap="square" lIns="0" tIns="0" rIns="0" bIns="0" rtlCol="0" anchor="ctr">
            <a:normAutofit fontScale="85000" lnSpcReduction="10000"/>
          </a:bodyPr>
          <a:lstStyle/>
          <a:p>
            <a:pPr marL="0" indent="0" algn="ctr">
              <a:buNone/>
            </a:pPr>
            <a:r>
              <a:rPr lang="en-US" sz="1500" b="1" dirty="0">
                <a:solidFill>
                  <a:srgbClr val="FFFFFF"/>
                </a:solidFill>
              </a:rPr>
              <a:t>Выбор типа всегда начинается не с модели аппарата, а с миссии: площадь, точность, груз, риск и условия старта</a:t>
            </a:r>
            <a:endParaRPr lang="en-US" sz="1500" dirty="0"/>
          </a:p>
        </p:txBody>
      </p:sp>
      <p:sp>
        <p:nvSpPr>
          <p:cNvPr id="57" name="Shape 55"/>
          <p:cNvSpPr/>
          <p:nvPr/>
        </p:nvSpPr>
        <p:spPr>
          <a:xfrm>
            <a:off x="502920" y="6446520"/>
            <a:ext cx="11201400" cy="0"/>
          </a:xfrm>
          <a:prstGeom prst="line">
            <a:avLst/>
          </a:prstGeom>
          <a:noFill/>
          <a:ln w="7620">
            <a:solidFill>
              <a:srgbClr val="B9C7D8">
                <a:alpha val="65000"/>
              </a:srgbClr>
            </a:solidFill>
            <a:prstDash val="solid"/>
          </a:ln>
        </p:spPr>
      </p:sp>
      <p:sp>
        <p:nvSpPr>
          <p:cNvPr id="58" name="Text 56"/>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59" name="Text 57"/>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A5F"/>
        </a:solidFill>
        <a:effectLst/>
      </p:bgPr>
    </p:bg>
    <p:spTree>
      <p:nvGrpSpPr>
        <p:cNvPr id="1" name=""/>
        <p:cNvGrpSpPr/>
        <p:nvPr/>
      </p:nvGrpSpPr>
      <p:grpSpPr>
        <a:xfrm>
          <a:off x="0" y="0"/>
          <a:ext cx="0" cy="0"/>
          <a:chOff x="0" y="0"/>
          <a:chExt cx="0" cy="0"/>
        </a:xfrm>
      </p:grpSpPr>
      <p:pic>
        <p:nvPicPr>
          <p:cNvPr id="2" name="Image 0" descr="/mnt/data/a_wide_cinematic_photorealistic_aerial_tech_scen_batch_1.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3A5F">
              <a:alpha val="78000"/>
            </a:srgbClr>
          </a:solidFill>
          <a:ln w="12700">
            <a:solidFill>
              <a:srgbClr val="333333">
                <a:alpha val="0"/>
              </a:srgbClr>
            </a:solidFill>
            <a:prstDash val="solid"/>
          </a:ln>
        </p:spPr>
      </p:sp>
      <p:sp>
        <p:nvSpPr>
          <p:cNvPr id="4" name="Shape 1"/>
          <p:cNvSpPr/>
          <p:nvPr/>
        </p:nvSpPr>
        <p:spPr>
          <a:xfrm>
            <a:off x="566928" y="1051560"/>
            <a:ext cx="109728" cy="4389120"/>
          </a:xfrm>
          <a:prstGeom prst="rect">
            <a:avLst/>
          </a:prstGeom>
          <a:solidFill>
            <a:srgbClr val="38BDF8"/>
          </a:solidFill>
          <a:ln w="12700">
            <a:solidFill>
              <a:srgbClr val="333333">
                <a:alpha val="0"/>
              </a:srgbClr>
            </a:solidFill>
            <a:prstDash val="solid"/>
          </a:ln>
        </p:spPr>
      </p:sp>
      <p:sp>
        <p:nvSpPr>
          <p:cNvPr id="5" name="Text 2"/>
          <p:cNvSpPr/>
          <p:nvPr/>
        </p:nvSpPr>
        <p:spPr>
          <a:xfrm>
            <a:off x="868680" y="1874520"/>
            <a:ext cx="9875520" cy="822960"/>
          </a:xfrm>
          <a:prstGeom prst="rect">
            <a:avLst/>
          </a:prstGeom>
          <a:noFill/>
          <a:ln/>
        </p:spPr>
        <p:txBody>
          <a:bodyPr wrap="square" lIns="0" tIns="0" rIns="0" bIns="0" rtlCol="0" anchor="ctr">
            <a:normAutofit/>
          </a:bodyPr>
          <a:lstStyle/>
          <a:p>
            <a:pPr marL="0" indent="0">
              <a:buNone/>
            </a:pPr>
            <a:r>
              <a:rPr lang="en-US" sz="4200" b="1" dirty="0">
                <a:solidFill>
                  <a:srgbClr val="FFFFFF"/>
                </a:solidFill>
              </a:rPr>
              <a:t>Сферы применения</a:t>
            </a:r>
            <a:endParaRPr lang="en-US" sz="4200" dirty="0"/>
          </a:p>
        </p:txBody>
      </p:sp>
      <p:sp>
        <p:nvSpPr>
          <p:cNvPr id="6" name="Text 3"/>
          <p:cNvSpPr/>
          <p:nvPr/>
        </p:nvSpPr>
        <p:spPr>
          <a:xfrm>
            <a:off x="896112" y="2816352"/>
            <a:ext cx="8961120" cy="411480"/>
          </a:xfrm>
          <a:prstGeom prst="rect">
            <a:avLst/>
          </a:prstGeom>
          <a:noFill/>
          <a:ln/>
        </p:spPr>
        <p:txBody>
          <a:bodyPr wrap="square" lIns="0" tIns="0" rIns="0" bIns="0" rtlCol="0" anchor="ctr">
            <a:normAutofit/>
          </a:bodyPr>
          <a:lstStyle/>
          <a:p>
            <a:pPr marL="0" indent="0">
              <a:buNone/>
            </a:pPr>
            <a:r>
              <a:rPr lang="en-US" sz="2000" dirty="0">
                <a:solidFill>
                  <a:srgbClr val="D9ECFF"/>
                </a:solidFill>
              </a:rPr>
              <a:t>От данных к практической ценности</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Обзорная карта применений БАС</a:t>
            </a:r>
            <a:endParaRPr lang="en-US" sz="3100" dirty="0"/>
          </a:p>
        </p:txBody>
      </p:sp>
      <p:sp>
        <p:nvSpPr>
          <p:cNvPr id="5" name="Shape 3"/>
          <p:cNvSpPr/>
          <p:nvPr/>
        </p:nvSpPr>
        <p:spPr>
          <a:xfrm>
            <a:off x="4983480" y="2240280"/>
            <a:ext cx="1965960" cy="1965960"/>
          </a:xfrm>
          <a:prstGeom prst="ellipse">
            <a:avLst/>
          </a:prstGeom>
          <a:solidFill>
            <a:srgbClr val="2E86DE"/>
          </a:solidFill>
          <a:ln w="25400">
            <a:solidFill>
              <a:srgbClr val="FFFFFF"/>
            </a:solidFill>
            <a:prstDash val="solid"/>
          </a:ln>
        </p:spPr>
      </p:sp>
      <p:sp>
        <p:nvSpPr>
          <p:cNvPr id="6" name="Text 4"/>
          <p:cNvSpPr/>
          <p:nvPr/>
        </p:nvSpPr>
        <p:spPr>
          <a:xfrm>
            <a:off x="4983480" y="2816352"/>
            <a:ext cx="1965960" cy="320040"/>
          </a:xfrm>
          <a:prstGeom prst="rect">
            <a:avLst/>
          </a:prstGeom>
          <a:noFill/>
          <a:ln/>
        </p:spPr>
        <p:txBody>
          <a:bodyPr wrap="square" lIns="0" tIns="0" rIns="0" bIns="0" rtlCol="0" anchor="ctr"/>
          <a:lstStyle/>
          <a:p>
            <a:pPr marL="0" indent="0" algn="ctr">
              <a:buNone/>
            </a:pPr>
            <a:r>
              <a:rPr lang="en-US" sz="2800" b="1" dirty="0">
                <a:solidFill>
                  <a:srgbClr val="FFFFFF"/>
                </a:solidFill>
              </a:rPr>
              <a:t>БАС</a:t>
            </a:r>
            <a:endParaRPr lang="en-US" sz="2800" dirty="0"/>
          </a:p>
        </p:txBody>
      </p:sp>
      <p:sp>
        <p:nvSpPr>
          <p:cNvPr id="7" name="Shape 5"/>
          <p:cNvSpPr/>
          <p:nvPr/>
        </p:nvSpPr>
        <p:spPr>
          <a:xfrm>
            <a:off x="960120" y="1508760"/>
            <a:ext cx="2011680" cy="548640"/>
          </a:xfrm>
          <a:prstGeom prst="roundRect">
            <a:avLst>
              <a:gd name="adj" fmla="val 8333"/>
            </a:avLst>
          </a:prstGeom>
          <a:solidFill>
            <a:srgbClr val="2FB344"/>
          </a:solidFill>
          <a:ln w="12700">
            <a:solidFill>
              <a:srgbClr val="333333">
                <a:alpha val="0"/>
              </a:srgbClr>
            </a:solidFill>
            <a:prstDash val="solid"/>
          </a:ln>
        </p:spPr>
      </p:sp>
      <p:sp>
        <p:nvSpPr>
          <p:cNvPr id="8" name="Text 6"/>
          <p:cNvSpPr/>
          <p:nvPr/>
        </p:nvSpPr>
        <p:spPr>
          <a:xfrm>
            <a:off x="1033272" y="1673352"/>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Агро</a:t>
            </a:r>
            <a:endParaRPr lang="en-US" sz="1150" dirty="0"/>
          </a:p>
        </p:txBody>
      </p:sp>
      <p:sp>
        <p:nvSpPr>
          <p:cNvPr id="9" name="Shape 7"/>
          <p:cNvSpPr/>
          <p:nvPr/>
        </p:nvSpPr>
        <p:spPr>
          <a:xfrm>
            <a:off x="3703320" y="1170432"/>
            <a:ext cx="2011680" cy="548640"/>
          </a:xfrm>
          <a:prstGeom prst="roundRect">
            <a:avLst>
              <a:gd name="adj" fmla="val 8333"/>
            </a:avLst>
          </a:prstGeom>
          <a:solidFill>
            <a:srgbClr val="F59E0B"/>
          </a:solidFill>
          <a:ln w="12700">
            <a:solidFill>
              <a:srgbClr val="333333">
                <a:alpha val="0"/>
              </a:srgbClr>
            </a:solidFill>
            <a:prstDash val="solid"/>
          </a:ln>
        </p:spPr>
      </p:sp>
      <p:sp>
        <p:nvSpPr>
          <p:cNvPr id="10" name="Text 8"/>
          <p:cNvSpPr/>
          <p:nvPr/>
        </p:nvSpPr>
        <p:spPr>
          <a:xfrm>
            <a:off x="3776472" y="1335024"/>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ТЭК / инфраструктура</a:t>
            </a:r>
            <a:endParaRPr lang="en-US" sz="1150" dirty="0"/>
          </a:p>
        </p:txBody>
      </p:sp>
      <p:sp>
        <p:nvSpPr>
          <p:cNvPr id="11" name="Shape 9"/>
          <p:cNvSpPr/>
          <p:nvPr/>
        </p:nvSpPr>
        <p:spPr>
          <a:xfrm>
            <a:off x="7543800" y="1170432"/>
            <a:ext cx="2011680" cy="548640"/>
          </a:xfrm>
          <a:prstGeom prst="roundRect">
            <a:avLst>
              <a:gd name="adj" fmla="val 8333"/>
            </a:avLst>
          </a:prstGeom>
          <a:solidFill>
            <a:srgbClr val="2E86DE"/>
          </a:solidFill>
          <a:ln w="12700">
            <a:solidFill>
              <a:srgbClr val="333333">
                <a:alpha val="0"/>
              </a:srgbClr>
            </a:solidFill>
            <a:prstDash val="solid"/>
          </a:ln>
        </p:spPr>
      </p:sp>
      <p:sp>
        <p:nvSpPr>
          <p:cNvPr id="12" name="Text 10"/>
          <p:cNvSpPr/>
          <p:nvPr/>
        </p:nvSpPr>
        <p:spPr>
          <a:xfrm>
            <a:off x="7616952" y="1335024"/>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Геодезия</a:t>
            </a:r>
            <a:endParaRPr lang="en-US" sz="1150" dirty="0"/>
          </a:p>
        </p:txBody>
      </p:sp>
      <p:sp>
        <p:nvSpPr>
          <p:cNvPr id="13" name="Shape 11"/>
          <p:cNvSpPr/>
          <p:nvPr/>
        </p:nvSpPr>
        <p:spPr>
          <a:xfrm>
            <a:off x="9646920" y="2468880"/>
            <a:ext cx="2011680" cy="548640"/>
          </a:xfrm>
          <a:prstGeom prst="roundRect">
            <a:avLst>
              <a:gd name="adj" fmla="val 8333"/>
            </a:avLst>
          </a:prstGeom>
          <a:solidFill>
            <a:srgbClr val="38BDF8"/>
          </a:solidFill>
          <a:ln w="12700">
            <a:solidFill>
              <a:srgbClr val="333333">
                <a:alpha val="0"/>
              </a:srgbClr>
            </a:solidFill>
            <a:prstDash val="solid"/>
          </a:ln>
        </p:spPr>
      </p:sp>
      <p:sp>
        <p:nvSpPr>
          <p:cNvPr id="14" name="Text 12"/>
          <p:cNvSpPr/>
          <p:nvPr/>
        </p:nvSpPr>
        <p:spPr>
          <a:xfrm>
            <a:off x="9720072" y="2633472"/>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Логистика</a:t>
            </a:r>
            <a:endParaRPr lang="en-US" sz="1150" dirty="0"/>
          </a:p>
        </p:txBody>
      </p:sp>
      <p:sp>
        <p:nvSpPr>
          <p:cNvPr id="15" name="Shape 13"/>
          <p:cNvSpPr/>
          <p:nvPr/>
        </p:nvSpPr>
        <p:spPr>
          <a:xfrm>
            <a:off x="7909560" y="4773168"/>
            <a:ext cx="2011680" cy="548640"/>
          </a:xfrm>
          <a:prstGeom prst="roundRect">
            <a:avLst>
              <a:gd name="adj" fmla="val 8333"/>
            </a:avLst>
          </a:prstGeom>
          <a:solidFill>
            <a:srgbClr val="EF4444"/>
          </a:solidFill>
          <a:ln w="12700">
            <a:solidFill>
              <a:srgbClr val="333333">
                <a:alpha val="0"/>
              </a:srgbClr>
            </a:solidFill>
            <a:prstDash val="solid"/>
          </a:ln>
        </p:spPr>
      </p:sp>
      <p:sp>
        <p:nvSpPr>
          <p:cNvPr id="16" name="Text 14"/>
          <p:cNvSpPr/>
          <p:nvPr/>
        </p:nvSpPr>
        <p:spPr>
          <a:xfrm>
            <a:off x="7982712" y="4937760"/>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МЧС / спасение</a:t>
            </a:r>
            <a:endParaRPr lang="en-US" sz="1150" dirty="0"/>
          </a:p>
        </p:txBody>
      </p:sp>
      <p:sp>
        <p:nvSpPr>
          <p:cNvPr id="17" name="Shape 15"/>
          <p:cNvSpPr/>
          <p:nvPr/>
        </p:nvSpPr>
        <p:spPr>
          <a:xfrm>
            <a:off x="3886200" y="5138928"/>
            <a:ext cx="2011680" cy="548640"/>
          </a:xfrm>
          <a:prstGeom prst="roundRect">
            <a:avLst>
              <a:gd name="adj" fmla="val 8333"/>
            </a:avLst>
          </a:prstGeom>
          <a:solidFill>
            <a:srgbClr val="2FB344"/>
          </a:solidFill>
          <a:ln w="12700">
            <a:solidFill>
              <a:srgbClr val="333333">
                <a:alpha val="0"/>
              </a:srgbClr>
            </a:solidFill>
            <a:prstDash val="solid"/>
          </a:ln>
        </p:spPr>
      </p:sp>
      <p:sp>
        <p:nvSpPr>
          <p:cNvPr id="18" name="Text 16"/>
          <p:cNvSpPr/>
          <p:nvPr/>
        </p:nvSpPr>
        <p:spPr>
          <a:xfrm>
            <a:off x="3959352" y="5303520"/>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Экология</a:t>
            </a:r>
            <a:endParaRPr lang="en-US" sz="1150" dirty="0"/>
          </a:p>
        </p:txBody>
      </p:sp>
      <p:sp>
        <p:nvSpPr>
          <p:cNvPr id="19" name="Shape 17"/>
          <p:cNvSpPr/>
          <p:nvPr/>
        </p:nvSpPr>
        <p:spPr>
          <a:xfrm>
            <a:off x="868680" y="3840480"/>
            <a:ext cx="2011680" cy="548640"/>
          </a:xfrm>
          <a:prstGeom prst="roundRect">
            <a:avLst>
              <a:gd name="adj" fmla="val 8333"/>
            </a:avLst>
          </a:prstGeom>
          <a:solidFill>
            <a:srgbClr val="1F3A5F"/>
          </a:solidFill>
          <a:ln w="12700">
            <a:solidFill>
              <a:srgbClr val="333333">
                <a:alpha val="0"/>
              </a:srgbClr>
            </a:solidFill>
            <a:prstDash val="solid"/>
          </a:ln>
        </p:spPr>
      </p:sp>
      <p:sp>
        <p:nvSpPr>
          <p:cNvPr id="20" name="Text 18"/>
          <p:cNvSpPr/>
          <p:nvPr/>
        </p:nvSpPr>
        <p:spPr>
          <a:xfrm>
            <a:off x="941832" y="4005072"/>
            <a:ext cx="1865376" cy="164592"/>
          </a:xfrm>
          <a:prstGeom prst="rect">
            <a:avLst/>
          </a:prstGeom>
          <a:noFill/>
          <a:ln/>
        </p:spPr>
        <p:txBody>
          <a:bodyPr wrap="square" lIns="0" tIns="0" rIns="0" bIns="0" rtlCol="0" anchor="ctr">
            <a:normAutofit lnSpcReduction="10000"/>
          </a:bodyPr>
          <a:lstStyle/>
          <a:p>
            <a:pPr marL="0" indent="0" algn="ctr">
              <a:buNone/>
            </a:pPr>
            <a:r>
              <a:rPr lang="en-US" sz="1150" b="1" dirty="0">
                <a:solidFill>
                  <a:srgbClr val="FFFFFF"/>
                </a:solidFill>
              </a:rPr>
              <a:t>Медиа / безопасность</a:t>
            </a:r>
            <a:endParaRPr lang="en-US" sz="1150" dirty="0"/>
          </a:p>
        </p:txBody>
      </p:sp>
      <p:sp>
        <p:nvSpPr>
          <p:cNvPr id="21" name="Shape 19"/>
          <p:cNvSpPr/>
          <p:nvPr/>
        </p:nvSpPr>
        <p:spPr>
          <a:xfrm>
            <a:off x="502920" y="6446520"/>
            <a:ext cx="11201400" cy="0"/>
          </a:xfrm>
          <a:prstGeom prst="line">
            <a:avLst/>
          </a:prstGeom>
          <a:noFill/>
          <a:ln w="7620">
            <a:solidFill>
              <a:srgbClr val="B9C7D8">
                <a:alpha val="65000"/>
              </a:srgbClr>
            </a:solidFill>
            <a:prstDash val="solid"/>
          </a:ln>
        </p:spPr>
      </p:sp>
      <p:sp>
        <p:nvSpPr>
          <p:cNvPr id="22" name="Text 20"/>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3" name="Text 21"/>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Сельское и лесное хозяйство: точное земледелие</a:t>
            </a:r>
            <a:endParaRPr lang="en-US" sz="3100" dirty="0"/>
          </a:p>
        </p:txBody>
      </p:sp>
      <p:pic>
        <p:nvPicPr>
          <p:cNvPr id="5" name="Image 0" descr="/mnt/data/a_wide_cinematic_photorealistic_aerial_tech_scen_batch_1.png"/>
          <p:cNvPicPr>
            <a:picLocks noChangeAspect="1"/>
          </p:cNvPicPr>
          <p:nvPr/>
        </p:nvPicPr>
        <p:blipFill>
          <a:blip r:embed="rId3"/>
          <a:srcRect l="16294" r="16294"/>
          <a:stretch/>
        </p:blipFill>
        <p:spPr>
          <a:xfrm>
            <a:off x="6583680" y="1115568"/>
            <a:ext cx="4983480" cy="4160520"/>
          </a:xfrm>
          <a:prstGeom prst="rect">
            <a:avLst/>
          </a:prstGeom>
        </p:spPr>
      </p:pic>
      <p:sp>
        <p:nvSpPr>
          <p:cNvPr id="6" name="Text 3"/>
          <p:cNvSpPr/>
          <p:nvPr/>
        </p:nvSpPr>
        <p:spPr>
          <a:xfrm>
            <a:off x="713232" y="1325880"/>
            <a:ext cx="5440680" cy="3566160"/>
          </a:xfrm>
          <a:prstGeom prst="rect">
            <a:avLst/>
          </a:prstGeom>
          <a:noFill/>
          <a:ln/>
        </p:spPr>
        <p:txBody>
          <a:bodyPr wrap="square" lIns="1016" tIns="1016" rIns="1016" bIns="1016" rtlCol="0" anchor="t">
            <a:normAutofit/>
          </a:bodyPr>
          <a:lstStyle/>
          <a:p>
            <a:pPr marL="0" indent="0">
              <a:buNone/>
            </a:pPr>
            <a:r>
              <a:rPr lang="en-US" sz="2050" dirty="0">
                <a:solidFill>
                  <a:srgbClr val="13213A"/>
                </a:solidFill>
                <a:latin typeface="Arial" pitchFamily="34" charset="0"/>
                <a:ea typeface="Arial" pitchFamily="34" charset="-122"/>
                <a:cs typeface="Arial" pitchFamily="34" charset="-120"/>
              </a:rPr>
              <a:t>• мультиспектральная съёмка и индексы состояния растений: NDVI = (NIR − RED)/(NIR + RED);</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картирование проблемных зон: засуха, болезни, дефицит питания;</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ультрамалообъёмное опрыскивание: адресное внесение СЗР и удобрений;</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лесная таксация и обнаружение скрытых очагов тления тепловизором.</a:t>
            </a:r>
            <a:endParaRPr lang="en-US" sz="2050" dirty="0"/>
          </a:p>
        </p:txBody>
      </p:sp>
      <p:sp>
        <p:nvSpPr>
          <p:cNvPr id="7" name="Shape 4"/>
          <p:cNvSpPr/>
          <p:nvPr/>
        </p:nvSpPr>
        <p:spPr>
          <a:xfrm>
            <a:off x="841248" y="5257800"/>
            <a:ext cx="5120640" cy="502920"/>
          </a:xfrm>
          <a:prstGeom prst="roundRect">
            <a:avLst>
              <a:gd name="adj" fmla="val 9091"/>
            </a:avLst>
          </a:prstGeom>
          <a:solidFill>
            <a:srgbClr val="2FB344">
              <a:alpha val="92000"/>
            </a:srgbClr>
          </a:solidFill>
          <a:ln w="12700">
            <a:solidFill>
              <a:srgbClr val="333333">
                <a:alpha val="0"/>
              </a:srgbClr>
            </a:solidFill>
            <a:prstDash val="solid"/>
          </a:ln>
        </p:spPr>
      </p:sp>
      <p:sp>
        <p:nvSpPr>
          <p:cNvPr id="8" name="Text 5"/>
          <p:cNvSpPr/>
          <p:nvPr/>
        </p:nvSpPr>
        <p:spPr>
          <a:xfrm>
            <a:off x="1005840" y="5367528"/>
            <a:ext cx="4791456" cy="320040"/>
          </a:xfrm>
          <a:prstGeom prst="rect">
            <a:avLst/>
          </a:prstGeom>
          <a:noFill/>
          <a:ln/>
        </p:spPr>
        <p:txBody>
          <a:bodyPr wrap="square" lIns="0" tIns="0" rIns="0" bIns="0" rtlCol="0" anchor="ctr">
            <a:normAutofit fontScale="85000" lnSpcReduction="20000"/>
          </a:bodyPr>
          <a:lstStyle/>
          <a:p>
            <a:pPr marL="0" indent="0" algn="ctr">
              <a:buNone/>
            </a:pPr>
            <a:r>
              <a:rPr lang="en-US" sz="1500" b="1" dirty="0">
                <a:solidFill>
                  <a:srgbClr val="FFFFFF"/>
                </a:solidFill>
              </a:rPr>
              <a:t>Типы: тяжёлые мультироторы для внесения · самолёты/VTOL для картирования</a:t>
            </a:r>
            <a:endParaRPr lang="en-US" sz="1500" dirty="0"/>
          </a:p>
        </p:txBody>
      </p:sp>
      <p:sp>
        <p:nvSpPr>
          <p:cNvPr id="9" name="Shape 6"/>
          <p:cNvSpPr/>
          <p:nvPr/>
        </p:nvSpPr>
        <p:spPr>
          <a:xfrm>
            <a:off x="502920" y="6446520"/>
            <a:ext cx="11201400" cy="0"/>
          </a:xfrm>
          <a:prstGeom prst="line">
            <a:avLst/>
          </a:prstGeom>
          <a:noFill/>
          <a:ln w="7620">
            <a:solidFill>
              <a:srgbClr val="B9C7D8">
                <a:alpha val="65000"/>
              </a:srgbClr>
            </a:solidFill>
            <a:prstDash val="solid"/>
          </a:ln>
        </p:spPr>
      </p:sp>
      <p:sp>
        <p:nvSpPr>
          <p:cNvPr id="10" name="Text 7"/>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11" name="Text 8"/>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Промышленный мониторинг и ТЭК</a:t>
            </a:r>
            <a:endParaRPr lang="en-US" sz="3100" dirty="0"/>
          </a:p>
        </p:txBody>
      </p:sp>
      <p:pic>
        <p:nvPicPr>
          <p:cNvPr id="5" name="Image 0" descr="/mnt/data/a_wide_realistic_outdoor_scene_under_an_overcast_batch_3.png"/>
          <p:cNvPicPr>
            <a:picLocks noChangeAspect="1"/>
          </p:cNvPicPr>
          <p:nvPr/>
        </p:nvPicPr>
        <p:blipFill>
          <a:blip r:embed="rId3"/>
          <a:srcRect l="15366" r="15366"/>
          <a:stretch/>
        </p:blipFill>
        <p:spPr>
          <a:xfrm>
            <a:off x="685800" y="1115568"/>
            <a:ext cx="5120640" cy="4160520"/>
          </a:xfrm>
          <a:prstGeom prst="rect">
            <a:avLst/>
          </a:prstGeom>
        </p:spPr>
      </p:pic>
      <p:sp>
        <p:nvSpPr>
          <p:cNvPr id="6" name="Shape 3"/>
          <p:cNvSpPr/>
          <p:nvPr/>
        </p:nvSpPr>
        <p:spPr>
          <a:xfrm>
            <a:off x="6144768" y="1234440"/>
            <a:ext cx="5212080" cy="914400"/>
          </a:xfrm>
          <a:prstGeom prst="roundRect">
            <a:avLst>
              <a:gd name="adj" fmla="val 8000"/>
            </a:avLst>
          </a:prstGeom>
          <a:solidFill>
            <a:srgbClr val="FFFFFF"/>
          </a:solidFill>
          <a:ln w="12700">
            <a:solidFill>
              <a:srgbClr val="D6E2F2"/>
            </a:solidFill>
            <a:prstDash val="solid"/>
          </a:ln>
        </p:spPr>
      </p:sp>
      <p:sp>
        <p:nvSpPr>
          <p:cNvPr id="7" name="Shape 4"/>
          <p:cNvSpPr/>
          <p:nvPr/>
        </p:nvSpPr>
        <p:spPr>
          <a:xfrm>
            <a:off x="6144768" y="1234440"/>
            <a:ext cx="73152" cy="914400"/>
          </a:xfrm>
          <a:prstGeom prst="rect">
            <a:avLst/>
          </a:prstGeom>
          <a:solidFill>
            <a:srgbClr val="F59E0B"/>
          </a:solidFill>
          <a:ln w="12700">
            <a:solidFill>
              <a:srgbClr val="333333">
                <a:alpha val="0"/>
              </a:srgbClr>
            </a:solidFill>
            <a:prstDash val="solid"/>
          </a:ln>
        </p:spPr>
      </p:sp>
      <p:sp>
        <p:nvSpPr>
          <p:cNvPr id="8" name="Text 5"/>
          <p:cNvSpPr/>
          <p:nvPr/>
        </p:nvSpPr>
        <p:spPr>
          <a:xfrm>
            <a:off x="6373368" y="1399032"/>
            <a:ext cx="480060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ЛЭП и подстанции</a:t>
            </a:r>
            <a:endParaRPr lang="en-US" sz="1600" dirty="0"/>
          </a:p>
        </p:txBody>
      </p:sp>
      <p:sp>
        <p:nvSpPr>
          <p:cNvPr id="9" name="Text 6"/>
          <p:cNvSpPr/>
          <p:nvPr/>
        </p:nvSpPr>
        <p:spPr>
          <a:xfrm>
            <a:off x="6373368" y="1801368"/>
            <a:ext cx="4800600" cy="274320"/>
          </a:xfrm>
          <a:prstGeom prst="rect">
            <a:avLst/>
          </a:prstGeom>
          <a:noFill/>
          <a:ln/>
        </p:spPr>
        <p:txBody>
          <a:bodyPr wrap="square" lIns="254" tIns="254" rIns="254" bIns="254" rtlCol="0" anchor="t">
            <a:normAutofit fontScale="85000" lnSpcReduction="20000"/>
          </a:bodyPr>
          <a:lstStyle/>
          <a:p>
            <a:pPr marL="0" indent="0">
              <a:buNone/>
            </a:pPr>
            <a:r>
              <a:rPr lang="en-US" sz="1350" dirty="0">
                <a:solidFill>
                  <a:srgbClr val="13213A"/>
                </a:solidFill>
              </a:rPr>
              <a:t>визуальный осмотр, тепловые аномалии изоляторов, контроль зарастания просек и провисания проводов.</a:t>
            </a:r>
            <a:endParaRPr lang="en-US" sz="1350" dirty="0"/>
          </a:p>
        </p:txBody>
      </p:sp>
      <p:sp>
        <p:nvSpPr>
          <p:cNvPr id="10" name="Shape 7"/>
          <p:cNvSpPr/>
          <p:nvPr/>
        </p:nvSpPr>
        <p:spPr>
          <a:xfrm>
            <a:off x="6144768" y="2423160"/>
            <a:ext cx="5212080" cy="914400"/>
          </a:xfrm>
          <a:prstGeom prst="roundRect">
            <a:avLst>
              <a:gd name="adj" fmla="val 8000"/>
            </a:avLst>
          </a:prstGeom>
          <a:solidFill>
            <a:srgbClr val="FFFFFF"/>
          </a:solidFill>
          <a:ln w="12700">
            <a:solidFill>
              <a:srgbClr val="D6E2F2"/>
            </a:solidFill>
            <a:prstDash val="solid"/>
          </a:ln>
        </p:spPr>
      </p:sp>
      <p:sp>
        <p:nvSpPr>
          <p:cNvPr id="11" name="Shape 8"/>
          <p:cNvSpPr/>
          <p:nvPr/>
        </p:nvSpPr>
        <p:spPr>
          <a:xfrm>
            <a:off x="6144768" y="2423160"/>
            <a:ext cx="73152" cy="914400"/>
          </a:xfrm>
          <a:prstGeom prst="rect">
            <a:avLst/>
          </a:prstGeom>
          <a:solidFill>
            <a:srgbClr val="2E86DE"/>
          </a:solidFill>
          <a:ln w="12700">
            <a:solidFill>
              <a:srgbClr val="333333">
                <a:alpha val="0"/>
              </a:srgbClr>
            </a:solidFill>
            <a:prstDash val="solid"/>
          </a:ln>
        </p:spPr>
      </p:sp>
      <p:sp>
        <p:nvSpPr>
          <p:cNvPr id="12" name="Text 9"/>
          <p:cNvSpPr/>
          <p:nvPr/>
        </p:nvSpPr>
        <p:spPr>
          <a:xfrm>
            <a:off x="6373368" y="2587752"/>
            <a:ext cx="480060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Трубопроводы</a:t>
            </a:r>
            <a:endParaRPr lang="en-US" sz="1600" dirty="0"/>
          </a:p>
        </p:txBody>
      </p:sp>
      <p:sp>
        <p:nvSpPr>
          <p:cNvPr id="13" name="Text 10"/>
          <p:cNvSpPr/>
          <p:nvPr/>
        </p:nvSpPr>
        <p:spPr>
          <a:xfrm>
            <a:off x="6373368" y="2990088"/>
            <a:ext cx="4800600" cy="274320"/>
          </a:xfrm>
          <a:prstGeom prst="rect">
            <a:avLst/>
          </a:prstGeom>
          <a:noFill/>
          <a:ln/>
        </p:spPr>
        <p:txBody>
          <a:bodyPr wrap="square" lIns="254" tIns="254" rIns="254" bIns="254" rtlCol="0" anchor="t">
            <a:normAutofit fontScale="85000" lnSpcReduction="10000"/>
          </a:bodyPr>
          <a:lstStyle/>
          <a:p>
            <a:pPr marL="0" indent="0">
              <a:buNone/>
            </a:pPr>
            <a:r>
              <a:rPr lang="en-US" sz="1350" dirty="0">
                <a:solidFill>
                  <a:srgbClr val="13213A"/>
                </a:solidFill>
              </a:rPr>
              <a:t>поиск утечек, незаконных врезок, деформаций грунта в охранной зоне.</a:t>
            </a:r>
            <a:endParaRPr lang="en-US" sz="1350" dirty="0"/>
          </a:p>
        </p:txBody>
      </p:sp>
      <p:sp>
        <p:nvSpPr>
          <p:cNvPr id="14" name="Shape 11"/>
          <p:cNvSpPr/>
          <p:nvPr/>
        </p:nvSpPr>
        <p:spPr>
          <a:xfrm>
            <a:off x="6144768" y="3611880"/>
            <a:ext cx="5212080" cy="914400"/>
          </a:xfrm>
          <a:prstGeom prst="roundRect">
            <a:avLst>
              <a:gd name="adj" fmla="val 8000"/>
            </a:avLst>
          </a:prstGeom>
          <a:solidFill>
            <a:srgbClr val="FFFFFF"/>
          </a:solidFill>
          <a:ln w="12700">
            <a:solidFill>
              <a:srgbClr val="D6E2F2"/>
            </a:solidFill>
            <a:prstDash val="solid"/>
          </a:ln>
        </p:spPr>
      </p:sp>
      <p:sp>
        <p:nvSpPr>
          <p:cNvPr id="15" name="Shape 12"/>
          <p:cNvSpPr/>
          <p:nvPr/>
        </p:nvSpPr>
        <p:spPr>
          <a:xfrm>
            <a:off x="6144768" y="3611880"/>
            <a:ext cx="73152" cy="914400"/>
          </a:xfrm>
          <a:prstGeom prst="rect">
            <a:avLst/>
          </a:prstGeom>
          <a:solidFill>
            <a:srgbClr val="2FB344"/>
          </a:solidFill>
          <a:ln w="12700">
            <a:solidFill>
              <a:srgbClr val="333333">
                <a:alpha val="0"/>
              </a:srgbClr>
            </a:solidFill>
            <a:prstDash val="solid"/>
          </a:ln>
        </p:spPr>
      </p:sp>
      <p:sp>
        <p:nvSpPr>
          <p:cNvPr id="16" name="Text 13"/>
          <p:cNvSpPr/>
          <p:nvPr/>
        </p:nvSpPr>
        <p:spPr>
          <a:xfrm>
            <a:off x="6373368" y="3776472"/>
            <a:ext cx="480060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Метан и газоанализ</a:t>
            </a:r>
            <a:endParaRPr lang="en-US" sz="1600" dirty="0"/>
          </a:p>
        </p:txBody>
      </p:sp>
      <p:sp>
        <p:nvSpPr>
          <p:cNvPr id="17" name="Text 14"/>
          <p:cNvSpPr/>
          <p:nvPr/>
        </p:nvSpPr>
        <p:spPr>
          <a:xfrm>
            <a:off x="6373368" y="4178808"/>
            <a:ext cx="4800600" cy="274320"/>
          </a:xfrm>
          <a:prstGeom prst="rect">
            <a:avLst/>
          </a:prstGeom>
          <a:noFill/>
          <a:ln/>
        </p:spPr>
        <p:txBody>
          <a:bodyPr wrap="square" lIns="254" tIns="254" rIns="254" bIns="254" rtlCol="0" anchor="t">
            <a:normAutofit fontScale="85000" lnSpcReduction="10000"/>
          </a:bodyPr>
          <a:lstStyle/>
          <a:p>
            <a:pPr marL="0" indent="0">
              <a:buNone/>
            </a:pPr>
            <a:r>
              <a:rPr lang="en-US" sz="1350" dirty="0">
                <a:solidFill>
                  <a:srgbClr val="13213A"/>
                </a:solidFill>
              </a:rPr>
              <a:t>TDLAS/CRDS-сенсоры помогают точечно локализовать утечки с воздуха.</a:t>
            </a:r>
            <a:endParaRPr lang="en-US" sz="1350" dirty="0"/>
          </a:p>
        </p:txBody>
      </p:sp>
      <p:sp>
        <p:nvSpPr>
          <p:cNvPr id="18" name="Shape 15"/>
          <p:cNvSpPr/>
          <p:nvPr/>
        </p:nvSpPr>
        <p:spPr>
          <a:xfrm>
            <a:off x="6355080" y="5074920"/>
            <a:ext cx="4754880" cy="502920"/>
          </a:xfrm>
          <a:prstGeom prst="roundRect">
            <a:avLst>
              <a:gd name="adj" fmla="val 9091"/>
            </a:avLst>
          </a:prstGeom>
          <a:solidFill>
            <a:srgbClr val="1F3A5F">
              <a:alpha val="92000"/>
            </a:srgbClr>
          </a:solidFill>
          <a:ln w="12700">
            <a:solidFill>
              <a:srgbClr val="333333">
                <a:alpha val="0"/>
              </a:srgbClr>
            </a:solidFill>
            <a:prstDash val="solid"/>
          </a:ln>
        </p:spPr>
      </p:sp>
      <p:sp>
        <p:nvSpPr>
          <p:cNvPr id="19" name="Text 16"/>
          <p:cNvSpPr/>
          <p:nvPr/>
        </p:nvSpPr>
        <p:spPr>
          <a:xfrm>
            <a:off x="6519672" y="5184648"/>
            <a:ext cx="4425696" cy="320040"/>
          </a:xfrm>
          <a:prstGeom prst="rect">
            <a:avLst/>
          </a:prstGeom>
          <a:noFill/>
          <a:ln/>
        </p:spPr>
        <p:txBody>
          <a:bodyPr wrap="square" lIns="0" tIns="0" rIns="0" bIns="0" rtlCol="0" anchor="ctr">
            <a:normAutofit fontScale="85000" lnSpcReduction="20000"/>
          </a:bodyPr>
          <a:lstStyle/>
          <a:p>
            <a:pPr marL="0" indent="0" algn="ctr">
              <a:buNone/>
            </a:pPr>
            <a:r>
              <a:rPr lang="en-US" sz="1500" b="1" dirty="0">
                <a:solidFill>
                  <a:srgbClr val="FFFFFF"/>
                </a:solidFill>
              </a:rPr>
              <a:t>Ценность: скорость инспекции + снижение риска для персонала</a:t>
            </a:r>
            <a:endParaRPr lang="en-US" sz="1500" dirty="0"/>
          </a:p>
        </p:txBody>
      </p:sp>
      <p:sp>
        <p:nvSpPr>
          <p:cNvPr id="20" name="Shape 17"/>
          <p:cNvSpPr/>
          <p:nvPr/>
        </p:nvSpPr>
        <p:spPr>
          <a:xfrm>
            <a:off x="502920" y="6446520"/>
            <a:ext cx="11201400" cy="0"/>
          </a:xfrm>
          <a:prstGeom prst="line">
            <a:avLst/>
          </a:prstGeom>
          <a:noFill/>
          <a:ln w="7620">
            <a:solidFill>
              <a:srgbClr val="B9C7D8">
                <a:alpha val="65000"/>
              </a:srgbClr>
            </a:solidFill>
            <a:prstDash val="solid"/>
          </a:ln>
        </p:spPr>
      </p:sp>
      <p:sp>
        <p:nvSpPr>
          <p:cNvPr id="21" name="Text 18"/>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2" name="Text 19"/>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Картография, геодезия и строительство</a:t>
            </a:r>
            <a:endParaRPr lang="en-US" sz="3100" dirty="0"/>
          </a:p>
        </p:txBody>
      </p:sp>
      <p:sp>
        <p:nvSpPr>
          <p:cNvPr id="5" name="Shape 3"/>
          <p:cNvSpPr/>
          <p:nvPr/>
        </p:nvSpPr>
        <p:spPr>
          <a:xfrm>
            <a:off x="777240" y="1417320"/>
            <a:ext cx="4846320" cy="1133856"/>
          </a:xfrm>
          <a:prstGeom prst="roundRect">
            <a:avLst>
              <a:gd name="adj" fmla="val 6452"/>
            </a:avLst>
          </a:prstGeom>
          <a:solidFill>
            <a:srgbClr val="FFFFFF"/>
          </a:solidFill>
          <a:ln w="12700">
            <a:solidFill>
              <a:srgbClr val="D6E2F2"/>
            </a:solidFill>
            <a:prstDash val="solid"/>
          </a:ln>
        </p:spPr>
      </p:sp>
      <p:sp>
        <p:nvSpPr>
          <p:cNvPr id="6" name="Shape 4"/>
          <p:cNvSpPr/>
          <p:nvPr/>
        </p:nvSpPr>
        <p:spPr>
          <a:xfrm>
            <a:off x="777240" y="1417320"/>
            <a:ext cx="73152" cy="1133856"/>
          </a:xfrm>
          <a:prstGeom prst="rect">
            <a:avLst/>
          </a:prstGeom>
          <a:solidFill>
            <a:srgbClr val="2E86DE"/>
          </a:solidFill>
          <a:ln w="12700">
            <a:solidFill>
              <a:srgbClr val="333333">
                <a:alpha val="0"/>
              </a:srgbClr>
            </a:solidFill>
            <a:prstDash val="solid"/>
          </a:ln>
        </p:spPr>
      </p:sp>
      <p:sp>
        <p:nvSpPr>
          <p:cNvPr id="7" name="Text 5"/>
          <p:cNvSpPr/>
          <p:nvPr/>
        </p:nvSpPr>
        <p:spPr>
          <a:xfrm>
            <a:off x="1005840" y="1581912"/>
            <a:ext cx="443484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Ортофотоплан</a:t>
            </a:r>
            <a:endParaRPr lang="en-US" sz="1600" dirty="0"/>
          </a:p>
        </p:txBody>
      </p:sp>
      <p:sp>
        <p:nvSpPr>
          <p:cNvPr id="8" name="Text 6"/>
          <p:cNvSpPr/>
          <p:nvPr/>
        </p:nvSpPr>
        <p:spPr>
          <a:xfrm>
            <a:off x="1005840" y="1984248"/>
            <a:ext cx="4434840" cy="493776"/>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геометрически корректное изображение местности сверху</a:t>
            </a:r>
            <a:endParaRPr lang="en-US" sz="1350" dirty="0"/>
          </a:p>
        </p:txBody>
      </p:sp>
      <p:sp>
        <p:nvSpPr>
          <p:cNvPr id="9" name="Shape 7"/>
          <p:cNvSpPr/>
          <p:nvPr/>
        </p:nvSpPr>
        <p:spPr>
          <a:xfrm>
            <a:off x="6355080" y="1417320"/>
            <a:ext cx="4846320" cy="1133856"/>
          </a:xfrm>
          <a:prstGeom prst="roundRect">
            <a:avLst>
              <a:gd name="adj" fmla="val 6452"/>
            </a:avLst>
          </a:prstGeom>
          <a:solidFill>
            <a:srgbClr val="FFFFFF"/>
          </a:solidFill>
          <a:ln w="12700">
            <a:solidFill>
              <a:srgbClr val="D6E2F2"/>
            </a:solidFill>
            <a:prstDash val="solid"/>
          </a:ln>
        </p:spPr>
      </p:sp>
      <p:sp>
        <p:nvSpPr>
          <p:cNvPr id="10" name="Shape 8"/>
          <p:cNvSpPr/>
          <p:nvPr/>
        </p:nvSpPr>
        <p:spPr>
          <a:xfrm>
            <a:off x="6355080" y="1417320"/>
            <a:ext cx="73152" cy="1133856"/>
          </a:xfrm>
          <a:prstGeom prst="rect">
            <a:avLst/>
          </a:prstGeom>
          <a:solidFill>
            <a:srgbClr val="38BDF8"/>
          </a:solidFill>
          <a:ln w="12700">
            <a:solidFill>
              <a:srgbClr val="333333">
                <a:alpha val="0"/>
              </a:srgbClr>
            </a:solidFill>
            <a:prstDash val="solid"/>
          </a:ln>
        </p:spPr>
      </p:sp>
      <p:sp>
        <p:nvSpPr>
          <p:cNvPr id="11" name="Text 9"/>
          <p:cNvSpPr/>
          <p:nvPr/>
        </p:nvSpPr>
        <p:spPr>
          <a:xfrm>
            <a:off x="6583680" y="1581912"/>
            <a:ext cx="443484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Фотограмметрия</a:t>
            </a:r>
            <a:endParaRPr lang="en-US" sz="1600" dirty="0"/>
          </a:p>
        </p:txBody>
      </p:sp>
      <p:sp>
        <p:nvSpPr>
          <p:cNvPr id="12" name="Text 10"/>
          <p:cNvSpPr/>
          <p:nvPr/>
        </p:nvSpPr>
        <p:spPr>
          <a:xfrm>
            <a:off x="6583680" y="1984248"/>
            <a:ext cx="4434840" cy="493776"/>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3D-модель из множества перекрывающихся снимков</a:t>
            </a:r>
            <a:endParaRPr lang="en-US" sz="1350" dirty="0"/>
          </a:p>
        </p:txBody>
      </p:sp>
      <p:sp>
        <p:nvSpPr>
          <p:cNvPr id="13" name="Shape 11"/>
          <p:cNvSpPr/>
          <p:nvPr/>
        </p:nvSpPr>
        <p:spPr>
          <a:xfrm>
            <a:off x="777240" y="3063240"/>
            <a:ext cx="4846320" cy="1133856"/>
          </a:xfrm>
          <a:prstGeom prst="roundRect">
            <a:avLst>
              <a:gd name="adj" fmla="val 6452"/>
            </a:avLst>
          </a:prstGeom>
          <a:solidFill>
            <a:srgbClr val="FFFFFF"/>
          </a:solidFill>
          <a:ln w="12700">
            <a:solidFill>
              <a:srgbClr val="D6E2F2"/>
            </a:solidFill>
            <a:prstDash val="solid"/>
          </a:ln>
        </p:spPr>
      </p:sp>
      <p:sp>
        <p:nvSpPr>
          <p:cNvPr id="14" name="Shape 12"/>
          <p:cNvSpPr/>
          <p:nvPr/>
        </p:nvSpPr>
        <p:spPr>
          <a:xfrm>
            <a:off x="777240" y="3063240"/>
            <a:ext cx="73152" cy="1133856"/>
          </a:xfrm>
          <a:prstGeom prst="rect">
            <a:avLst/>
          </a:prstGeom>
          <a:solidFill>
            <a:srgbClr val="2FB344"/>
          </a:solidFill>
          <a:ln w="12700">
            <a:solidFill>
              <a:srgbClr val="333333">
                <a:alpha val="0"/>
              </a:srgbClr>
            </a:solidFill>
            <a:prstDash val="solid"/>
          </a:ln>
        </p:spPr>
      </p:sp>
      <p:sp>
        <p:nvSpPr>
          <p:cNvPr id="15" name="Text 13"/>
          <p:cNvSpPr/>
          <p:nvPr/>
        </p:nvSpPr>
        <p:spPr>
          <a:xfrm>
            <a:off x="1005840" y="3227832"/>
            <a:ext cx="443484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LiDAR</a:t>
            </a:r>
            <a:endParaRPr lang="en-US" sz="1600" dirty="0"/>
          </a:p>
        </p:txBody>
      </p:sp>
      <p:sp>
        <p:nvSpPr>
          <p:cNvPr id="16" name="Text 14"/>
          <p:cNvSpPr/>
          <p:nvPr/>
        </p:nvSpPr>
        <p:spPr>
          <a:xfrm>
            <a:off x="1005840" y="3630168"/>
            <a:ext cx="4434840" cy="493776"/>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облако точек, полезно при растительности и сложном рельефе</a:t>
            </a:r>
            <a:endParaRPr lang="en-US" sz="1350" dirty="0"/>
          </a:p>
        </p:txBody>
      </p:sp>
      <p:sp>
        <p:nvSpPr>
          <p:cNvPr id="17" name="Shape 15"/>
          <p:cNvSpPr/>
          <p:nvPr/>
        </p:nvSpPr>
        <p:spPr>
          <a:xfrm>
            <a:off x="6355080" y="3063240"/>
            <a:ext cx="4846320" cy="1133856"/>
          </a:xfrm>
          <a:prstGeom prst="roundRect">
            <a:avLst>
              <a:gd name="adj" fmla="val 6452"/>
            </a:avLst>
          </a:prstGeom>
          <a:solidFill>
            <a:srgbClr val="FFFFFF"/>
          </a:solidFill>
          <a:ln w="12700">
            <a:solidFill>
              <a:srgbClr val="D6E2F2"/>
            </a:solidFill>
            <a:prstDash val="solid"/>
          </a:ln>
        </p:spPr>
      </p:sp>
      <p:sp>
        <p:nvSpPr>
          <p:cNvPr id="18" name="Shape 16"/>
          <p:cNvSpPr/>
          <p:nvPr/>
        </p:nvSpPr>
        <p:spPr>
          <a:xfrm>
            <a:off x="6355080" y="3063240"/>
            <a:ext cx="73152" cy="1133856"/>
          </a:xfrm>
          <a:prstGeom prst="rect">
            <a:avLst/>
          </a:prstGeom>
          <a:solidFill>
            <a:srgbClr val="F59E0B"/>
          </a:solidFill>
          <a:ln w="12700">
            <a:solidFill>
              <a:srgbClr val="333333">
                <a:alpha val="0"/>
              </a:srgbClr>
            </a:solidFill>
            <a:prstDash val="solid"/>
          </a:ln>
        </p:spPr>
      </p:sp>
      <p:sp>
        <p:nvSpPr>
          <p:cNvPr id="19" name="Text 17"/>
          <p:cNvSpPr/>
          <p:nvPr/>
        </p:nvSpPr>
        <p:spPr>
          <a:xfrm>
            <a:off x="6583680" y="3227832"/>
            <a:ext cx="443484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Стройконтроль</a:t>
            </a:r>
            <a:endParaRPr lang="en-US" sz="1600" dirty="0"/>
          </a:p>
        </p:txBody>
      </p:sp>
      <p:sp>
        <p:nvSpPr>
          <p:cNvPr id="20" name="Text 18"/>
          <p:cNvSpPr/>
          <p:nvPr/>
        </p:nvSpPr>
        <p:spPr>
          <a:xfrm>
            <a:off x="6583680" y="3630168"/>
            <a:ext cx="4434840" cy="493776"/>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объёмы земляных работ, сравнение факта с BIM/планом</a:t>
            </a:r>
            <a:endParaRPr lang="en-US" sz="1350" dirty="0"/>
          </a:p>
        </p:txBody>
      </p:sp>
      <p:sp>
        <p:nvSpPr>
          <p:cNvPr id="21" name="Shape 19"/>
          <p:cNvSpPr/>
          <p:nvPr/>
        </p:nvSpPr>
        <p:spPr>
          <a:xfrm>
            <a:off x="1051560" y="5029200"/>
            <a:ext cx="9966960" cy="566928"/>
          </a:xfrm>
          <a:prstGeom prst="roundRect">
            <a:avLst>
              <a:gd name="adj" fmla="val 8065"/>
            </a:avLst>
          </a:prstGeom>
          <a:solidFill>
            <a:srgbClr val="2E86DE">
              <a:alpha val="92000"/>
            </a:srgbClr>
          </a:solidFill>
          <a:ln w="12700">
            <a:solidFill>
              <a:srgbClr val="333333">
                <a:alpha val="0"/>
              </a:srgbClr>
            </a:solidFill>
            <a:prstDash val="solid"/>
          </a:ln>
        </p:spPr>
      </p:sp>
      <p:sp>
        <p:nvSpPr>
          <p:cNvPr id="22" name="Text 20"/>
          <p:cNvSpPr/>
          <p:nvPr/>
        </p:nvSpPr>
        <p:spPr>
          <a:xfrm>
            <a:off x="1216152" y="5138928"/>
            <a:ext cx="9637776" cy="384048"/>
          </a:xfrm>
          <a:prstGeom prst="rect">
            <a:avLst/>
          </a:prstGeom>
          <a:noFill/>
          <a:ln/>
        </p:spPr>
        <p:txBody>
          <a:bodyPr wrap="square" lIns="0" tIns="0" rIns="0" bIns="0" rtlCol="0" anchor="ctr">
            <a:normAutofit fontScale="92500"/>
          </a:bodyPr>
          <a:lstStyle/>
          <a:p>
            <a:pPr marL="0" indent="0" algn="ctr">
              <a:buNone/>
            </a:pPr>
            <a:r>
              <a:rPr lang="en-US" sz="1500" b="1" dirty="0">
                <a:solidFill>
                  <a:srgbClr val="FFFFFF"/>
                </a:solidFill>
              </a:rPr>
              <a:t>Практический результат: точная карта, 3D-модель, объёмная ведомость или отчёт о ходе строительства</a:t>
            </a:r>
            <a:endParaRPr lang="en-US" sz="1500" dirty="0"/>
          </a:p>
        </p:txBody>
      </p:sp>
      <p:sp>
        <p:nvSpPr>
          <p:cNvPr id="23" name="Shape 21"/>
          <p:cNvSpPr/>
          <p:nvPr/>
        </p:nvSpPr>
        <p:spPr>
          <a:xfrm>
            <a:off x="502920" y="6446520"/>
            <a:ext cx="11201400" cy="0"/>
          </a:xfrm>
          <a:prstGeom prst="line">
            <a:avLst/>
          </a:prstGeom>
          <a:noFill/>
          <a:ln w="7620">
            <a:solidFill>
              <a:srgbClr val="B9C7D8">
                <a:alpha val="65000"/>
              </a:srgbClr>
            </a:solidFill>
            <a:prstDash val="solid"/>
          </a:ln>
        </p:spPr>
      </p:sp>
      <p:sp>
        <p:nvSpPr>
          <p:cNvPr id="24" name="Text 22"/>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5" name="Text 23"/>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Логистика и доставка</a:t>
            </a:r>
            <a:endParaRPr lang="en-US" sz="3100" dirty="0"/>
          </a:p>
        </p:txBody>
      </p:sp>
      <p:sp>
        <p:nvSpPr>
          <p:cNvPr id="5" name="Text 3"/>
          <p:cNvSpPr/>
          <p:nvPr/>
        </p:nvSpPr>
        <p:spPr>
          <a:xfrm>
            <a:off x="731520" y="1325880"/>
            <a:ext cx="5577840" cy="3611880"/>
          </a:xfrm>
          <a:prstGeom prst="rect">
            <a:avLst/>
          </a:prstGeom>
          <a:noFill/>
          <a:ln/>
        </p:spPr>
        <p:txBody>
          <a:bodyPr wrap="square" lIns="1016" tIns="1016" rIns="1016" bIns="1016" rtlCol="0" anchor="t">
            <a:normAutofit/>
          </a:bodyPr>
          <a:lstStyle/>
          <a:p>
            <a:pPr marL="0" indent="0">
              <a:buNone/>
            </a:pPr>
            <a:r>
              <a:rPr lang="en-US" sz="2050" dirty="0">
                <a:solidFill>
                  <a:srgbClr val="13213A"/>
                </a:solidFill>
                <a:latin typeface="Arial" pitchFamily="34" charset="0"/>
                <a:ea typeface="Arial" pitchFamily="34" charset="-122"/>
                <a:cs typeface="Arial" pitchFamily="34" charset="-120"/>
              </a:rPr>
              <a:t>• «последняя миля»: доставка небольших грузов в городе и пригороде;</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медицинские грузы: вакцины, кровь, анализы, медикаменты в труднодоступные районы;</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межобъектовая логистика: склады, промышленные площадки, удалённые объекты;</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ограничения: масса груза, дальность, шум, погода, полёты над людьми и регулирование.</a:t>
            </a:r>
            <a:endParaRPr lang="en-US" sz="2050" dirty="0"/>
          </a:p>
        </p:txBody>
      </p:sp>
      <p:sp>
        <p:nvSpPr>
          <p:cNvPr id="6" name="Shape 4"/>
          <p:cNvSpPr/>
          <p:nvPr/>
        </p:nvSpPr>
        <p:spPr>
          <a:xfrm>
            <a:off x="6903720" y="1572768"/>
            <a:ext cx="4069080" cy="2788920"/>
          </a:xfrm>
          <a:prstGeom prst="roundRect">
            <a:avLst>
              <a:gd name="adj" fmla="val 1967"/>
            </a:avLst>
          </a:prstGeom>
          <a:solidFill>
            <a:srgbClr val="FFFFFF"/>
          </a:solidFill>
          <a:ln w="12700">
            <a:solidFill>
              <a:srgbClr val="D6E2F2"/>
            </a:solidFill>
            <a:prstDash val="solid"/>
          </a:ln>
        </p:spPr>
      </p:sp>
      <p:sp>
        <p:nvSpPr>
          <p:cNvPr id="7" name="Text 5"/>
          <p:cNvSpPr/>
          <p:nvPr/>
        </p:nvSpPr>
        <p:spPr>
          <a:xfrm>
            <a:off x="7223760" y="1828800"/>
            <a:ext cx="3429000" cy="228600"/>
          </a:xfrm>
          <a:prstGeom prst="rect">
            <a:avLst/>
          </a:prstGeom>
          <a:noFill/>
          <a:ln/>
        </p:spPr>
        <p:txBody>
          <a:bodyPr wrap="square" lIns="0" tIns="0" rIns="0" bIns="0" rtlCol="0" anchor="ctr"/>
          <a:lstStyle/>
          <a:p>
            <a:pPr marL="0" indent="0" algn="ctr">
              <a:buNone/>
            </a:pPr>
            <a:r>
              <a:rPr lang="en-US" sz="1550" b="1" dirty="0">
                <a:solidFill>
                  <a:srgbClr val="2E86DE"/>
                </a:solidFill>
              </a:rPr>
              <a:t>Типовая цепочка доставки</a:t>
            </a:r>
            <a:endParaRPr lang="en-US" sz="1550" dirty="0"/>
          </a:p>
        </p:txBody>
      </p:sp>
      <p:sp>
        <p:nvSpPr>
          <p:cNvPr id="8" name="Shape 6"/>
          <p:cNvSpPr/>
          <p:nvPr/>
        </p:nvSpPr>
        <p:spPr>
          <a:xfrm>
            <a:off x="7269480" y="2514600"/>
            <a:ext cx="512064" cy="512064"/>
          </a:xfrm>
          <a:prstGeom prst="ellipse">
            <a:avLst/>
          </a:prstGeom>
          <a:solidFill>
            <a:srgbClr val="2E86DE">
              <a:alpha val="95000"/>
            </a:srgbClr>
          </a:solidFill>
          <a:ln w="12700">
            <a:solidFill>
              <a:srgbClr val="333333">
                <a:alpha val="0"/>
              </a:srgbClr>
            </a:solidFill>
            <a:prstDash val="solid"/>
          </a:ln>
        </p:spPr>
      </p:sp>
      <p:sp>
        <p:nvSpPr>
          <p:cNvPr id="9" name="Text 7"/>
          <p:cNvSpPr/>
          <p:nvPr/>
        </p:nvSpPr>
        <p:spPr>
          <a:xfrm>
            <a:off x="7269480" y="2606040"/>
            <a:ext cx="512064" cy="27432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1</a:t>
            </a:r>
            <a:endParaRPr lang="en-US" sz="1700" dirty="0"/>
          </a:p>
        </p:txBody>
      </p:sp>
      <p:sp>
        <p:nvSpPr>
          <p:cNvPr id="10" name="Text 8"/>
          <p:cNvSpPr/>
          <p:nvPr/>
        </p:nvSpPr>
        <p:spPr>
          <a:xfrm>
            <a:off x="6949440" y="3154680"/>
            <a:ext cx="1143000" cy="182880"/>
          </a:xfrm>
          <a:prstGeom prst="rect">
            <a:avLst/>
          </a:prstGeom>
          <a:noFill/>
          <a:ln/>
        </p:spPr>
        <p:txBody>
          <a:bodyPr wrap="square" lIns="0" tIns="0" rIns="0" bIns="0" rtlCol="0" anchor="ctr">
            <a:normAutofit/>
          </a:bodyPr>
          <a:lstStyle/>
          <a:p>
            <a:pPr marL="0" indent="0" algn="ctr">
              <a:buNone/>
            </a:pPr>
            <a:r>
              <a:rPr lang="en-US" sz="1150" b="1" dirty="0">
                <a:solidFill>
                  <a:srgbClr val="13213A"/>
                </a:solidFill>
              </a:rPr>
              <a:t>Хаб</a:t>
            </a:r>
            <a:endParaRPr lang="en-US" sz="1150" dirty="0"/>
          </a:p>
        </p:txBody>
      </p:sp>
      <p:sp>
        <p:nvSpPr>
          <p:cNvPr id="11" name="Shape 9"/>
          <p:cNvSpPr/>
          <p:nvPr/>
        </p:nvSpPr>
        <p:spPr>
          <a:xfrm>
            <a:off x="7891272" y="2770632"/>
            <a:ext cx="704088" cy="0"/>
          </a:xfrm>
          <a:prstGeom prst="line">
            <a:avLst/>
          </a:prstGeom>
          <a:noFill/>
          <a:ln w="15240">
            <a:solidFill>
              <a:srgbClr val="B9C7D8"/>
            </a:solidFill>
            <a:prstDash val="solid"/>
            <a:tailEnd type="triangle"/>
          </a:ln>
        </p:spPr>
      </p:sp>
      <p:sp>
        <p:nvSpPr>
          <p:cNvPr id="12" name="Shape 10"/>
          <p:cNvSpPr/>
          <p:nvPr/>
        </p:nvSpPr>
        <p:spPr>
          <a:xfrm>
            <a:off x="8686800" y="2514600"/>
            <a:ext cx="512064" cy="512064"/>
          </a:xfrm>
          <a:prstGeom prst="ellipse">
            <a:avLst/>
          </a:prstGeom>
          <a:solidFill>
            <a:srgbClr val="38BDF8">
              <a:alpha val="95000"/>
            </a:srgbClr>
          </a:solidFill>
          <a:ln w="12700">
            <a:solidFill>
              <a:srgbClr val="333333">
                <a:alpha val="0"/>
              </a:srgbClr>
            </a:solidFill>
            <a:prstDash val="solid"/>
          </a:ln>
        </p:spPr>
      </p:sp>
      <p:sp>
        <p:nvSpPr>
          <p:cNvPr id="13" name="Text 11"/>
          <p:cNvSpPr/>
          <p:nvPr/>
        </p:nvSpPr>
        <p:spPr>
          <a:xfrm>
            <a:off x="8686800" y="2606040"/>
            <a:ext cx="512064" cy="27432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2</a:t>
            </a:r>
            <a:endParaRPr lang="en-US" sz="1700" dirty="0"/>
          </a:p>
        </p:txBody>
      </p:sp>
      <p:sp>
        <p:nvSpPr>
          <p:cNvPr id="14" name="Text 12"/>
          <p:cNvSpPr/>
          <p:nvPr/>
        </p:nvSpPr>
        <p:spPr>
          <a:xfrm>
            <a:off x="8366760" y="3154680"/>
            <a:ext cx="1143000" cy="182880"/>
          </a:xfrm>
          <a:prstGeom prst="rect">
            <a:avLst/>
          </a:prstGeom>
          <a:noFill/>
          <a:ln/>
        </p:spPr>
        <p:txBody>
          <a:bodyPr wrap="square" lIns="0" tIns="0" rIns="0" bIns="0" rtlCol="0" anchor="ctr">
            <a:normAutofit/>
          </a:bodyPr>
          <a:lstStyle/>
          <a:p>
            <a:pPr marL="0" indent="0" algn="ctr">
              <a:buNone/>
            </a:pPr>
            <a:r>
              <a:rPr lang="en-US" sz="1150" b="1" dirty="0">
                <a:solidFill>
                  <a:srgbClr val="13213A"/>
                </a:solidFill>
              </a:rPr>
              <a:t>Полёт</a:t>
            </a:r>
            <a:endParaRPr lang="en-US" sz="1150" dirty="0"/>
          </a:p>
        </p:txBody>
      </p:sp>
      <p:sp>
        <p:nvSpPr>
          <p:cNvPr id="15" name="Shape 13"/>
          <p:cNvSpPr/>
          <p:nvPr/>
        </p:nvSpPr>
        <p:spPr>
          <a:xfrm>
            <a:off x="9308592" y="2770632"/>
            <a:ext cx="566928" cy="0"/>
          </a:xfrm>
          <a:prstGeom prst="line">
            <a:avLst/>
          </a:prstGeom>
          <a:noFill/>
          <a:ln w="15240">
            <a:solidFill>
              <a:srgbClr val="B9C7D8"/>
            </a:solidFill>
            <a:prstDash val="solid"/>
            <a:tailEnd type="triangle"/>
          </a:ln>
        </p:spPr>
      </p:sp>
      <p:sp>
        <p:nvSpPr>
          <p:cNvPr id="16" name="Shape 14"/>
          <p:cNvSpPr/>
          <p:nvPr/>
        </p:nvSpPr>
        <p:spPr>
          <a:xfrm>
            <a:off x="9966960" y="2514600"/>
            <a:ext cx="512064" cy="512064"/>
          </a:xfrm>
          <a:prstGeom prst="ellipse">
            <a:avLst/>
          </a:prstGeom>
          <a:solidFill>
            <a:srgbClr val="2FB344">
              <a:alpha val="95000"/>
            </a:srgbClr>
          </a:solidFill>
          <a:ln w="12700">
            <a:solidFill>
              <a:srgbClr val="333333">
                <a:alpha val="0"/>
              </a:srgbClr>
            </a:solidFill>
            <a:prstDash val="solid"/>
          </a:ln>
        </p:spPr>
      </p:sp>
      <p:sp>
        <p:nvSpPr>
          <p:cNvPr id="17" name="Text 15"/>
          <p:cNvSpPr/>
          <p:nvPr/>
        </p:nvSpPr>
        <p:spPr>
          <a:xfrm>
            <a:off x="9966960" y="2606040"/>
            <a:ext cx="512064" cy="27432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3</a:t>
            </a:r>
            <a:endParaRPr lang="en-US" sz="1700" dirty="0"/>
          </a:p>
        </p:txBody>
      </p:sp>
      <p:sp>
        <p:nvSpPr>
          <p:cNvPr id="18" name="Text 16"/>
          <p:cNvSpPr/>
          <p:nvPr/>
        </p:nvSpPr>
        <p:spPr>
          <a:xfrm>
            <a:off x="9646920" y="3154680"/>
            <a:ext cx="1143000" cy="182880"/>
          </a:xfrm>
          <a:prstGeom prst="rect">
            <a:avLst/>
          </a:prstGeom>
          <a:noFill/>
          <a:ln/>
        </p:spPr>
        <p:txBody>
          <a:bodyPr wrap="square" lIns="0" tIns="0" rIns="0" bIns="0" rtlCol="0" anchor="ctr">
            <a:normAutofit/>
          </a:bodyPr>
          <a:lstStyle/>
          <a:p>
            <a:pPr marL="0" indent="0" algn="ctr">
              <a:buNone/>
            </a:pPr>
            <a:r>
              <a:rPr lang="en-US" sz="1150" b="1" dirty="0">
                <a:solidFill>
                  <a:srgbClr val="13213A"/>
                </a:solidFill>
              </a:rPr>
              <a:t>Получатель</a:t>
            </a:r>
            <a:endParaRPr lang="en-US" sz="1150" dirty="0"/>
          </a:p>
        </p:txBody>
      </p:sp>
      <p:sp>
        <p:nvSpPr>
          <p:cNvPr id="19" name="Shape 17"/>
          <p:cNvSpPr/>
          <p:nvPr/>
        </p:nvSpPr>
        <p:spPr>
          <a:xfrm>
            <a:off x="502920" y="6446520"/>
            <a:ext cx="11201400" cy="0"/>
          </a:xfrm>
          <a:prstGeom prst="line">
            <a:avLst/>
          </a:prstGeom>
          <a:noFill/>
          <a:ln w="7620">
            <a:solidFill>
              <a:srgbClr val="B9C7D8">
                <a:alpha val="65000"/>
              </a:srgbClr>
            </a:solidFill>
            <a:prstDash val="solid"/>
          </a:ln>
        </p:spPr>
      </p:sp>
      <p:sp>
        <p:nvSpPr>
          <p:cNvPr id="20" name="Text 18"/>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1" name="Text 19"/>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ПРИМЕНЕНИЕ</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МЧС, поиск и спасение, экология, медиа</a:t>
            </a:r>
            <a:endParaRPr lang="en-US" sz="3100" dirty="0"/>
          </a:p>
        </p:txBody>
      </p:sp>
      <p:pic>
        <p:nvPicPr>
          <p:cNvPr id="5" name="Image 0" descr="/mnt/data/a_cinematic_slightly_telephoto_outdoor_scene_at_d_batch_4.png"/>
          <p:cNvPicPr>
            <a:picLocks noChangeAspect="1"/>
          </p:cNvPicPr>
          <p:nvPr/>
        </p:nvPicPr>
        <p:blipFill>
          <a:blip r:embed="rId3"/>
          <a:srcRect l="17703" r="17703"/>
          <a:stretch/>
        </p:blipFill>
        <p:spPr>
          <a:xfrm>
            <a:off x="6720840" y="1143000"/>
            <a:ext cx="4617720" cy="4023360"/>
          </a:xfrm>
          <a:prstGeom prst="rect">
            <a:avLst/>
          </a:prstGeom>
        </p:spPr>
      </p:pic>
      <p:sp>
        <p:nvSpPr>
          <p:cNvPr id="6" name="Text 3"/>
          <p:cNvSpPr/>
          <p:nvPr/>
        </p:nvSpPr>
        <p:spPr>
          <a:xfrm>
            <a:off x="713232" y="1234440"/>
            <a:ext cx="5715000" cy="3977640"/>
          </a:xfrm>
          <a:prstGeom prst="rect">
            <a:avLst/>
          </a:prstGeom>
          <a:noFill/>
          <a:ln/>
        </p:spPr>
        <p:txBody>
          <a:bodyPr wrap="square" lIns="1016" tIns="1016" rIns="1016" bIns="1016" rtlCol="0" anchor="t">
            <a:normAutofit/>
          </a:bodyPr>
          <a:lstStyle/>
          <a:p>
            <a:pPr marL="0" indent="0">
              <a:buNone/>
            </a:pPr>
            <a:r>
              <a:rPr lang="en-US" sz="1960" dirty="0">
                <a:solidFill>
                  <a:srgbClr val="13213A"/>
                </a:solidFill>
                <a:latin typeface="Arial" pitchFamily="34" charset="0"/>
                <a:ea typeface="Arial" pitchFamily="34" charset="-122"/>
                <a:cs typeface="Arial" pitchFamily="34" charset="-120"/>
              </a:rPr>
              <a:t>• поиск людей в лесу, горах и зонах ЧС с тепловизором и зум-камерой;</a:t>
            </a:r>
            <a:endParaRPr lang="en-US" sz="1960" dirty="0"/>
          </a:p>
          <a:p>
            <a:pPr marL="0" indent="0">
              <a:buNone/>
            </a:pPr>
            <a:r>
              <a:rPr lang="en-US" sz="1960" dirty="0">
                <a:solidFill>
                  <a:srgbClr val="13213A"/>
                </a:solidFill>
                <a:latin typeface="Arial" pitchFamily="34" charset="0"/>
                <a:ea typeface="Arial" pitchFamily="34" charset="-122"/>
                <a:cs typeface="Arial" pitchFamily="34" charset="-120"/>
              </a:rPr>
              <a:t>• оценка разрушений, паводков, пожаров и техногенных аварий без риска для спасателей;</a:t>
            </a:r>
            <a:endParaRPr lang="en-US" sz="1960" dirty="0"/>
          </a:p>
          <a:p>
            <a:pPr marL="0" indent="0">
              <a:buNone/>
            </a:pPr>
            <a:r>
              <a:rPr lang="en-US" sz="1960" dirty="0">
                <a:solidFill>
                  <a:srgbClr val="13213A"/>
                </a:solidFill>
                <a:latin typeface="Arial" pitchFamily="34" charset="0"/>
                <a:ea typeface="Arial" pitchFamily="34" charset="-122"/>
                <a:cs typeface="Arial" pitchFamily="34" charset="-120"/>
              </a:rPr>
              <a:t>• экомониторинг: леса, водоёмы, выбросы, дикая природа;</a:t>
            </a:r>
            <a:endParaRPr lang="en-US" sz="1960" dirty="0"/>
          </a:p>
          <a:p>
            <a:pPr marL="0" indent="0">
              <a:buNone/>
            </a:pPr>
            <a:r>
              <a:rPr lang="en-US" sz="1960" dirty="0">
                <a:solidFill>
                  <a:srgbClr val="13213A"/>
                </a:solidFill>
                <a:latin typeface="Arial" pitchFamily="34" charset="0"/>
                <a:ea typeface="Arial" pitchFamily="34" charset="-122"/>
                <a:cs typeface="Arial" pitchFamily="34" charset="-120"/>
              </a:rPr>
              <a:t>• медиа и спорт: кино, события, рекламная и панорамная съёмка;</a:t>
            </a:r>
            <a:endParaRPr lang="en-US" sz="1960" dirty="0"/>
          </a:p>
          <a:p>
            <a:pPr marL="0" indent="0">
              <a:buNone/>
            </a:pPr>
            <a:r>
              <a:rPr lang="en-US" sz="1960" dirty="0">
                <a:solidFill>
                  <a:srgbClr val="13213A"/>
                </a:solidFill>
                <a:latin typeface="Arial" pitchFamily="34" charset="0"/>
                <a:ea typeface="Arial" pitchFamily="34" charset="-122"/>
                <a:cs typeface="Arial" pitchFamily="34" charset="-120"/>
              </a:rPr>
              <a:t>• безопасность объектов: периметры, мероприятия, охраняемые зоны.</a:t>
            </a:r>
            <a:endParaRPr lang="en-US" sz="1960" dirty="0"/>
          </a:p>
        </p:txBody>
      </p:sp>
      <p:sp>
        <p:nvSpPr>
          <p:cNvPr id="7" name="Shape 4"/>
          <p:cNvSpPr/>
          <p:nvPr/>
        </p:nvSpPr>
        <p:spPr>
          <a:xfrm>
            <a:off x="502920" y="6446520"/>
            <a:ext cx="11201400" cy="0"/>
          </a:xfrm>
          <a:prstGeom prst="line">
            <a:avLst/>
          </a:prstGeom>
          <a:noFill/>
          <a:ln w="7620">
            <a:solidFill>
              <a:srgbClr val="B9C7D8">
                <a:alpha val="65000"/>
              </a:srgbClr>
            </a:solidFill>
            <a:prstDash val="solid"/>
          </a:ln>
        </p:spPr>
      </p:sp>
      <p:sp>
        <p:nvSpPr>
          <p:cNvPr id="8" name="Text 5"/>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9" name="Text 6"/>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A5F"/>
        </a:solidFill>
        <a:effectLst/>
      </p:bgPr>
    </p:bg>
    <p:spTree>
      <p:nvGrpSpPr>
        <p:cNvPr id="1" name=""/>
        <p:cNvGrpSpPr/>
        <p:nvPr/>
      </p:nvGrpSpPr>
      <p:grpSpPr>
        <a:xfrm>
          <a:off x="0" y="0"/>
          <a:ext cx="0" cy="0"/>
          <a:chOff x="0" y="0"/>
          <a:chExt cx="0" cy="0"/>
        </a:xfrm>
      </p:grpSpPr>
      <p:pic>
        <p:nvPicPr>
          <p:cNvPr id="2" name="Image 0" descr="/mnt/data/wide_cinematic_technical_illustration_concept_ar_batch_5.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F3A5F">
              <a:alpha val="78000"/>
            </a:srgbClr>
          </a:solidFill>
          <a:ln w="12700">
            <a:solidFill>
              <a:srgbClr val="333333">
                <a:alpha val="0"/>
              </a:srgbClr>
            </a:solidFill>
            <a:prstDash val="solid"/>
          </a:ln>
        </p:spPr>
      </p:sp>
      <p:sp>
        <p:nvSpPr>
          <p:cNvPr id="4" name="Shape 1"/>
          <p:cNvSpPr/>
          <p:nvPr/>
        </p:nvSpPr>
        <p:spPr>
          <a:xfrm>
            <a:off x="566928" y="1051560"/>
            <a:ext cx="109728" cy="4389120"/>
          </a:xfrm>
          <a:prstGeom prst="rect">
            <a:avLst/>
          </a:prstGeom>
          <a:solidFill>
            <a:srgbClr val="38BDF8"/>
          </a:solidFill>
          <a:ln w="12700">
            <a:solidFill>
              <a:srgbClr val="333333">
                <a:alpha val="0"/>
              </a:srgbClr>
            </a:solidFill>
            <a:prstDash val="solid"/>
          </a:ln>
        </p:spPr>
      </p:sp>
      <p:sp>
        <p:nvSpPr>
          <p:cNvPr id="5" name="Text 2"/>
          <p:cNvSpPr/>
          <p:nvPr/>
        </p:nvSpPr>
        <p:spPr>
          <a:xfrm>
            <a:off x="868680" y="1874520"/>
            <a:ext cx="9875520" cy="822960"/>
          </a:xfrm>
          <a:prstGeom prst="rect">
            <a:avLst/>
          </a:prstGeom>
          <a:noFill/>
          <a:ln/>
        </p:spPr>
        <p:txBody>
          <a:bodyPr wrap="square" lIns="0" tIns="0" rIns="0" bIns="0" rtlCol="0" anchor="ctr">
            <a:normAutofit/>
          </a:bodyPr>
          <a:lstStyle/>
          <a:p>
            <a:pPr marL="0" indent="0">
              <a:buNone/>
            </a:pPr>
            <a:r>
              <a:rPr lang="en-US" sz="4200" b="1" dirty="0">
                <a:solidFill>
                  <a:srgbClr val="FFFFFF"/>
                </a:solidFill>
              </a:rPr>
              <a:t>Архитектура БАС</a:t>
            </a:r>
            <a:endParaRPr lang="en-US" sz="4200" dirty="0"/>
          </a:p>
        </p:txBody>
      </p:sp>
      <p:sp>
        <p:nvSpPr>
          <p:cNvPr id="6" name="Text 3"/>
          <p:cNvSpPr/>
          <p:nvPr/>
        </p:nvSpPr>
        <p:spPr>
          <a:xfrm>
            <a:off x="896112" y="2816352"/>
            <a:ext cx="8961120" cy="411480"/>
          </a:xfrm>
          <a:prstGeom prst="rect">
            <a:avLst/>
          </a:prstGeom>
          <a:noFill/>
          <a:ln/>
        </p:spPr>
        <p:txBody>
          <a:bodyPr wrap="square" lIns="0" tIns="0" rIns="0" bIns="0" rtlCol="0" anchor="ctr">
            <a:normAutofit/>
          </a:bodyPr>
          <a:lstStyle/>
          <a:p>
            <a:pPr marL="0" indent="0">
              <a:buNone/>
            </a:pPr>
            <a:r>
              <a:rPr lang="en-US" sz="2000" dirty="0">
                <a:solidFill>
                  <a:srgbClr val="D9ECFF"/>
                </a:solidFill>
              </a:rPr>
              <a:t>Воздушный сегмент · Наземный сегмент · Связь · Человек · ПО</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БАС как система: четыре опорных элемента</a:t>
            </a:r>
            <a:endParaRPr lang="en-US" sz="3100" dirty="0"/>
          </a:p>
        </p:txBody>
      </p:sp>
      <p:sp>
        <p:nvSpPr>
          <p:cNvPr id="5" name="Shape 3"/>
          <p:cNvSpPr/>
          <p:nvPr/>
        </p:nvSpPr>
        <p:spPr>
          <a:xfrm>
            <a:off x="777240" y="1325880"/>
            <a:ext cx="4800600" cy="1325880"/>
          </a:xfrm>
          <a:prstGeom prst="roundRect">
            <a:avLst>
              <a:gd name="adj" fmla="val 5517"/>
            </a:avLst>
          </a:prstGeom>
          <a:solidFill>
            <a:srgbClr val="FFFFFF"/>
          </a:solidFill>
          <a:ln w="12700">
            <a:solidFill>
              <a:srgbClr val="D6E2F2"/>
            </a:solidFill>
            <a:prstDash val="solid"/>
          </a:ln>
        </p:spPr>
      </p:sp>
      <p:sp>
        <p:nvSpPr>
          <p:cNvPr id="6" name="Shape 4"/>
          <p:cNvSpPr/>
          <p:nvPr/>
        </p:nvSpPr>
        <p:spPr>
          <a:xfrm>
            <a:off x="777240" y="1325880"/>
            <a:ext cx="73152" cy="1325880"/>
          </a:xfrm>
          <a:prstGeom prst="rect">
            <a:avLst/>
          </a:prstGeom>
          <a:solidFill>
            <a:srgbClr val="2E86DE"/>
          </a:solidFill>
          <a:ln w="12700">
            <a:solidFill>
              <a:srgbClr val="333333">
                <a:alpha val="0"/>
              </a:srgbClr>
            </a:solidFill>
            <a:prstDash val="solid"/>
          </a:ln>
        </p:spPr>
      </p:sp>
      <p:sp>
        <p:nvSpPr>
          <p:cNvPr id="7" name="Text 5"/>
          <p:cNvSpPr/>
          <p:nvPr/>
        </p:nvSpPr>
        <p:spPr>
          <a:xfrm>
            <a:off x="1005840" y="1490472"/>
            <a:ext cx="438912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Воздушный сегмент</a:t>
            </a:r>
            <a:endParaRPr lang="en-US" sz="1600" dirty="0"/>
          </a:p>
        </p:txBody>
      </p:sp>
      <p:sp>
        <p:nvSpPr>
          <p:cNvPr id="8" name="Text 6"/>
          <p:cNvSpPr/>
          <p:nvPr/>
        </p:nvSpPr>
        <p:spPr>
          <a:xfrm>
            <a:off x="1005840" y="1892808"/>
            <a:ext cx="4389120" cy="6858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БПЛА, планер, силовая установка, авионика, полезная нагрузка</a:t>
            </a:r>
            <a:endParaRPr lang="en-US" sz="1350" dirty="0"/>
          </a:p>
        </p:txBody>
      </p:sp>
      <p:sp>
        <p:nvSpPr>
          <p:cNvPr id="9" name="Shape 7"/>
          <p:cNvSpPr/>
          <p:nvPr/>
        </p:nvSpPr>
        <p:spPr>
          <a:xfrm>
            <a:off x="6446520" y="1325880"/>
            <a:ext cx="4800600" cy="1325880"/>
          </a:xfrm>
          <a:prstGeom prst="roundRect">
            <a:avLst>
              <a:gd name="adj" fmla="val 5517"/>
            </a:avLst>
          </a:prstGeom>
          <a:solidFill>
            <a:srgbClr val="FFFFFF"/>
          </a:solidFill>
          <a:ln w="12700">
            <a:solidFill>
              <a:srgbClr val="D6E2F2"/>
            </a:solidFill>
            <a:prstDash val="solid"/>
          </a:ln>
        </p:spPr>
      </p:sp>
      <p:sp>
        <p:nvSpPr>
          <p:cNvPr id="10" name="Shape 8"/>
          <p:cNvSpPr/>
          <p:nvPr/>
        </p:nvSpPr>
        <p:spPr>
          <a:xfrm>
            <a:off x="6446520" y="1325880"/>
            <a:ext cx="73152" cy="1325880"/>
          </a:xfrm>
          <a:prstGeom prst="rect">
            <a:avLst/>
          </a:prstGeom>
          <a:solidFill>
            <a:srgbClr val="38BDF8"/>
          </a:solidFill>
          <a:ln w="12700">
            <a:solidFill>
              <a:srgbClr val="333333">
                <a:alpha val="0"/>
              </a:srgbClr>
            </a:solidFill>
            <a:prstDash val="solid"/>
          </a:ln>
        </p:spPr>
      </p:sp>
      <p:sp>
        <p:nvSpPr>
          <p:cNvPr id="11" name="Text 9"/>
          <p:cNvSpPr/>
          <p:nvPr/>
        </p:nvSpPr>
        <p:spPr>
          <a:xfrm>
            <a:off x="6675120" y="1490472"/>
            <a:ext cx="438912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Наземный сегмент</a:t>
            </a:r>
            <a:endParaRPr lang="en-US" sz="1600" dirty="0"/>
          </a:p>
        </p:txBody>
      </p:sp>
      <p:sp>
        <p:nvSpPr>
          <p:cNvPr id="12" name="Text 10"/>
          <p:cNvSpPr/>
          <p:nvPr/>
        </p:nvSpPr>
        <p:spPr>
          <a:xfrm>
            <a:off x="6675120" y="1892808"/>
            <a:ext cx="4389120" cy="6858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НСУ/GCS, пульт, ноутбук/планшет, ПО миссии, антенны</a:t>
            </a:r>
            <a:endParaRPr lang="en-US" sz="1350" dirty="0"/>
          </a:p>
        </p:txBody>
      </p:sp>
      <p:sp>
        <p:nvSpPr>
          <p:cNvPr id="13" name="Shape 11"/>
          <p:cNvSpPr/>
          <p:nvPr/>
        </p:nvSpPr>
        <p:spPr>
          <a:xfrm>
            <a:off x="777240" y="3794760"/>
            <a:ext cx="4800600" cy="1325880"/>
          </a:xfrm>
          <a:prstGeom prst="roundRect">
            <a:avLst>
              <a:gd name="adj" fmla="val 5517"/>
            </a:avLst>
          </a:prstGeom>
          <a:solidFill>
            <a:srgbClr val="FFFFFF"/>
          </a:solidFill>
          <a:ln w="12700">
            <a:solidFill>
              <a:srgbClr val="D6E2F2"/>
            </a:solidFill>
            <a:prstDash val="solid"/>
          </a:ln>
        </p:spPr>
      </p:sp>
      <p:sp>
        <p:nvSpPr>
          <p:cNvPr id="14" name="Shape 12"/>
          <p:cNvSpPr/>
          <p:nvPr/>
        </p:nvSpPr>
        <p:spPr>
          <a:xfrm>
            <a:off x="777240" y="3794760"/>
            <a:ext cx="73152" cy="1325880"/>
          </a:xfrm>
          <a:prstGeom prst="rect">
            <a:avLst/>
          </a:prstGeom>
          <a:solidFill>
            <a:srgbClr val="F59E0B"/>
          </a:solidFill>
          <a:ln w="12700">
            <a:solidFill>
              <a:srgbClr val="333333">
                <a:alpha val="0"/>
              </a:srgbClr>
            </a:solidFill>
            <a:prstDash val="solid"/>
          </a:ln>
        </p:spPr>
      </p:sp>
      <p:sp>
        <p:nvSpPr>
          <p:cNvPr id="15" name="Text 13"/>
          <p:cNvSpPr/>
          <p:nvPr/>
        </p:nvSpPr>
        <p:spPr>
          <a:xfrm>
            <a:off x="1005840" y="3959352"/>
            <a:ext cx="438912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Каналы связи</a:t>
            </a:r>
            <a:endParaRPr lang="en-US" sz="1600" dirty="0"/>
          </a:p>
        </p:txBody>
      </p:sp>
      <p:sp>
        <p:nvSpPr>
          <p:cNvPr id="16" name="Text 14"/>
          <p:cNvSpPr/>
          <p:nvPr/>
        </p:nvSpPr>
        <p:spPr>
          <a:xfrm>
            <a:off x="1005840" y="4361688"/>
            <a:ext cx="4389120" cy="6858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C2-команды, телеметрия, видеолинк, сотовая/спутниковая связь</a:t>
            </a:r>
            <a:endParaRPr lang="en-US" sz="1350" dirty="0"/>
          </a:p>
        </p:txBody>
      </p:sp>
      <p:sp>
        <p:nvSpPr>
          <p:cNvPr id="17" name="Shape 15"/>
          <p:cNvSpPr/>
          <p:nvPr/>
        </p:nvSpPr>
        <p:spPr>
          <a:xfrm>
            <a:off x="6446520" y="3794760"/>
            <a:ext cx="4800600" cy="1325880"/>
          </a:xfrm>
          <a:prstGeom prst="roundRect">
            <a:avLst>
              <a:gd name="adj" fmla="val 5517"/>
            </a:avLst>
          </a:prstGeom>
          <a:solidFill>
            <a:srgbClr val="FFFFFF"/>
          </a:solidFill>
          <a:ln w="12700">
            <a:solidFill>
              <a:srgbClr val="D6E2F2"/>
            </a:solidFill>
            <a:prstDash val="solid"/>
          </a:ln>
        </p:spPr>
      </p:sp>
      <p:sp>
        <p:nvSpPr>
          <p:cNvPr id="18" name="Shape 16"/>
          <p:cNvSpPr/>
          <p:nvPr/>
        </p:nvSpPr>
        <p:spPr>
          <a:xfrm>
            <a:off x="6446520" y="3794760"/>
            <a:ext cx="73152" cy="1325880"/>
          </a:xfrm>
          <a:prstGeom prst="rect">
            <a:avLst/>
          </a:prstGeom>
          <a:solidFill>
            <a:srgbClr val="2FB344"/>
          </a:solidFill>
          <a:ln w="12700">
            <a:solidFill>
              <a:srgbClr val="333333">
                <a:alpha val="0"/>
              </a:srgbClr>
            </a:solidFill>
            <a:prstDash val="solid"/>
          </a:ln>
        </p:spPr>
      </p:sp>
      <p:sp>
        <p:nvSpPr>
          <p:cNvPr id="19" name="Text 17"/>
          <p:cNvSpPr/>
          <p:nvPr/>
        </p:nvSpPr>
        <p:spPr>
          <a:xfrm>
            <a:off x="6675120" y="3959352"/>
            <a:ext cx="438912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Человеческий сегмент</a:t>
            </a:r>
            <a:endParaRPr lang="en-US" sz="1600" dirty="0"/>
          </a:p>
        </p:txBody>
      </p:sp>
      <p:sp>
        <p:nvSpPr>
          <p:cNvPr id="20" name="Text 18"/>
          <p:cNvSpPr/>
          <p:nvPr/>
        </p:nvSpPr>
        <p:spPr>
          <a:xfrm>
            <a:off x="6675120" y="4361688"/>
            <a:ext cx="4389120" cy="6858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внешний пилот, наблюдатели, оператор ПН, технический персонал</a:t>
            </a:r>
            <a:endParaRPr lang="en-US" sz="1350" dirty="0"/>
          </a:p>
        </p:txBody>
      </p:sp>
      <p:sp>
        <p:nvSpPr>
          <p:cNvPr id="21" name="Shape 19"/>
          <p:cNvSpPr/>
          <p:nvPr/>
        </p:nvSpPr>
        <p:spPr>
          <a:xfrm>
            <a:off x="3154680" y="1993392"/>
            <a:ext cx="3291840" cy="0"/>
          </a:xfrm>
          <a:prstGeom prst="line">
            <a:avLst/>
          </a:prstGeom>
          <a:noFill/>
          <a:ln w="15240">
            <a:solidFill>
              <a:srgbClr val="B9C7D8"/>
            </a:solidFill>
            <a:prstDash val="solid"/>
            <a:tailEnd type="triangle"/>
          </a:ln>
        </p:spPr>
      </p:sp>
      <p:sp>
        <p:nvSpPr>
          <p:cNvPr id="22" name="Shape 20"/>
          <p:cNvSpPr/>
          <p:nvPr/>
        </p:nvSpPr>
        <p:spPr>
          <a:xfrm>
            <a:off x="8823960" y="2651760"/>
            <a:ext cx="0" cy="1051560"/>
          </a:xfrm>
          <a:prstGeom prst="line">
            <a:avLst/>
          </a:prstGeom>
          <a:noFill/>
          <a:ln w="15240">
            <a:solidFill>
              <a:srgbClr val="B9C7D8"/>
            </a:solidFill>
            <a:prstDash val="solid"/>
            <a:tailEnd type="triangle"/>
          </a:ln>
        </p:spPr>
      </p:sp>
      <p:sp>
        <p:nvSpPr>
          <p:cNvPr id="23" name="Shape 21"/>
          <p:cNvSpPr/>
          <p:nvPr/>
        </p:nvSpPr>
        <p:spPr>
          <a:xfrm>
            <a:off x="6446520" y="4453128"/>
            <a:ext cx="0" cy="0"/>
          </a:xfrm>
          <a:prstGeom prst="line">
            <a:avLst/>
          </a:prstGeom>
          <a:noFill/>
          <a:ln w="15240">
            <a:solidFill>
              <a:srgbClr val="B9C7D8"/>
            </a:solidFill>
            <a:prstDash val="solid"/>
            <a:tailEnd type="triangle"/>
          </a:ln>
        </p:spPr>
      </p:sp>
      <p:sp>
        <p:nvSpPr>
          <p:cNvPr id="24" name="Shape 22"/>
          <p:cNvSpPr/>
          <p:nvPr/>
        </p:nvSpPr>
        <p:spPr>
          <a:xfrm>
            <a:off x="3154680" y="3794760"/>
            <a:ext cx="0" cy="0"/>
          </a:xfrm>
          <a:prstGeom prst="line">
            <a:avLst/>
          </a:prstGeom>
          <a:noFill/>
          <a:ln w="15240">
            <a:solidFill>
              <a:srgbClr val="B9C7D8"/>
            </a:solidFill>
            <a:prstDash val="solid"/>
            <a:tailEnd type="triangle"/>
          </a:ln>
        </p:spPr>
      </p:sp>
      <p:sp>
        <p:nvSpPr>
          <p:cNvPr id="25" name="Shape 23"/>
          <p:cNvSpPr/>
          <p:nvPr/>
        </p:nvSpPr>
        <p:spPr>
          <a:xfrm>
            <a:off x="502920" y="6446520"/>
            <a:ext cx="11201400" cy="0"/>
          </a:xfrm>
          <a:prstGeom prst="line">
            <a:avLst/>
          </a:prstGeom>
          <a:noFill/>
          <a:ln w="7620">
            <a:solidFill>
              <a:srgbClr val="B9C7D8">
                <a:alpha val="65000"/>
              </a:srgbClr>
            </a:solidFill>
            <a:prstDash val="solid"/>
          </a:ln>
        </p:spPr>
      </p:sp>
      <p:sp>
        <p:nvSpPr>
          <p:cNvPr id="26" name="Text 24"/>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7" name="Text 25"/>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Воздушный сегмент: планёр и материалы</a:t>
            </a:r>
            <a:endParaRPr lang="en-US" sz="3100" dirty="0"/>
          </a:p>
        </p:txBody>
      </p:sp>
      <p:sp>
        <p:nvSpPr>
          <p:cNvPr id="5" name="Text 3"/>
          <p:cNvSpPr/>
          <p:nvPr/>
        </p:nvSpPr>
        <p:spPr>
          <a:xfrm>
            <a:off x="713232" y="1234440"/>
            <a:ext cx="5806440" cy="3840480"/>
          </a:xfrm>
          <a:prstGeom prst="rect">
            <a:avLst/>
          </a:prstGeom>
          <a:noFill/>
          <a:ln/>
        </p:spPr>
        <p:txBody>
          <a:bodyPr wrap="square" lIns="1016" tIns="1016" rIns="1016" bIns="1016" rtlCol="0" anchor="t">
            <a:normAutofit/>
          </a:bodyPr>
          <a:lstStyle/>
          <a:p>
            <a:pPr marL="0" indent="0">
              <a:buNone/>
            </a:pPr>
            <a:r>
              <a:rPr lang="en-US" sz="2050" dirty="0">
                <a:solidFill>
                  <a:srgbClr val="13213A"/>
                </a:solidFill>
                <a:latin typeface="Arial" pitchFamily="34" charset="0"/>
                <a:ea typeface="Arial" pitchFamily="34" charset="-122"/>
                <a:cs typeface="Arial" pitchFamily="34" charset="-120"/>
              </a:rPr>
              <a:t>• рама, фюзеляж, крыло, лонжероны, шасси и элементы запуска/посадки;</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материалы: пластики, алюминиевые сплавы, композиты, углеволокно;</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сэндвич-структуры: внешние несущие слои + лёгкий заполнитель;</a:t>
            </a:r>
            <a:endParaRPr lang="en-US" sz="2050" dirty="0"/>
          </a:p>
          <a:p>
            <a:pPr marL="0" indent="0">
              <a:buNone/>
            </a:pPr>
            <a:r>
              <a:rPr lang="en-US" sz="2050" dirty="0">
                <a:solidFill>
                  <a:srgbClr val="13213A"/>
                </a:solidFill>
                <a:latin typeface="Arial" pitchFamily="34" charset="0"/>
                <a:ea typeface="Arial" pitchFamily="34" charset="-122"/>
                <a:cs typeface="Arial" pitchFamily="34" charset="-120"/>
              </a:rPr>
              <a:t>• цель конструкции: жёсткость, малый вес, ремонтопригодность и устойчивость к вибрациям.</a:t>
            </a:r>
            <a:endParaRPr lang="en-US" sz="2050" dirty="0"/>
          </a:p>
        </p:txBody>
      </p:sp>
      <p:sp>
        <p:nvSpPr>
          <p:cNvPr id="6" name="Shape 4"/>
          <p:cNvSpPr/>
          <p:nvPr/>
        </p:nvSpPr>
        <p:spPr>
          <a:xfrm>
            <a:off x="6967728" y="1417320"/>
            <a:ext cx="3977640" cy="3520440"/>
          </a:xfrm>
          <a:prstGeom prst="roundRect">
            <a:avLst>
              <a:gd name="adj" fmla="val 2078"/>
            </a:avLst>
          </a:prstGeom>
          <a:solidFill>
            <a:srgbClr val="FFFFFF"/>
          </a:solidFill>
          <a:ln w="12700">
            <a:solidFill>
              <a:srgbClr val="D6E2F2"/>
            </a:solidFill>
            <a:prstDash val="solid"/>
          </a:ln>
        </p:spPr>
      </p:sp>
      <p:sp>
        <p:nvSpPr>
          <p:cNvPr id="7" name="Text 5"/>
          <p:cNvSpPr/>
          <p:nvPr/>
        </p:nvSpPr>
        <p:spPr>
          <a:xfrm>
            <a:off x="7269480" y="1737360"/>
            <a:ext cx="3383280" cy="228600"/>
          </a:xfrm>
          <a:prstGeom prst="rect">
            <a:avLst/>
          </a:prstGeom>
          <a:noFill/>
          <a:ln/>
        </p:spPr>
        <p:txBody>
          <a:bodyPr wrap="square" lIns="0" tIns="0" rIns="0" bIns="0" rtlCol="0" anchor="ctr"/>
          <a:lstStyle/>
          <a:p>
            <a:pPr marL="0" indent="0" algn="ctr">
              <a:buNone/>
            </a:pPr>
            <a:r>
              <a:rPr lang="en-US" sz="1600" b="1" dirty="0">
                <a:solidFill>
                  <a:srgbClr val="2E86DE"/>
                </a:solidFill>
              </a:rPr>
              <a:t>Пример сэндвич-панели</a:t>
            </a:r>
            <a:endParaRPr lang="en-US" sz="1600" dirty="0"/>
          </a:p>
        </p:txBody>
      </p:sp>
      <p:sp>
        <p:nvSpPr>
          <p:cNvPr id="8" name="Shape 6"/>
          <p:cNvSpPr/>
          <p:nvPr/>
        </p:nvSpPr>
        <p:spPr>
          <a:xfrm>
            <a:off x="7498080" y="2331720"/>
            <a:ext cx="2926080" cy="384048"/>
          </a:xfrm>
          <a:prstGeom prst="rect">
            <a:avLst/>
          </a:prstGeom>
          <a:solidFill>
            <a:srgbClr val="2E86DE">
              <a:alpha val="92000"/>
            </a:srgbClr>
          </a:solidFill>
          <a:ln w="12700">
            <a:solidFill>
              <a:srgbClr val="2E86DE"/>
            </a:solidFill>
            <a:prstDash val="solid"/>
          </a:ln>
        </p:spPr>
      </p:sp>
      <p:sp>
        <p:nvSpPr>
          <p:cNvPr id="9" name="Text 7"/>
          <p:cNvSpPr/>
          <p:nvPr/>
        </p:nvSpPr>
        <p:spPr>
          <a:xfrm>
            <a:off x="7498080" y="2441448"/>
            <a:ext cx="292608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rPr>
              <a:t>Углепластик</a:t>
            </a:r>
            <a:endParaRPr lang="en-US" sz="1050" dirty="0"/>
          </a:p>
        </p:txBody>
      </p:sp>
      <p:sp>
        <p:nvSpPr>
          <p:cNvPr id="10" name="Shape 8"/>
          <p:cNvSpPr/>
          <p:nvPr/>
        </p:nvSpPr>
        <p:spPr>
          <a:xfrm>
            <a:off x="7498080" y="3017520"/>
            <a:ext cx="2926080" cy="384048"/>
          </a:xfrm>
          <a:prstGeom prst="rect">
            <a:avLst/>
          </a:prstGeom>
          <a:solidFill>
            <a:srgbClr val="EFF6FF"/>
          </a:solidFill>
          <a:ln w="12700">
            <a:solidFill>
              <a:srgbClr val="B9C7D8"/>
            </a:solidFill>
            <a:prstDash val="solid"/>
          </a:ln>
        </p:spPr>
      </p:sp>
      <p:sp>
        <p:nvSpPr>
          <p:cNvPr id="11" name="Text 9"/>
          <p:cNvSpPr/>
          <p:nvPr/>
        </p:nvSpPr>
        <p:spPr>
          <a:xfrm>
            <a:off x="7498080" y="3127248"/>
            <a:ext cx="292608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13213A"/>
                </a:solidFill>
              </a:rPr>
              <a:t>Сотовый/пенный заполнитель</a:t>
            </a:r>
            <a:endParaRPr lang="en-US" sz="1050" dirty="0"/>
          </a:p>
        </p:txBody>
      </p:sp>
      <p:sp>
        <p:nvSpPr>
          <p:cNvPr id="12" name="Shape 10"/>
          <p:cNvSpPr/>
          <p:nvPr/>
        </p:nvSpPr>
        <p:spPr>
          <a:xfrm>
            <a:off x="7498080" y="3703320"/>
            <a:ext cx="2926080" cy="384048"/>
          </a:xfrm>
          <a:prstGeom prst="rect">
            <a:avLst/>
          </a:prstGeom>
          <a:solidFill>
            <a:srgbClr val="2E86DE">
              <a:alpha val="92000"/>
            </a:srgbClr>
          </a:solidFill>
          <a:ln w="12700">
            <a:solidFill>
              <a:srgbClr val="2E86DE"/>
            </a:solidFill>
            <a:prstDash val="solid"/>
          </a:ln>
        </p:spPr>
      </p:sp>
      <p:sp>
        <p:nvSpPr>
          <p:cNvPr id="13" name="Text 11"/>
          <p:cNvSpPr/>
          <p:nvPr/>
        </p:nvSpPr>
        <p:spPr>
          <a:xfrm>
            <a:off x="7498080" y="3813048"/>
            <a:ext cx="292608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rPr>
              <a:t>Углепластик</a:t>
            </a:r>
            <a:endParaRPr lang="en-US" sz="1050" dirty="0"/>
          </a:p>
        </p:txBody>
      </p:sp>
      <p:sp>
        <p:nvSpPr>
          <p:cNvPr id="14" name="Shape 12"/>
          <p:cNvSpPr/>
          <p:nvPr/>
        </p:nvSpPr>
        <p:spPr>
          <a:xfrm>
            <a:off x="7269480" y="4251960"/>
            <a:ext cx="3383280" cy="411480"/>
          </a:xfrm>
          <a:prstGeom prst="roundRect">
            <a:avLst>
              <a:gd name="adj" fmla="val 11111"/>
            </a:avLst>
          </a:prstGeom>
          <a:solidFill>
            <a:srgbClr val="1F3A5F">
              <a:alpha val="92000"/>
            </a:srgbClr>
          </a:solidFill>
          <a:ln w="12700">
            <a:solidFill>
              <a:srgbClr val="333333">
                <a:alpha val="0"/>
              </a:srgbClr>
            </a:solidFill>
            <a:prstDash val="solid"/>
          </a:ln>
        </p:spPr>
      </p:sp>
      <p:sp>
        <p:nvSpPr>
          <p:cNvPr id="15" name="Text 13"/>
          <p:cNvSpPr/>
          <p:nvPr/>
        </p:nvSpPr>
        <p:spPr>
          <a:xfrm>
            <a:off x="7434072" y="4361688"/>
            <a:ext cx="3054096" cy="228600"/>
          </a:xfrm>
          <a:prstGeom prst="rect">
            <a:avLst/>
          </a:prstGeom>
          <a:noFill/>
          <a:ln/>
        </p:spPr>
        <p:txBody>
          <a:bodyPr wrap="square" lIns="0" tIns="0" rIns="0" bIns="0" rtlCol="0" anchor="ctr">
            <a:normAutofit fontScale="62500" lnSpcReduction="20000"/>
          </a:bodyPr>
          <a:lstStyle/>
          <a:p>
            <a:pPr marL="0" indent="0" algn="ctr">
              <a:buNone/>
            </a:pPr>
            <a:r>
              <a:rPr lang="en-US" sz="1500" b="1" dirty="0">
                <a:solidFill>
                  <a:srgbClr val="FFFFFF"/>
                </a:solidFill>
              </a:rPr>
              <a:t>Меньше масса → больше полезная нагрузка или время полёта</a:t>
            </a:r>
            <a:endParaRPr lang="en-US" sz="1500" dirty="0"/>
          </a:p>
        </p:txBody>
      </p:sp>
      <p:sp>
        <p:nvSpPr>
          <p:cNvPr id="16" name="Shape 14"/>
          <p:cNvSpPr/>
          <p:nvPr/>
        </p:nvSpPr>
        <p:spPr>
          <a:xfrm>
            <a:off x="502920" y="6446520"/>
            <a:ext cx="11201400" cy="0"/>
          </a:xfrm>
          <a:prstGeom prst="line">
            <a:avLst/>
          </a:prstGeom>
          <a:noFill/>
          <a:ln w="7620">
            <a:solidFill>
              <a:srgbClr val="B9C7D8">
                <a:alpha val="65000"/>
              </a:srgbClr>
            </a:solidFill>
            <a:prstDash val="solid"/>
          </a:ln>
        </p:spPr>
      </p:sp>
      <p:sp>
        <p:nvSpPr>
          <p:cNvPr id="17" name="Text 15"/>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18" name="Text 16"/>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Силовая установка и энергетика</a:t>
            </a:r>
            <a:endParaRPr lang="en-US" sz="3100" dirty="0"/>
          </a:p>
        </p:txBody>
      </p:sp>
      <p:sp>
        <p:nvSpPr>
          <p:cNvPr id="5" name="Shape 3"/>
          <p:cNvSpPr/>
          <p:nvPr/>
        </p:nvSpPr>
        <p:spPr>
          <a:xfrm>
            <a:off x="777240" y="1325880"/>
            <a:ext cx="4937760" cy="1417320"/>
          </a:xfrm>
          <a:prstGeom prst="roundRect">
            <a:avLst>
              <a:gd name="adj" fmla="val 5161"/>
            </a:avLst>
          </a:prstGeom>
          <a:solidFill>
            <a:srgbClr val="FFFFFF"/>
          </a:solidFill>
          <a:ln w="12700">
            <a:solidFill>
              <a:srgbClr val="D6E2F2"/>
            </a:solidFill>
            <a:prstDash val="solid"/>
          </a:ln>
        </p:spPr>
      </p:sp>
      <p:sp>
        <p:nvSpPr>
          <p:cNvPr id="6" name="Shape 4"/>
          <p:cNvSpPr/>
          <p:nvPr/>
        </p:nvSpPr>
        <p:spPr>
          <a:xfrm>
            <a:off x="777240" y="1325880"/>
            <a:ext cx="73152" cy="1417320"/>
          </a:xfrm>
          <a:prstGeom prst="rect">
            <a:avLst/>
          </a:prstGeom>
          <a:solidFill>
            <a:srgbClr val="2E86DE"/>
          </a:solidFill>
          <a:ln w="12700">
            <a:solidFill>
              <a:srgbClr val="333333">
                <a:alpha val="0"/>
              </a:srgbClr>
            </a:solidFill>
            <a:prstDash val="solid"/>
          </a:ln>
        </p:spPr>
      </p:sp>
      <p:sp>
        <p:nvSpPr>
          <p:cNvPr id="7" name="Text 5"/>
          <p:cNvSpPr/>
          <p:nvPr/>
        </p:nvSpPr>
        <p:spPr>
          <a:xfrm>
            <a:off x="1005840" y="1490472"/>
            <a:ext cx="452628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Электрическая</a:t>
            </a:r>
            <a:endParaRPr lang="en-US" sz="1600" dirty="0"/>
          </a:p>
        </p:txBody>
      </p:sp>
      <p:sp>
        <p:nvSpPr>
          <p:cNvPr id="8" name="Text 6"/>
          <p:cNvSpPr/>
          <p:nvPr/>
        </p:nvSpPr>
        <p:spPr>
          <a:xfrm>
            <a:off x="1005840" y="1892808"/>
            <a:ext cx="452628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электромоторы + LiPo/Li-Ion; тише, проще, но ограничена энергоёмкостью батареи</a:t>
            </a:r>
            <a:endParaRPr lang="en-US" sz="1350" dirty="0"/>
          </a:p>
        </p:txBody>
      </p:sp>
      <p:sp>
        <p:nvSpPr>
          <p:cNvPr id="9" name="Shape 7"/>
          <p:cNvSpPr/>
          <p:nvPr/>
        </p:nvSpPr>
        <p:spPr>
          <a:xfrm>
            <a:off x="6263640" y="1325880"/>
            <a:ext cx="4937760" cy="1417320"/>
          </a:xfrm>
          <a:prstGeom prst="roundRect">
            <a:avLst>
              <a:gd name="adj" fmla="val 5161"/>
            </a:avLst>
          </a:prstGeom>
          <a:solidFill>
            <a:srgbClr val="FFFFFF"/>
          </a:solidFill>
          <a:ln w="12700">
            <a:solidFill>
              <a:srgbClr val="D6E2F2"/>
            </a:solidFill>
            <a:prstDash val="solid"/>
          </a:ln>
        </p:spPr>
      </p:sp>
      <p:sp>
        <p:nvSpPr>
          <p:cNvPr id="10" name="Shape 8"/>
          <p:cNvSpPr/>
          <p:nvPr/>
        </p:nvSpPr>
        <p:spPr>
          <a:xfrm>
            <a:off x="6263640" y="1325880"/>
            <a:ext cx="73152" cy="1417320"/>
          </a:xfrm>
          <a:prstGeom prst="rect">
            <a:avLst/>
          </a:prstGeom>
          <a:solidFill>
            <a:srgbClr val="F59E0B"/>
          </a:solidFill>
          <a:ln w="12700">
            <a:solidFill>
              <a:srgbClr val="333333">
                <a:alpha val="0"/>
              </a:srgbClr>
            </a:solidFill>
            <a:prstDash val="solid"/>
          </a:ln>
        </p:spPr>
      </p:sp>
      <p:sp>
        <p:nvSpPr>
          <p:cNvPr id="11" name="Text 9"/>
          <p:cNvSpPr/>
          <p:nvPr/>
        </p:nvSpPr>
        <p:spPr>
          <a:xfrm>
            <a:off x="6492240" y="1490472"/>
            <a:ext cx="452628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ДВС</a:t>
            </a:r>
            <a:endParaRPr lang="en-US" sz="1600" dirty="0"/>
          </a:p>
        </p:txBody>
      </p:sp>
      <p:sp>
        <p:nvSpPr>
          <p:cNvPr id="12" name="Text 10"/>
          <p:cNvSpPr/>
          <p:nvPr/>
        </p:nvSpPr>
        <p:spPr>
          <a:xfrm>
            <a:off x="6492240" y="1892808"/>
            <a:ext cx="452628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дольше полёт и выше энергоёмкость топлива; шум, вибрации, обслуживание</a:t>
            </a:r>
            <a:endParaRPr lang="en-US" sz="1350" dirty="0"/>
          </a:p>
        </p:txBody>
      </p:sp>
      <p:sp>
        <p:nvSpPr>
          <p:cNvPr id="13" name="Shape 11"/>
          <p:cNvSpPr/>
          <p:nvPr/>
        </p:nvSpPr>
        <p:spPr>
          <a:xfrm>
            <a:off x="777240" y="3337560"/>
            <a:ext cx="4937760" cy="1417320"/>
          </a:xfrm>
          <a:prstGeom prst="roundRect">
            <a:avLst>
              <a:gd name="adj" fmla="val 5161"/>
            </a:avLst>
          </a:prstGeom>
          <a:solidFill>
            <a:srgbClr val="FFFFFF"/>
          </a:solidFill>
          <a:ln w="12700">
            <a:solidFill>
              <a:srgbClr val="D6E2F2"/>
            </a:solidFill>
            <a:prstDash val="solid"/>
          </a:ln>
        </p:spPr>
      </p:sp>
      <p:sp>
        <p:nvSpPr>
          <p:cNvPr id="14" name="Shape 12"/>
          <p:cNvSpPr/>
          <p:nvPr/>
        </p:nvSpPr>
        <p:spPr>
          <a:xfrm>
            <a:off x="777240" y="3337560"/>
            <a:ext cx="73152" cy="1417320"/>
          </a:xfrm>
          <a:prstGeom prst="rect">
            <a:avLst/>
          </a:prstGeom>
          <a:solidFill>
            <a:srgbClr val="2FB344"/>
          </a:solidFill>
          <a:ln w="12700">
            <a:solidFill>
              <a:srgbClr val="333333">
                <a:alpha val="0"/>
              </a:srgbClr>
            </a:solidFill>
            <a:prstDash val="solid"/>
          </a:ln>
        </p:spPr>
      </p:sp>
      <p:sp>
        <p:nvSpPr>
          <p:cNvPr id="15" name="Text 13"/>
          <p:cNvSpPr/>
          <p:nvPr/>
        </p:nvSpPr>
        <p:spPr>
          <a:xfrm>
            <a:off x="1005840" y="3502152"/>
            <a:ext cx="452628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Топливные элементы</a:t>
            </a:r>
            <a:endParaRPr lang="en-US" sz="1600" dirty="0"/>
          </a:p>
        </p:txBody>
      </p:sp>
      <p:sp>
        <p:nvSpPr>
          <p:cNvPr id="16" name="Text 14"/>
          <p:cNvSpPr/>
          <p:nvPr/>
        </p:nvSpPr>
        <p:spPr>
          <a:xfrm>
            <a:off x="1005840" y="3904488"/>
            <a:ext cx="452628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водород PEMFC: высокая удельная энергия, но сложная инфраструктура</a:t>
            </a:r>
            <a:endParaRPr lang="en-US" sz="1350" dirty="0"/>
          </a:p>
        </p:txBody>
      </p:sp>
      <p:sp>
        <p:nvSpPr>
          <p:cNvPr id="17" name="Shape 15"/>
          <p:cNvSpPr/>
          <p:nvPr/>
        </p:nvSpPr>
        <p:spPr>
          <a:xfrm>
            <a:off x="6263640" y="3337560"/>
            <a:ext cx="4937760" cy="1417320"/>
          </a:xfrm>
          <a:prstGeom prst="roundRect">
            <a:avLst>
              <a:gd name="adj" fmla="val 5161"/>
            </a:avLst>
          </a:prstGeom>
          <a:solidFill>
            <a:srgbClr val="FFFFFF"/>
          </a:solidFill>
          <a:ln w="12700">
            <a:solidFill>
              <a:srgbClr val="D6E2F2"/>
            </a:solidFill>
            <a:prstDash val="solid"/>
          </a:ln>
        </p:spPr>
      </p:sp>
      <p:sp>
        <p:nvSpPr>
          <p:cNvPr id="18" name="Shape 16"/>
          <p:cNvSpPr/>
          <p:nvPr/>
        </p:nvSpPr>
        <p:spPr>
          <a:xfrm>
            <a:off x="6263640" y="3337560"/>
            <a:ext cx="73152" cy="1417320"/>
          </a:xfrm>
          <a:prstGeom prst="rect">
            <a:avLst/>
          </a:prstGeom>
          <a:solidFill>
            <a:srgbClr val="38BDF8"/>
          </a:solidFill>
          <a:ln w="12700">
            <a:solidFill>
              <a:srgbClr val="333333">
                <a:alpha val="0"/>
              </a:srgbClr>
            </a:solidFill>
            <a:prstDash val="solid"/>
          </a:ln>
        </p:spPr>
      </p:sp>
      <p:sp>
        <p:nvSpPr>
          <p:cNvPr id="19" name="Text 17"/>
          <p:cNvSpPr/>
          <p:nvPr/>
        </p:nvSpPr>
        <p:spPr>
          <a:xfrm>
            <a:off x="6492240" y="3502152"/>
            <a:ext cx="452628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Гибридная</a:t>
            </a:r>
            <a:endParaRPr lang="en-US" sz="1600" dirty="0"/>
          </a:p>
        </p:txBody>
      </p:sp>
      <p:sp>
        <p:nvSpPr>
          <p:cNvPr id="20" name="Text 18"/>
          <p:cNvSpPr/>
          <p:nvPr/>
        </p:nvSpPr>
        <p:spPr>
          <a:xfrm>
            <a:off x="6492240" y="3904488"/>
            <a:ext cx="452628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топливный элемент/ДВС + батарея для пиковых нагрузок</a:t>
            </a:r>
            <a:endParaRPr lang="en-US" sz="1350" dirty="0"/>
          </a:p>
        </p:txBody>
      </p:sp>
      <p:sp>
        <p:nvSpPr>
          <p:cNvPr id="21" name="Shape 19"/>
          <p:cNvSpPr/>
          <p:nvPr/>
        </p:nvSpPr>
        <p:spPr>
          <a:xfrm>
            <a:off x="1097280" y="5532120"/>
            <a:ext cx="9921240" cy="502920"/>
          </a:xfrm>
          <a:prstGeom prst="roundRect">
            <a:avLst>
              <a:gd name="adj" fmla="val 9091"/>
            </a:avLst>
          </a:prstGeom>
          <a:solidFill>
            <a:srgbClr val="1F3A5F">
              <a:alpha val="92000"/>
            </a:srgbClr>
          </a:solidFill>
          <a:ln w="12700">
            <a:solidFill>
              <a:srgbClr val="333333">
                <a:alpha val="0"/>
              </a:srgbClr>
            </a:solidFill>
            <a:prstDash val="solid"/>
          </a:ln>
        </p:spPr>
      </p:sp>
      <p:sp>
        <p:nvSpPr>
          <p:cNvPr id="22" name="Text 20"/>
          <p:cNvSpPr/>
          <p:nvPr/>
        </p:nvSpPr>
        <p:spPr>
          <a:xfrm>
            <a:off x="1261872" y="5641848"/>
            <a:ext cx="9592056" cy="320040"/>
          </a:xfrm>
          <a:prstGeom prst="rect">
            <a:avLst/>
          </a:prstGeom>
          <a:noFill/>
          <a:ln/>
        </p:spPr>
        <p:txBody>
          <a:bodyPr wrap="square" lIns="0" tIns="0" rIns="0" bIns="0" rtlCol="0" anchor="ctr">
            <a:normAutofit fontScale="92500"/>
          </a:bodyPr>
          <a:lstStyle/>
          <a:p>
            <a:pPr marL="0" indent="0" algn="ctr">
              <a:buNone/>
            </a:pPr>
            <a:r>
              <a:rPr lang="en-US" sz="1500" b="1" dirty="0">
                <a:solidFill>
                  <a:srgbClr val="FFFFFF"/>
                </a:solidFill>
              </a:rPr>
              <a:t>Выбор энергетики определяется миссией: зависание, дальность, груз, шум, обслуживание и безопасность</a:t>
            </a:r>
            <a:endParaRPr lang="en-US" sz="1500" dirty="0"/>
          </a:p>
        </p:txBody>
      </p:sp>
      <p:sp>
        <p:nvSpPr>
          <p:cNvPr id="23" name="Shape 21"/>
          <p:cNvSpPr/>
          <p:nvPr/>
        </p:nvSpPr>
        <p:spPr>
          <a:xfrm>
            <a:off x="502920" y="6446520"/>
            <a:ext cx="11201400" cy="0"/>
          </a:xfrm>
          <a:prstGeom prst="line">
            <a:avLst/>
          </a:prstGeom>
          <a:noFill/>
          <a:ln w="7620">
            <a:solidFill>
              <a:srgbClr val="B9C7D8">
                <a:alpha val="65000"/>
              </a:srgbClr>
            </a:solidFill>
            <a:prstDash val="solid"/>
          </a:ln>
        </p:spPr>
      </p:sp>
      <p:sp>
        <p:nvSpPr>
          <p:cNvPr id="24" name="Text 22"/>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5" name="Text 23"/>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Авионика и полётный контроллер</a:t>
            </a:r>
            <a:endParaRPr lang="en-US" sz="3100" dirty="0"/>
          </a:p>
        </p:txBody>
      </p:sp>
      <p:sp>
        <p:nvSpPr>
          <p:cNvPr id="5" name="Shape 3"/>
          <p:cNvSpPr/>
          <p:nvPr/>
        </p:nvSpPr>
        <p:spPr>
          <a:xfrm>
            <a:off x="4709160" y="2542032"/>
            <a:ext cx="2788920" cy="1143000"/>
          </a:xfrm>
          <a:prstGeom prst="roundRect">
            <a:avLst>
              <a:gd name="adj" fmla="val 6400"/>
            </a:avLst>
          </a:prstGeom>
          <a:solidFill>
            <a:srgbClr val="1F3A5F"/>
          </a:solidFill>
          <a:ln w="12700">
            <a:solidFill>
              <a:srgbClr val="333333">
                <a:alpha val="0"/>
              </a:srgbClr>
            </a:solidFill>
            <a:prstDash val="solid"/>
          </a:ln>
        </p:spPr>
      </p:sp>
      <p:sp>
        <p:nvSpPr>
          <p:cNvPr id="6" name="Text 4"/>
          <p:cNvSpPr/>
          <p:nvPr/>
        </p:nvSpPr>
        <p:spPr>
          <a:xfrm>
            <a:off x="4709160" y="2816352"/>
            <a:ext cx="2788920" cy="457200"/>
          </a:xfrm>
          <a:prstGeom prst="rect">
            <a:avLst/>
          </a:prstGeom>
          <a:noFill/>
          <a:ln/>
        </p:spPr>
        <p:txBody>
          <a:bodyPr wrap="square" lIns="0" tIns="0" rIns="0" bIns="0" rtlCol="0" anchor="ctr">
            <a:normAutofit fontScale="85000" lnSpcReduction="20000"/>
          </a:bodyPr>
          <a:lstStyle/>
          <a:p>
            <a:pPr marL="0" indent="0" algn="ctr">
              <a:buNone/>
            </a:pPr>
            <a:r>
              <a:rPr lang="en-US" sz="2000" b="1" dirty="0">
                <a:solidFill>
                  <a:srgbClr val="FFFFFF"/>
                </a:solidFill>
              </a:rPr>
              <a:t>Полётный</a:t>
            </a:r>
            <a:endParaRPr lang="en-US" sz="2000" dirty="0"/>
          </a:p>
          <a:p>
            <a:pPr marL="0" indent="0" algn="ctr">
              <a:buNone/>
            </a:pPr>
            <a:r>
              <a:rPr lang="en-US" sz="2000" b="1" dirty="0">
                <a:solidFill>
                  <a:srgbClr val="FFFFFF"/>
                </a:solidFill>
              </a:rPr>
              <a:t>контроллер</a:t>
            </a:r>
            <a:endParaRPr lang="en-US" sz="2000" dirty="0"/>
          </a:p>
        </p:txBody>
      </p:sp>
      <p:sp>
        <p:nvSpPr>
          <p:cNvPr id="7" name="Shape 5"/>
          <p:cNvSpPr/>
          <p:nvPr/>
        </p:nvSpPr>
        <p:spPr>
          <a:xfrm>
            <a:off x="685800" y="1298448"/>
            <a:ext cx="3291840" cy="621792"/>
          </a:xfrm>
          <a:prstGeom prst="roundRect">
            <a:avLst>
              <a:gd name="adj" fmla="val 11765"/>
            </a:avLst>
          </a:prstGeom>
          <a:solidFill>
            <a:srgbClr val="FFFFFF"/>
          </a:solidFill>
          <a:ln w="12700">
            <a:solidFill>
              <a:srgbClr val="D6E2F2"/>
            </a:solidFill>
            <a:prstDash val="solid"/>
          </a:ln>
        </p:spPr>
      </p:sp>
      <p:sp>
        <p:nvSpPr>
          <p:cNvPr id="8" name="Shape 6"/>
          <p:cNvSpPr/>
          <p:nvPr/>
        </p:nvSpPr>
        <p:spPr>
          <a:xfrm>
            <a:off x="685800" y="1298448"/>
            <a:ext cx="73152" cy="621792"/>
          </a:xfrm>
          <a:prstGeom prst="rect">
            <a:avLst/>
          </a:prstGeom>
          <a:solidFill>
            <a:srgbClr val="2E86DE"/>
          </a:solidFill>
          <a:ln w="12700">
            <a:solidFill>
              <a:srgbClr val="333333">
                <a:alpha val="0"/>
              </a:srgbClr>
            </a:solidFill>
            <a:prstDash val="solid"/>
          </a:ln>
        </p:spPr>
      </p:sp>
      <p:sp>
        <p:nvSpPr>
          <p:cNvPr id="9" name="Text 7"/>
          <p:cNvSpPr/>
          <p:nvPr/>
        </p:nvSpPr>
        <p:spPr>
          <a:xfrm>
            <a:off x="914400" y="1463040"/>
            <a:ext cx="288036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IMU</a:t>
            </a:r>
            <a:endParaRPr lang="en-US" sz="1600" dirty="0"/>
          </a:p>
        </p:txBody>
      </p:sp>
      <p:sp>
        <p:nvSpPr>
          <p:cNvPr id="10" name="Text 8"/>
          <p:cNvSpPr/>
          <p:nvPr/>
        </p:nvSpPr>
        <p:spPr>
          <a:xfrm>
            <a:off x="914400" y="1865376"/>
            <a:ext cx="2880360" cy="0"/>
          </a:xfrm>
          <a:prstGeom prst="rect">
            <a:avLst/>
          </a:prstGeom>
          <a:noFill/>
          <a:ln/>
        </p:spPr>
        <p:txBody>
          <a:bodyPr wrap="square" lIns="254" tIns="254" rIns="254" bIns="254" rtlCol="0" anchor="t">
            <a:normAutofit fontScale="25000" lnSpcReduction="20000"/>
          </a:bodyPr>
          <a:lstStyle/>
          <a:p>
            <a:pPr marL="0" indent="0">
              <a:buNone/>
            </a:pPr>
            <a:r>
              <a:rPr lang="en-US" sz="1350" dirty="0">
                <a:solidFill>
                  <a:srgbClr val="13213A"/>
                </a:solidFill>
              </a:rPr>
              <a:t>акселерометры + гироскопы</a:t>
            </a:r>
            <a:endParaRPr lang="en-US" sz="1350" dirty="0"/>
          </a:p>
        </p:txBody>
      </p:sp>
      <p:sp>
        <p:nvSpPr>
          <p:cNvPr id="11" name="Shape 9"/>
          <p:cNvSpPr/>
          <p:nvPr/>
        </p:nvSpPr>
        <p:spPr>
          <a:xfrm>
            <a:off x="3977640" y="1609344"/>
            <a:ext cx="704088" cy="1517904"/>
          </a:xfrm>
          <a:prstGeom prst="line">
            <a:avLst/>
          </a:prstGeom>
          <a:noFill/>
          <a:ln w="11430">
            <a:solidFill>
              <a:srgbClr val="B9C7D8"/>
            </a:solidFill>
            <a:prstDash val="solid"/>
            <a:tailEnd type="triangle"/>
          </a:ln>
        </p:spPr>
      </p:sp>
      <p:sp>
        <p:nvSpPr>
          <p:cNvPr id="12" name="Shape 10"/>
          <p:cNvSpPr/>
          <p:nvPr/>
        </p:nvSpPr>
        <p:spPr>
          <a:xfrm>
            <a:off x="685800" y="2121408"/>
            <a:ext cx="3291840" cy="621792"/>
          </a:xfrm>
          <a:prstGeom prst="roundRect">
            <a:avLst>
              <a:gd name="adj" fmla="val 11765"/>
            </a:avLst>
          </a:prstGeom>
          <a:solidFill>
            <a:srgbClr val="FFFFFF"/>
          </a:solidFill>
          <a:ln w="12700">
            <a:solidFill>
              <a:srgbClr val="D6E2F2"/>
            </a:solidFill>
            <a:prstDash val="solid"/>
          </a:ln>
        </p:spPr>
      </p:sp>
      <p:sp>
        <p:nvSpPr>
          <p:cNvPr id="13" name="Shape 11"/>
          <p:cNvSpPr/>
          <p:nvPr/>
        </p:nvSpPr>
        <p:spPr>
          <a:xfrm>
            <a:off x="685800" y="2121408"/>
            <a:ext cx="73152" cy="621792"/>
          </a:xfrm>
          <a:prstGeom prst="rect">
            <a:avLst/>
          </a:prstGeom>
          <a:solidFill>
            <a:srgbClr val="2E86DE"/>
          </a:solidFill>
          <a:ln w="12700">
            <a:solidFill>
              <a:srgbClr val="333333">
                <a:alpha val="0"/>
              </a:srgbClr>
            </a:solidFill>
            <a:prstDash val="solid"/>
          </a:ln>
        </p:spPr>
      </p:sp>
      <p:sp>
        <p:nvSpPr>
          <p:cNvPr id="14" name="Text 12"/>
          <p:cNvSpPr/>
          <p:nvPr/>
        </p:nvSpPr>
        <p:spPr>
          <a:xfrm>
            <a:off x="914400" y="2286000"/>
            <a:ext cx="288036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Магнитометр</a:t>
            </a:r>
            <a:endParaRPr lang="en-US" sz="1600" dirty="0"/>
          </a:p>
        </p:txBody>
      </p:sp>
      <p:sp>
        <p:nvSpPr>
          <p:cNvPr id="15" name="Text 13"/>
          <p:cNvSpPr/>
          <p:nvPr/>
        </p:nvSpPr>
        <p:spPr>
          <a:xfrm>
            <a:off x="914400" y="2688336"/>
            <a:ext cx="2880360" cy="0"/>
          </a:xfrm>
          <a:prstGeom prst="rect">
            <a:avLst/>
          </a:prstGeom>
          <a:noFill/>
          <a:ln/>
        </p:spPr>
        <p:txBody>
          <a:bodyPr wrap="square" lIns="254" tIns="254" rIns="254" bIns="254" rtlCol="0" anchor="t">
            <a:normAutofit fontScale="25000" lnSpcReduction="20000"/>
          </a:bodyPr>
          <a:lstStyle/>
          <a:p>
            <a:pPr marL="0" indent="0">
              <a:buNone/>
            </a:pPr>
            <a:r>
              <a:rPr lang="en-US" sz="1350" dirty="0">
                <a:solidFill>
                  <a:srgbClr val="13213A"/>
                </a:solidFill>
              </a:rPr>
              <a:t>курс</a:t>
            </a:r>
            <a:endParaRPr lang="en-US" sz="1350" dirty="0"/>
          </a:p>
        </p:txBody>
      </p:sp>
      <p:sp>
        <p:nvSpPr>
          <p:cNvPr id="16" name="Shape 14"/>
          <p:cNvSpPr/>
          <p:nvPr/>
        </p:nvSpPr>
        <p:spPr>
          <a:xfrm>
            <a:off x="3977640" y="2432304"/>
            <a:ext cx="704088" cy="694944"/>
          </a:xfrm>
          <a:prstGeom prst="line">
            <a:avLst/>
          </a:prstGeom>
          <a:noFill/>
          <a:ln w="11430">
            <a:solidFill>
              <a:srgbClr val="B9C7D8"/>
            </a:solidFill>
            <a:prstDash val="solid"/>
            <a:tailEnd type="triangle"/>
          </a:ln>
        </p:spPr>
      </p:sp>
      <p:sp>
        <p:nvSpPr>
          <p:cNvPr id="17" name="Shape 15"/>
          <p:cNvSpPr/>
          <p:nvPr/>
        </p:nvSpPr>
        <p:spPr>
          <a:xfrm>
            <a:off x="685800" y="2944368"/>
            <a:ext cx="3291840" cy="621792"/>
          </a:xfrm>
          <a:prstGeom prst="roundRect">
            <a:avLst>
              <a:gd name="adj" fmla="val 11765"/>
            </a:avLst>
          </a:prstGeom>
          <a:solidFill>
            <a:srgbClr val="FFFFFF"/>
          </a:solidFill>
          <a:ln w="12700">
            <a:solidFill>
              <a:srgbClr val="D6E2F2"/>
            </a:solidFill>
            <a:prstDash val="solid"/>
          </a:ln>
        </p:spPr>
      </p:sp>
      <p:sp>
        <p:nvSpPr>
          <p:cNvPr id="18" name="Shape 16"/>
          <p:cNvSpPr/>
          <p:nvPr/>
        </p:nvSpPr>
        <p:spPr>
          <a:xfrm>
            <a:off x="685800" y="2944368"/>
            <a:ext cx="73152" cy="621792"/>
          </a:xfrm>
          <a:prstGeom prst="rect">
            <a:avLst/>
          </a:prstGeom>
          <a:solidFill>
            <a:srgbClr val="2E86DE"/>
          </a:solidFill>
          <a:ln w="12700">
            <a:solidFill>
              <a:srgbClr val="333333">
                <a:alpha val="0"/>
              </a:srgbClr>
            </a:solidFill>
            <a:prstDash val="solid"/>
          </a:ln>
        </p:spPr>
      </p:sp>
      <p:sp>
        <p:nvSpPr>
          <p:cNvPr id="19" name="Text 17"/>
          <p:cNvSpPr/>
          <p:nvPr/>
        </p:nvSpPr>
        <p:spPr>
          <a:xfrm>
            <a:off x="914400" y="3108960"/>
            <a:ext cx="288036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Барометр</a:t>
            </a:r>
            <a:endParaRPr lang="en-US" sz="1600" dirty="0"/>
          </a:p>
        </p:txBody>
      </p:sp>
      <p:sp>
        <p:nvSpPr>
          <p:cNvPr id="20" name="Text 18"/>
          <p:cNvSpPr/>
          <p:nvPr/>
        </p:nvSpPr>
        <p:spPr>
          <a:xfrm>
            <a:off x="914400" y="3511296"/>
            <a:ext cx="2880360" cy="0"/>
          </a:xfrm>
          <a:prstGeom prst="rect">
            <a:avLst/>
          </a:prstGeom>
          <a:noFill/>
          <a:ln/>
        </p:spPr>
        <p:txBody>
          <a:bodyPr wrap="square" lIns="254" tIns="254" rIns="254" bIns="254" rtlCol="0" anchor="t">
            <a:normAutofit fontScale="25000" lnSpcReduction="20000"/>
          </a:bodyPr>
          <a:lstStyle/>
          <a:p>
            <a:pPr marL="0" indent="0">
              <a:buNone/>
            </a:pPr>
            <a:r>
              <a:rPr lang="en-US" sz="1350" dirty="0">
                <a:solidFill>
                  <a:srgbClr val="13213A"/>
                </a:solidFill>
              </a:rPr>
              <a:t>высота</a:t>
            </a:r>
            <a:endParaRPr lang="en-US" sz="1350" dirty="0"/>
          </a:p>
        </p:txBody>
      </p:sp>
      <p:sp>
        <p:nvSpPr>
          <p:cNvPr id="21" name="Shape 19"/>
          <p:cNvSpPr/>
          <p:nvPr/>
        </p:nvSpPr>
        <p:spPr>
          <a:xfrm>
            <a:off x="3977640" y="3255264"/>
            <a:ext cx="704088" cy="0"/>
          </a:xfrm>
          <a:prstGeom prst="line">
            <a:avLst/>
          </a:prstGeom>
          <a:noFill/>
          <a:ln w="11430">
            <a:solidFill>
              <a:srgbClr val="B9C7D8"/>
            </a:solidFill>
            <a:prstDash val="solid"/>
            <a:tailEnd type="triangle"/>
          </a:ln>
        </p:spPr>
      </p:sp>
      <p:sp>
        <p:nvSpPr>
          <p:cNvPr id="22" name="Shape 20"/>
          <p:cNvSpPr/>
          <p:nvPr/>
        </p:nvSpPr>
        <p:spPr>
          <a:xfrm>
            <a:off x="685800" y="3767328"/>
            <a:ext cx="3291840" cy="621792"/>
          </a:xfrm>
          <a:prstGeom prst="roundRect">
            <a:avLst>
              <a:gd name="adj" fmla="val 11765"/>
            </a:avLst>
          </a:prstGeom>
          <a:solidFill>
            <a:srgbClr val="FFFFFF"/>
          </a:solidFill>
          <a:ln w="12700">
            <a:solidFill>
              <a:srgbClr val="D6E2F2"/>
            </a:solidFill>
            <a:prstDash val="solid"/>
          </a:ln>
        </p:spPr>
      </p:sp>
      <p:sp>
        <p:nvSpPr>
          <p:cNvPr id="23" name="Shape 21"/>
          <p:cNvSpPr/>
          <p:nvPr/>
        </p:nvSpPr>
        <p:spPr>
          <a:xfrm>
            <a:off x="685800" y="3767328"/>
            <a:ext cx="73152" cy="621792"/>
          </a:xfrm>
          <a:prstGeom prst="rect">
            <a:avLst/>
          </a:prstGeom>
          <a:solidFill>
            <a:srgbClr val="2E86DE"/>
          </a:solidFill>
          <a:ln w="12700">
            <a:solidFill>
              <a:srgbClr val="333333">
                <a:alpha val="0"/>
              </a:srgbClr>
            </a:solidFill>
            <a:prstDash val="solid"/>
          </a:ln>
        </p:spPr>
      </p:sp>
      <p:sp>
        <p:nvSpPr>
          <p:cNvPr id="24" name="Text 22"/>
          <p:cNvSpPr/>
          <p:nvPr/>
        </p:nvSpPr>
        <p:spPr>
          <a:xfrm>
            <a:off x="914400" y="3931920"/>
            <a:ext cx="288036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GNSS/RTK/PPK</a:t>
            </a:r>
            <a:endParaRPr lang="en-US" sz="1600" dirty="0"/>
          </a:p>
        </p:txBody>
      </p:sp>
      <p:sp>
        <p:nvSpPr>
          <p:cNvPr id="25" name="Text 23"/>
          <p:cNvSpPr/>
          <p:nvPr/>
        </p:nvSpPr>
        <p:spPr>
          <a:xfrm>
            <a:off x="914400" y="4334256"/>
            <a:ext cx="2880360" cy="0"/>
          </a:xfrm>
          <a:prstGeom prst="rect">
            <a:avLst/>
          </a:prstGeom>
          <a:noFill/>
          <a:ln/>
        </p:spPr>
        <p:txBody>
          <a:bodyPr wrap="square" lIns="254" tIns="254" rIns="254" bIns="254" rtlCol="0" anchor="t">
            <a:normAutofit fontScale="25000" lnSpcReduction="20000"/>
          </a:bodyPr>
          <a:lstStyle/>
          <a:p>
            <a:pPr marL="0" indent="0">
              <a:buNone/>
            </a:pPr>
            <a:r>
              <a:rPr lang="en-US" sz="1350" dirty="0">
                <a:solidFill>
                  <a:srgbClr val="13213A"/>
                </a:solidFill>
              </a:rPr>
              <a:t>позиционирование</a:t>
            </a:r>
            <a:endParaRPr lang="en-US" sz="1350" dirty="0"/>
          </a:p>
        </p:txBody>
      </p:sp>
      <p:sp>
        <p:nvSpPr>
          <p:cNvPr id="26" name="Shape 24"/>
          <p:cNvSpPr/>
          <p:nvPr/>
        </p:nvSpPr>
        <p:spPr>
          <a:xfrm>
            <a:off x="3977640" y="4078224"/>
            <a:ext cx="704088" cy="0"/>
          </a:xfrm>
          <a:prstGeom prst="line">
            <a:avLst/>
          </a:prstGeom>
          <a:noFill/>
          <a:ln w="11430">
            <a:solidFill>
              <a:srgbClr val="B9C7D8"/>
            </a:solidFill>
            <a:prstDash val="solid"/>
            <a:tailEnd type="triangle"/>
          </a:ln>
        </p:spPr>
      </p:sp>
      <p:sp>
        <p:nvSpPr>
          <p:cNvPr id="27" name="Shape 25"/>
          <p:cNvSpPr/>
          <p:nvPr/>
        </p:nvSpPr>
        <p:spPr>
          <a:xfrm>
            <a:off x="8138160" y="1600200"/>
            <a:ext cx="3383280" cy="713232"/>
          </a:xfrm>
          <a:prstGeom prst="roundRect">
            <a:avLst>
              <a:gd name="adj" fmla="val 10256"/>
            </a:avLst>
          </a:prstGeom>
          <a:solidFill>
            <a:srgbClr val="FFFFFF"/>
          </a:solidFill>
          <a:ln w="12700">
            <a:solidFill>
              <a:srgbClr val="D6E2F2"/>
            </a:solidFill>
            <a:prstDash val="solid"/>
          </a:ln>
        </p:spPr>
      </p:sp>
      <p:sp>
        <p:nvSpPr>
          <p:cNvPr id="28" name="Shape 26"/>
          <p:cNvSpPr/>
          <p:nvPr/>
        </p:nvSpPr>
        <p:spPr>
          <a:xfrm>
            <a:off x="8138160" y="1600200"/>
            <a:ext cx="73152" cy="713232"/>
          </a:xfrm>
          <a:prstGeom prst="rect">
            <a:avLst/>
          </a:prstGeom>
          <a:solidFill>
            <a:srgbClr val="2FB344"/>
          </a:solidFill>
          <a:ln w="12700">
            <a:solidFill>
              <a:srgbClr val="333333">
                <a:alpha val="0"/>
              </a:srgbClr>
            </a:solidFill>
            <a:prstDash val="solid"/>
          </a:ln>
        </p:spPr>
      </p:sp>
      <p:sp>
        <p:nvSpPr>
          <p:cNvPr id="29" name="Text 27"/>
          <p:cNvSpPr/>
          <p:nvPr/>
        </p:nvSpPr>
        <p:spPr>
          <a:xfrm>
            <a:off x="8366760" y="1764792"/>
            <a:ext cx="297180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ESC / моторы</a:t>
            </a:r>
            <a:endParaRPr lang="en-US" sz="1600" dirty="0"/>
          </a:p>
        </p:txBody>
      </p:sp>
      <p:sp>
        <p:nvSpPr>
          <p:cNvPr id="30" name="Text 28"/>
          <p:cNvSpPr/>
          <p:nvPr/>
        </p:nvSpPr>
        <p:spPr>
          <a:xfrm>
            <a:off x="8366760" y="2167128"/>
            <a:ext cx="2971800" cy="73152"/>
          </a:xfrm>
          <a:prstGeom prst="rect">
            <a:avLst/>
          </a:prstGeom>
          <a:noFill/>
          <a:ln/>
        </p:spPr>
        <p:txBody>
          <a:bodyPr wrap="square" lIns="254" tIns="254" rIns="254" bIns="254" rtlCol="0" anchor="t">
            <a:normAutofit fontScale="40000" lnSpcReduction="20000"/>
          </a:bodyPr>
          <a:lstStyle/>
          <a:p>
            <a:pPr marL="0" indent="0">
              <a:buNone/>
            </a:pPr>
            <a:r>
              <a:rPr lang="en-US" sz="1350" dirty="0">
                <a:solidFill>
                  <a:srgbClr val="13213A"/>
                </a:solidFill>
              </a:rPr>
              <a:t>управление тягой</a:t>
            </a:r>
            <a:endParaRPr lang="en-US" sz="1350" dirty="0"/>
          </a:p>
        </p:txBody>
      </p:sp>
      <p:sp>
        <p:nvSpPr>
          <p:cNvPr id="31" name="Shape 29"/>
          <p:cNvSpPr/>
          <p:nvPr/>
        </p:nvSpPr>
        <p:spPr>
          <a:xfrm>
            <a:off x="7498080" y="3127248"/>
            <a:ext cx="612648" cy="0"/>
          </a:xfrm>
          <a:prstGeom prst="line">
            <a:avLst/>
          </a:prstGeom>
          <a:noFill/>
          <a:ln w="11430">
            <a:solidFill>
              <a:srgbClr val="B9C7D8"/>
            </a:solidFill>
            <a:prstDash val="solid"/>
            <a:tailEnd type="triangle"/>
          </a:ln>
        </p:spPr>
      </p:sp>
      <p:sp>
        <p:nvSpPr>
          <p:cNvPr id="32" name="Shape 30"/>
          <p:cNvSpPr/>
          <p:nvPr/>
        </p:nvSpPr>
        <p:spPr>
          <a:xfrm>
            <a:off x="8138160" y="2587752"/>
            <a:ext cx="3383280" cy="713232"/>
          </a:xfrm>
          <a:prstGeom prst="roundRect">
            <a:avLst>
              <a:gd name="adj" fmla="val 10256"/>
            </a:avLst>
          </a:prstGeom>
          <a:solidFill>
            <a:srgbClr val="FFFFFF"/>
          </a:solidFill>
          <a:ln w="12700">
            <a:solidFill>
              <a:srgbClr val="D6E2F2"/>
            </a:solidFill>
            <a:prstDash val="solid"/>
          </a:ln>
        </p:spPr>
      </p:sp>
      <p:sp>
        <p:nvSpPr>
          <p:cNvPr id="33" name="Shape 31"/>
          <p:cNvSpPr/>
          <p:nvPr/>
        </p:nvSpPr>
        <p:spPr>
          <a:xfrm>
            <a:off x="8138160" y="2587752"/>
            <a:ext cx="73152" cy="713232"/>
          </a:xfrm>
          <a:prstGeom prst="rect">
            <a:avLst/>
          </a:prstGeom>
          <a:solidFill>
            <a:srgbClr val="2FB344"/>
          </a:solidFill>
          <a:ln w="12700">
            <a:solidFill>
              <a:srgbClr val="333333">
                <a:alpha val="0"/>
              </a:srgbClr>
            </a:solidFill>
            <a:prstDash val="solid"/>
          </a:ln>
        </p:spPr>
      </p:sp>
      <p:sp>
        <p:nvSpPr>
          <p:cNvPr id="34" name="Text 32"/>
          <p:cNvSpPr/>
          <p:nvPr/>
        </p:nvSpPr>
        <p:spPr>
          <a:xfrm>
            <a:off x="8366760" y="2752344"/>
            <a:ext cx="297180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Сервоприводы</a:t>
            </a:r>
            <a:endParaRPr lang="en-US" sz="1600" dirty="0"/>
          </a:p>
        </p:txBody>
      </p:sp>
      <p:sp>
        <p:nvSpPr>
          <p:cNvPr id="35" name="Text 33"/>
          <p:cNvSpPr/>
          <p:nvPr/>
        </p:nvSpPr>
        <p:spPr>
          <a:xfrm>
            <a:off x="8366760" y="3154680"/>
            <a:ext cx="2971800" cy="73152"/>
          </a:xfrm>
          <a:prstGeom prst="rect">
            <a:avLst/>
          </a:prstGeom>
          <a:noFill/>
          <a:ln/>
        </p:spPr>
        <p:txBody>
          <a:bodyPr wrap="square" lIns="254" tIns="254" rIns="254" bIns="254" rtlCol="0" anchor="t">
            <a:normAutofit fontScale="40000" lnSpcReduction="20000"/>
          </a:bodyPr>
          <a:lstStyle/>
          <a:p>
            <a:pPr marL="0" indent="0">
              <a:buNone/>
            </a:pPr>
            <a:r>
              <a:rPr lang="en-US" sz="1350" dirty="0">
                <a:solidFill>
                  <a:srgbClr val="13213A"/>
                </a:solidFill>
              </a:rPr>
              <a:t>рули самолёта</a:t>
            </a:r>
            <a:endParaRPr lang="en-US" sz="1350" dirty="0"/>
          </a:p>
        </p:txBody>
      </p:sp>
      <p:sp>
        <p:nvSpPr>
          <p:cNvPr id="36" name="Shape 34"/>
          <p:cNvSpPr/>
          <p:nvPr/>
        </p:nvSpPr>
        <p:spPr>
          <a:xfrm>
            <a:off x="7498080" y="3127248"/>
            <a:ext cx="612648" cy="0"/>
          </a:xfrm>
          <a:prstGeom prst="line">
            <a:avLst/>
          </a:prstGeom>
          <a:noFill/>
          <a:ln w="11430">
            <a:solidFill>
              <a:srgbClr val="B9C7D8"/>
            </a:solidFill>
            <a:prstDash val="solid"/>
            <a:tailEnd type="triangle"/>
          </a:ln>
        </p:spPr>
      </p:sp>
      <p:sp>
        <p:nvSpPr>
          <p:cNvPr id="37" name="Shape 35"/>
          <p:cNvSpPr/>
          <p:nvPr/>
        </p:nvSpPr>
        <p:spPr>
          <a:xfrm>
            <a:off x="8138160" y="3575304"/>
            <a:ext cx="3383280" cy="713232"/>
          </a:xfrm>
          <a:prstGeom prst="roundRect">
            <a:avLst>
              <a:gd name="adj" fmla="val 10256"/>
            </a:avLst>
          </a:prstGeom>
          <a:solidFill>
            <a:srgbClr val="FFFFFF"/>
          </a:solidFill>
          <a:ln w="12700">
            <a:solidFill>
              <a:srgbClr val="D6E2F2"/>
            </a:solidFill>
            <a:prstDash val="solid"/>
          </a:ln>
        </p:spPr>
      </p:sp>
      <p:sp>
        <p:nvSpPr>
          <p:cNvPr id="38" name="Shape 36"/>
          <p:cNvSpPr/>
          <p:nvPr/>
        </p:nvSpPr>
        <p:spPr>
          <a:xfrm>
            <a:off x="8138160" y="3575304"/>
            <a:ext cx="73152" cy="713232"/>
          </a:xfrm>
          <a:prstGeom prst="rect">
            <a:avLst/>
          </a:prstGeom>
          <a:solidFill>
            <a:srgbClr val="2FB344"/>
          </a:solidFill>
          <a:ln w="12700">
            <a:solidFill>
              <a:srgbClr val="333333">
                <a:alpha val="0"/>
              </a:srgbClr>
            </a:solidFill>
            <a:prstDash val="solid"/>
          </a:ln>
        </p:spPr>
      </p:sp>
      <p:sp>
        <p:nvSpPr>
          <p:cNvPr id="39" name="Text 37"/>
          <p:cNvSpPr/>
          <p:nvPr/>
        </p:nvSpPr>
        <p:spPr>
          <a:xfrm>
            <a:off x="8366760" y="3739896"/>
            <a:ext cx="297180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RTH / failsafe</a:t>
            </a:r>
            <a:endParaRPr lang="en-US" sz="1600" dirty="0"/>
          </a:p>
        </p:txBody>
      </p:sp>
      <p:sp>
        <p:nvSpPr>
          <p:cNvPr id="40" name="Text 38"/>
          <p:cNvSpPr/>
          <p:nvPr/>
        </p:nvSpPr>
        <p:spPr>
          <a:xfrm>
            <a:off x="8366760" y="4142232"/>
            <a:ext cx="2971800" cy="73152"/>
          </a:xfrm>
          <a:prstGeom prst="rect">
            <a:avLst/>
          </a:prstGeom>
          <a:noFill/>
          <a:ln/>
        </p:spPr>
        <p:txBody>
          <a:bodyPr wrap="square" lIns="254" tIns="254" rIns="254" bIns="254" rtlCol="0" anchor="t">
            <a:normAutofit fontScale="40000" lnSpcReduction="20000"/>
          </a:bodyPr>
          <a:lstStyle/>
          <a:p>
            <a:pPr marL="0" indent="0">
              <a:buNone/>
            </a:pPr>
            <a:r>
              <a:rPr lang="en-US" sz="1350" dirty="0">
                <a:solidFill>
                  <a:srgbClr val="13213A"/>
                </a:solidFill>
              </a:rPr>
              <a:t>реакция на отказ</a:t>
            </a:r>
            <a:endParaRPr lang="en-US" sz="1350" dirty="0"/>
          </a:p>
        </p:txBody>
      </p:sp>
      <p:sp>
        <p:nvSpPr>
          <p:cNvPr id="41" name="Shape 39"/>
          <p:cNvSpPr/>
          <p:nvPr/>
        </p:nvSpPr>
        <p:spPr>
          <a:xfrm>
            <a:off x="7498080" y="3127248"/>
            <a:ext cx="612648" cy="804672"/>
          </a:xfrm>
          <a:prstGeom prst="line">
            <a:avLst/>
          </a:prstGeom>
          <a:noFill/>
          <a:ln w="11430">
            <a:solidFill>
              <a:srgbClr val="B9C7D8"/>
            </a:solidFill>
            <a:prstDash val="solid"/>
            <a:tailEnd type="triangle"/>
          </a:ln>
        </p:spPr>
      </p:sp>
      <p:sp>
        <p:nvSpPr>
          <p:cNvPr id="42" name="Shape 40"/>
          <p:cNvSpPr/>
          <p:nvPr/>
        </p:nvSpPr>
        <p:spPr>
          <a:xfrm>
            <a:off x="502920" y="6446520"/>
            <a:ext cx="11201400" cy="0"/>
          </a:xfrm>
          <a:prstGeom prst="line">
            <a:avLst/>
          </a:prstGeom>
          <a:noFill/>
          <a:ln w="7620">
            <a:solidFill>
              <a:srgbClr val="B9C7D8">
                <a:alpha val="65000"/>
              </a:srgbClr>
            </a:solidFill>
            <a:prstDash val="solid"/>
          </a:ln>
        </p:spPr>
      </p:sp>
      <p:sp>
        <p:nvSpPr>
          <p:cNvPr id="43" name="Text 41"/>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44" name="Text 42"/>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Полезная нагрузка: ради чего летит БАС</a:t>
            </a:r>
            <a:endParaRPr lang="en-US" sz="3100" dirty="0"/>
          </a:p>
        </p:txBody>
      </p:sp>
      <p:sp>
        <p:nvSpPr>
          <p:cNvPr id="5" name="Shape 3"/>
          <p:cNvSpPr/>
          <p:nvPr/>
        </p:nvSpPr>
        <p:spPr>
          <a:xfrm>
            <a:off x="685800" y="1234440"/>
            <a:ext cx="3246120" cy="1097280"/>
          </a:xfrm>
          <a:prstGeom prst="roundRect">
            <a:avLst>
              <a:gd name="adj" fmla="val 6667"/>
            </a:avLst>
          </a:prstGeom>
          <a:solidFill>
            <a:srgbClr val="FFFFFF"/>
          </a:solidFill>
          <a:ln w="12700">
            <a:solidFill>
              <a:srgbClr val="D6E2F2"/>
            </a:solidFill>
            <a:prstDash val="solid"/>
          </a:ln>
        </p:spPr>
      </p:sp>
      <p:sp>
        <p:nvSpPr>
          <p:cNvPr id="6" name="Shape 4"/>
          <p:cNvSpPr/>
          <p:nvPr/>
        </p:nvSpPr>
        <p:spPr>
          <a:xfrm>
            <a:off x="685800" y="1234440"/>
            <a:ext cx="73152" cy="1097280"/>
          </a:xfrm>
          <a:prstGeom prst="rect">
            <a:avLst/>
          </a:prstGeom>
          <a:solidFill>
            <a:srgbClr val="2E86DE"/>
          </a:solidFill>
          <a:ln w="12700">
            <a:solidFill>
              <a:srgbClr val="333333">
                <a:alpha val="0"/>
              </a:srgbClr>
            </a:solidFill>
            <a:prstDash val="solid"/>
          </a:ln>
        </p:spPr>
      </p:sp>
      <p:sp>
        <p:nvSpPr>
          <p:cNvPr id="7" name="Text 5"/>
          <p:cNvSpPr/>
          <p:nvPr/>
        </p:nvSpPr>
        <p:spPr>
          <a:xfrm>
            <a:off x="91440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RGB-камера</a:t>
            </a:r>
            <a:endParaRPr lang="en-US" sz="1600" dirty="0"/>
          </a:p>
        </p:txBody>
      </p:sp>
      <p:sp>
        <p:nvSpPr>
          <p:cNvPr id="8" name="Text 6"/>
          <p:cNvSpPr/>
          <p:nvPr/>
        </p:nvSpPr>
        <p:spPr>
          <a:xfrm>
            <a:off x="914400" y="180136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видимый диапазон, фото/видео, инспекция</a:t>
            </a:r>
            <a:endParaRPr lang="en-US" sz="1350" dirty="0"/>
          </a:p>
        </p:txBody>
      </p:sp>
      <p:sp>
        <p:nvSpPr>
          <p:cNvPr id="9" name="Shape 7"/>
          <p:cNvSpPr/>
          <p:nvPr/>
        </p:nvSpPr>
        <p:spPr>
          <a:xfrm>
            <a:off x="4434840" y="1234440"/>
            <a:ext cx="3246120" cy="1097280"/>
          </a:xfrm>
          <a:prstGeom prst="roundRect">
            <a:avLst>
              <a:gd name="adj" fmla="val 6667"/>
            </a:avLst>
          </a:prstGeom>
          <a:solidFill>
            <a:srgbClr val="FFFFFF"/>
          </a:solidFill>
          <a:ln w="12700">
            <a:solidFill>
              <a:srgbClr val="D6E2F2"/>
            </a:solidFill>
            <a:prstDash val="solid"/>
          </a:ln>
        </p:spPr>
      </p:sp>
      <p:sp>
        <p:nvSpPr>
          <p:cNvPr id="10" name="Shape 8"/>
          <p:cNvSpPr/>
          <p:nvPr/>
        </p:nvSpPr>
        <p:spPr>
          <a:xfrm>
            <a:off x="4434840" y="1234440"/>
            <a:ext cx="73152" cy="1097280"/>
          </a:xfrm>
          <a:prstGeom prst="rect">
            <a:avLst/>
          </a:prstGeom>
          <a:solidFill>
            <a:srgbClr val="F59E0B"/>
          </a:solidFill>
          <a:ln w="12700">
            <a:solidFill>
              <a:srgbClr val="333333">
                <a:alpha val="0"/>
              </a:srgbClr>
            </a:solidFill>
            <a:prstDash val="solid"/>
          </a:ln>
        </p:spPr>
      </p:sp>
      <p:sp>
        <p:nvSpPr>
          <p:cNvPr id="11" name="Text 9"/>
          <p:cNvSpPr/>
          <p:nvPr/>
        </p:nvSpPr>
        <p:spPr>
          <a:xfrm>
            <a:off x="466344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Тепловизор</a:t>
            </a:r>
            <a:endParaRPr lang="en-US" sz="1600" dirty="0"/>
          </a:p>
        </p:txBody>
      </p:sp>
      <p:sp>
        <p:nvSpPr>
          <p:cNvPr id="12" name="Text 10"/>
          <p:cNvSpPr/>
          <p:nvPr/>
        </p:nvSpPr>
        <p:spPr>
          <a:xfrm>
            <a:off x="4663440" y="180136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поиск людей, тепловые аномалии, пожары</a:t>
            </a:r>
            <a:endParaRPr lang="en-US" sz="1350" dirty="0"/>
          </a:p>
        </p:txBody>
      </p:sp>
      <p:sp>
        <p:nvSpPr>
          <p:cNvPr id="13" name="Shape 11"/>
          <p:cNvSpPr/>
          <p:nvPr/>
        </p:nvSpPr>
        <p:spPr>
          <a:xfrm>
            <a:off x="8183880" y="1234440"/>
            <a:ext cx="3246120" cy="1097280"/>
          </a:xfrm>
          <a:prstGeom prst="roundRect">
            <a:avLst>
              <a:gd name="adj" fmla="val 6667"/>
            </a:avLst>
          </a:prstGeom>
          <a:solidFill>
            <a:srgbClr val="FFFFFF"/>
          </a:solidFill>
          <a:ln w="12700">
            <a:solidFill>
              <a:srgbClr val="D6E2F2"/>
            </a:solidFill>
            <a:prstDash val="solid"/>
          </a:ln>
        </p:spPr>
      </p:sp>
      <p:sp>
        <p:nvSpPr>
          <p:cNvPr id="14" name="Shape 12"/>
          <p:cNvSpPr/>
          <p:nvPr/>
        </p:nvSpPr>
        <p:spPr>
          <a:xfrm>
            <a:off x="8183880" y="1234440"/>
            <a:ext cx="73152" cy="1097280"/>
          </a:xfrm>
          <a:prstGeom prst="rect">
            <a:avLst/>
          </a:prstGeom>
          <a:solidFill>
            <a:srgbClr val="2FB344"/>
          </a:solidFill>
          <a:ln w="12700">
            <a:solidFill>
              <a:srgbClr val="333333">
                <a:alpha val="0"/>
              </a:srgbClr>
            </a:solidFill>
            <a:prstDash val="solid"/>
          </a:ln>
        </p:spPr>
      </p:sp>
      <p:sp>
        <p:nvSpPr>
          <p:cNvPr id="15" name="Text 13"/>
          <p:cNvSpPr/>
          <p:nvPr/>
        </p:nvSpPr>
        <p:spPr>
          <a:xfrm>
            <a:off x="841248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Мультиспектр</a:t>
            </a:r>
            <a:endParaRPr lang="en-US" sz="1600" dirty="0"/>
          </a:p>
        </p:txBody>
      </p:sp>
      <p:sp>
        <p:nvSpPr>
          <p:cNvPr id="16" name="Text 14"/>
          <p:cNvSpPr/>
          <p:nvPr/>
        </p:nvSpPr>
        <p:spPr>
          <a:xfrm>
            <a:off x="8412480" y="180136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NDVI, стресс растений, агроаналитика</a:t>
            </a:r>
            <a:endParaRPr lang="en-US" sz="1350" dirty="0"/>
          </a:p>
        </p:txBody>
      </p:sp>
      <p:sp>
        <p:nvSpPr>
          <p:cNvPr id="17" name="Shape 15"/>
          <p:cNvSpPr/>
          <p:nvPr/>
        </p:nvSpPr>
        <p:spPr>
          <a:xfrm>
            <a:off x="685800" y="2743200"/>
            <a:ext cx="3246120" cy="1097280"/>
          </a:xfrm>
          <a:prstGeom prst="roundRect">
            <a:avLst>
              <a:gd name="adj" fmla="val 6667"/>
            </a:avLst>
          </a:prstGeom>
          <a:solidFill>
            <a:srgbClr val="FFFFFF"/>
          </a:solidFill>
          <a:ln w="12700">
            <a:solidFill>
              <a:srgbClr val="D6E2F2"/>
            </a:solidFill>
            <a:prstDash val="solid"/>
          </a:ln>
        </p:spPr>
      </p:sp>
      <p:sp>
        <p:nvSpPr>
          <p:cNvPr id="18" name="Shape 16"/>
          <p:cNvSpPr/>
          <p:nvPr/>
        </p:nvSpPr>
        <p:spPr>
          <a:xfrm>
            <a:off x="685800" y="2743200"/>
            <a:ext cx="73152" cy="1097280"/>
          </a:xfrm>
          <a:prstGeom prst="rect">
            <a:avLst/>
          </a:prstGeom>
          <a:solidFill>
            <a:srgbClr val="38BDF8"/>
          </a:solidFill>
          <a:ln w="12700">
            <a:solidFill>
              <a:srgbClr val="333333">
                <a:alpha val="0"/>
              </a:srgbClr>
            </a:solidFill>
            <a:prstDash val="solid"/>
          </a:ln>
        </p:spPr>
      </p:sp>
      <p:sp>
        <p:nvSpPr>
          <p:cNvPr id="19" name="Text 17"/>
          <p:cNvSpPr/>
          <p:nvPr/>
        </p:nvSpPr>
        <p:spPr>
          <a:xfrm>
            <a:off x="914400" y="2907792"/>
            <a:ext cx="283464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LiDAR</a:t>
            </a:r>
            <a:endParaRPr lang="en-US" sz="1600" dirty="0"/>
          </a:p>
        </p:txBody>
      </p:sp>
      <p:sp>
        <p:nvSpPr>
          <p:cNvPr id="20" name="Text 18"/>
          <p:cNvSpPr/>
          <p:nvPr/>
        </p:nvSpPr>
        <p:spPr>
          <a:xfrm>
            <a:off x="914400" y="331012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3D-облако точек, рельеф, лес, строительство</a:t>
            </a:r>
            <a:endParaRPr lang="en-US" sz="1350" dirty="0"/>
          </a:p>
        </p:txBody>
      </p:sp>
      <p:sp>
        <p:nvSpPr>
          <p:cNvPr id="21" name="Shape 19"/>
          <p:cNvSpPr/>
          <p:nvPr/>
        </p:nvSpPr>
        <p:spPr>
          <a:xfrm>
            <a:off x="4434840" y="2743200"/>
            <a:ext cx="3246120" cy="1097280"/>
          </a:xfrm>
          <a:prstGeom prst="roundRect">
            <a:avLst>
              <a:gd name="adj" fmla="val 6667"/>
            </a:avLst>
          </a:prstGeom>
          <a:solidFill>
            <a:srgbClr val="FFFFFF"/>
          </a:solidFill>
          <a:ln w="12700">
            <a:solidFill>
              <a:srgbClr val="D6E2F2"/>
            </a:solidFill>
            <a:prstDash val="solid"/>
          </a:ln>
        </p:spPr>
      </p:sp>
      <p:sp>
        <p:nvSpPr>
          <p:cNvPr id="22" name="Shape 20"/>
          <p:cNvSpPr/>
          <p:nvPr/>
        </p:nvSpPr>
        <p:spPr>
          <a:xfrm>
            <a:off x="4434840" y="2743200"/>
            <a:ext cx="73152" cy="1097280"/>
          </a:xfrm>
          <a:prstGeom prst="rect">
            <a:avLst/>
          </a:prstGeom>
          <a:solidFill>
            <a:srgbClr val="1F3A5F"/>
          </a:solidFill>
          <a:ln w="12700">
            <a:solidFill>
              <a:srgbClr val="333333">
                <a:alpha val="0"/>
              </a:srgbClr>
            </a:solidFill>
            <a:prstDash val="solid"/>
          </a:ln>
        </p:spPr>
      </p:sp>
      <p:sp>
        <p:nvSpPr>
          <p:cNvPr id="23" name="Text 21"/>
          <p:cNvSpPr/>
          <p:nvPr/>
        </p:nvSpPr>
        <p:spPr>
          <a:xfrm>
            <a:off x="4663440" y="2907792"/>
            <a:ext cx="2834640" cy="274320"/>
          </a:xfrm>
          <a:prstGeom prst="rect">
            <a:avLst/>
          </a:prstGeom>
          <a:noFill/>
          <a:ln/>
        </p:spPr>
        <p:txBody>
          <a:bodyPr wrap="square" lIns="0" tIns="0" rIns="0" bIns="0" rtlCol="0" anchor="ctr">
            <a:normAutofit/>
          </a:bodyPr>
          <a:lstStyle/>
          <a:p>
            <a:pPr marL="0" indent="0">
              <a:buNone/>
            </a:pPr>
            <a:r>
              <a:rPr lang="en-US" sz="1600" b="1" dirty="0">
                <a:solidFill>
                  <a:srgbClr val="1F3A5F"/>
                </a:solidFill>
              </a:rPr>
              <a:t>Газоанализатор</a:t>
            </a:r>
            <a:endParaRPr lang="en-US" sz="1600" dirty="0"/>
          </a:p>
        </p:txBody>
      </p:sp>
      <p:sp>
        <p:nvSpPr>
          <p:cNvPr id="24" name="Text 22"/>
          <p:cNvSpPr/>
          <p:nvPr/>
        </p:nvSpPr>
        <p:spPr>
          <a:xfrm>
            <a:off x="4663440" y="331012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метан, выбросы, промышленные утечки</a:t>
            </a:r>
            <a:endParaRPr lang="en-US" sz="1350" dirty="0"/>
          </a:p>
        </p:txBody>
      </p:sp>
      <p:sp>
        <p:nvSpPr>
          <p:cNvPr id="25" name="Shape 23"/>
          <p:cNvSpPr/>
          <p:nvPr/>
        </p:nvSpPr>
        <p:spPr>
          <a:xfrm>
            <a:off x="8183880" y="2743200"/>
            <a:ext cx="3246120" cy="1097280"/>
          </a:xfrm>
          <a:prstGeom prst="roundRect">
            <a:avLst>
              <a:gd name="adj" fmla="val 6667"/>
            </a:avLst>
          </a:prstGeom>
          <a:solidFill>
            <a:srgbClr val="FFFFFF"/>
          </a:solidFill>
          <a:ln w="12700">
            <a:solidFill>
              <a:srgbClr val="D6E2F2"/>
            </a:solidFill>
            <a:prstDash val="solid"/>
          </a:ln>
        </p:spPr>
      </p:sp>
      <p:sp>
        <p:nvSpPr>
          <p:cNvPr id="26" name="Shape 24"/>
          <p:cNvSpPr/>
          <p:nvPr/>
        </p:nvSpPr>
        <p:spPr>
          <a:xfrm>
            <a:off x="8183880" y="2743200"/>
            <a:ext cx="73152" cy="1097280"/>
          </a:xfrm>
          <a:prstGeom prst="rect">
            <a:avLst/>
          </a:prstGeom>
          <a:solidFill>
            <a:srgbClr val="EF4444"/>
          </a:solidFill>
          <a:ln w="12700">
            <a:solidFill>
              <a:srgbClr val="333333">
                <a:alpha val="0"/>
              </a:srgbClr>
            </a:solidFill>
            <a:prstDash val="solid"/>
          </a:ln>
        </p:spPr>
      </p:sp>
      <p:sp>
        <p:nvSpPr>
          <p:cNvPr id="27" name="Text 25"/>
          <p:cNvSpPr/>
          <p:nvPr/>
        </p:nvSpPr>
        <p:spPr>
          <a:xfrm>
            <a:off x="8412480" y="2907792"/>
            <a:ext cx="2834640" cy="274320"/>
          </a:xfrm>
          <a:prstGeom prst="rect">
            <a:avLst/>
          </a:prstGeom>
          <a:noFill/>
          <a:ln/>
        </p:spPr>
        <p:txBody>
          <a:bodyPr wrap="square" lIns="0" tIns="0" rIns="0" bIns="0" rtlCol="0" anchor="ctr">
            <a:normAutofit/>
          </a:bodyPr>
          <a:lstStyle/>
          <a:p>
            <a:pPr marL="0" indent="0">
              <a:buNone/>
            </a:pPr>
            <a:r>
              <a:rPr lang="en-US" sz="1600" b="1" dirty="0">
                <a:solidFill>
                  <a:srgbClr val="EF4444"/>
                </a:solidFill>
              </a:rPr>
              <a:t>Грузовой модуль</a:t>
            </a:r>
            <a:endParaRPr lang="en-US" sz="1600" dirty="0"/>
          </a:p>
        </p:txBody>
      </p:sp>
      <p:sp>
        <p:nvSpPr>
          <p:cNvPr id="28" name="Text 26"/>
          <p:cNvSpPr/>
          <p:nvPr/>
        </p:nvSpPr>
        <p:spPr>
          <a:xfrm>
            <a:off x="8412480" y="3310128"/>
            <a:ext cx="2834640" cy="45720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доставка, сброс, транспортировка</a:t>
            </a:r>
            <a:endParaRPr lang="en-US" sz="1350" dirty="0"/>
          </a:p>
        </p:txBody>
      </p:sp>
      <p:sp>
        <p:nvSpPr>
          <p:cNvPr id="29" name="Shape 27"/>
          <p:cNvSpPr/>
          <p:nvPr/>
        </p:nvSpPr>
        <p:spPr>
          <a:xfrm>
            <a:off x="1097280" y="4846320"/>
            <a:ext cx="9921240" cy="640080"/>
          </a:xfrm>
          <a:prstGeom prst="roundRect">
            <a:avLst>
              <a:gd name="adj" fmla="val 7143"/>
            </a:avLst>
          </a:prstGeom>
          <a:solidFill>
            <a:srgbClr val="2E86DE">
              <a:alpha val="92000"/>
            </a:srgbClr>
          </a:solidFill>
          <a:ln w="12700">
            <a:solidFill>
              <a:srgbClr val="333333">
                <a:alpha val="0"/>
              </a:srgbClr>
            </a:solidFill>
            <a:prstDash val="solid"/>
          </a:ln>
        </p:spPr>
      </p:sp>
      <p:sp>
        <p:nvSpPr>
          <p:cNvPr id="30" name="Text 28"/>
          <p:cNvSpPr/>
          <p:nvPr/>
        </p:nvSpPr>
        <p:spPr>
          <a:xfrm>
            <a:off x="1261872" y="4956048"/>
            <a:ext cx="9592056" cy="457200"/>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rPr>
              <a:t>Один аппарат + разные полезные нагрузки = разные отраслевые задачи</a:t>
            </a:r>
            <a:endParaRPr lang="en-US" sz="1500" dirty="0"/>
          </a:p>
        </p:txBody>
      </p:sp>
      <p:sp>
        <p:nvSpPr>
          <p:cNvPr id="31" name="Shape 29"/>
          <p:cNvSpPr/>
          <p:nvPr/>
        </p:nvSpPr>
        <p:spPr>
          <a:xfrm>
            <a:off x="502920" y="6446520"/>
            <a:ext cx="11201400" cy="0"/>
          </a:xfrm>
          <a:prstGeom prst="line">
            <a:avLst/>
          </a:prstGeom>
          <a:noFill/>
          <a:ln w="7620">
            <a:solidFill>
              <a:srgbClr val="B9C7D8">
                <a:alpha val="65000"/>
              </a:srgbClr>
            </a:solidFill>
            <a:prstDash val="solid"/>
          </a:ln>
        </p:spPr>
      </p:sp>
      <p:sp>
        <p:nvSpPr>
          <p:cNvPr id="32" name="Text 30"/>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33" name="Text 31"/>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Наземный сегмент: станция управления</a:t>
            </a:r>
            <a:endParaRPr lang="en-US" sz="3100" dirty="0"/>
          </a:p>
        </p:txBody>
      </p:sp>
      <p:sp>
        <p:nvSpPr>
          <p:cNvPr id="5" name="Text 3"/>
          <p:cNvSpPr/>
          <p:nvPr/>
        </p:nvSpPr>
        <p:spPr>
          <a:xfrm>
            <a:off x="713232" y="1234440"/>
            <a:ext cx="5806440" cy="4160520"/>
          </a:xfrm>
          <a:prstGeom prst="rect">
            <a:avLst/>
          </a:prstGeom>
          <a:noFill/>
          <a:ln/>
        </p:spPr>
        <p:txBody>
          <a:bodyPr wrap="square" lIns="1016" tIns="1016" rIns="1016" bIns="1016" rtlCol="0" anchor="t">
            <a:normAutofit/>
          </a:bodyPr>
          <a:lstStyle/>
          <a:p>
            <a:pPr marL="0" indent="0">
              <a:buNone/>
            </a:pPr>
            <a:r>
              <a:rPr lang="en-US" sz="2000" dirty="0">
                <a:solidFill>
                  <a:srgbClr val="13213A"/>
                </a:solidFill>
                <a:latin typeface="Arial" pitchFamily="34" charset="0"/>
                <a:ea typeface="Arial" pitchFamily="34" charset="-122"/>
                <a:cs typeface="Arial" pitchFamily="34" charset="-120"/>
              </a:rPr>
              <a:t>• пульт, ноутбук/планшет или защищённая станция GCS/НСУ;</a:t>
            </a:r>
            <a:endParaRPr lang="en-US" sz="2000" dirty="0"/>
          </a:p>
          <a:p>
            <a:pPr marL="0" indent="0">
              <a:buNone/>
            </a:pPr>
            <a:r>
              <a:rPr lang="en-US" sz="2000" dirty="0">
                <a:solidFill>
                  <a:srgbClr val="13213A"/>
                </a:solidFill>
                <a:latin typeface="Arial" pitchFamily="34" charset="0"/>
                <a:ea typeface="Arial" pitchFamily="34" charset="-122"/>
                <a:cs typeface="Arial" pitchFamily="34" charset="-120"/>
              </a:rPr>
              <a:t>• ПО планирования миссии: маршруты, высота, геозоны, точки съёмки;</a:t>
            </a:r>
            <a:endParaRPr lang="en-US" sz="2000" dirty="0"/>
          </a:p>
          <a:p>
            <a:pPr marL="0" indent="0">
              <a:buNone/>
            </a:pPr>
            <a:r>
              <a:rPr lang="en-US" sz="2000" dirty="0">
                <a:solidFill>
                  <a:srgbClr val="13213A"/>
                </a:solidFill>
                <a:latin typeface="Arial" pitchFamily="34" charset="0"/>
                <a:ea typeface="Arial" pitchFamily="34" charset="-122"/>
                <a:cs typeface="Arial" pitchFamily="34" charset="-120"/>
              </a:rPr>
              <a:t>• телеметрия и видео в реальном времени;</a:t>
            </a:r>
            <a:endParaRPr lang="en-US" sz="2000" dirty="0"/>
          </a:p>
          <a:p>
            <a:pPr marL="0" indent="0">
              <a:buNone/>
            </a:pPr>
            <a:r>
              <a:rPr lang="en-US" sz="2000" dirty="0">
                <a:solidFill>
                  <a:srgbClr val="13213A"/>
                </a:solidFill>
                <a:latin typeface="Arial" pitchFamily="34" charset="0"/>
                <a:ea typeface="Arial" pitchFamily="34" charset="-122"/>
                <a:cs typeface="Arial" pitchFamily="34" charset="-120"/>
              </a:rPr>
              <a:t>• антенное оборудование, направленные трекеры, мачты, ретрансляторы;</a:t>
            </a:r>
            <a:endParaRPr lang="en-US" sz="2000" dirty="0"/>
          </a:p>
          <a:p>
            <a:pPr marL="0" indent="0">
              <a:buNone/>
            </a:pPr>
            <a:r>
              <a:rPr lang="en-US" sz="2000" dirty="0">
                <a:solidFill>
                  <a:srgbClr val="13213A"/>
                </a:solidFill>
                <a:latin typeface="Arial" pitchFamily="34" charset="0"/>
                <a:ea typeface="Arial" pitchFamily="34" charset="-122"/>
                <a:cs typeface="Arial" pitchFamily="34" charset="-120"/>
              </a:rPr>
              <a:t>• автоматические боксы: «дрон-в-коробке» для регулярных миссий.</a:t>
            </a:r>
            <a:endParaRPr lang="en-US" sz="2000" dirty="0"/>
          </a:p>
        </p:txBody>
      </p:sp>
      <p:sp>
        <p:nvSpPr>
          <p:cNvPr id="6" name="Shape 4"/>
          <p:cNvSpPr/>
          <p:nvPr/>
        </p:nvSpPr>
        <p:spPr>
          <a:xfrm>
            <a:off x="6995160" y="1417320"/>
            <a:ext cx="3886200" cy="3337560"/>
          </a:xfrm>
          <a:prstGeom prst="roundRect">
            <a:avLst>
              <a:gd name="adj" fmla="val 2192"/>
            </a:avLst>
          </a:prstGeom>
          <a:solidFill>
            <a:srgbClr val="FFFFFF"/>
          </a:solidFill>
          <a:ln w="12700">
            <a:solidFill>
              <a:srgbClr val="D6E2F2"/>
            </a:solidFill>
            <a:prstDash val="solid"/>
          </a:ln>
        </p:spPr>
      </p:sp>
      <p:sp>
        <p:nvSpPr>
          <p:cNvPr id="7" name="Text 5"/>
          <p:cNvSpPr/>
          <p:nvPr/>
        </p:nvSpPr>
        <p:spPr>
          <a:xfrm>
            <a:off x="7360920" y="1783080"/>
            <a:ext cx="3154680" cy="228600"/>
          </a:xfrm>
          <a:prstGeom prst="rect">
            <a:avLst/>
          </a:prstGeom>
          <a:noFill/>
          <a:ln/>
        </p:spPr>
        <p:txBody>
          <a:bodyPr wrap="square" lIns="0" tIns="0" rIns="0" bIns="0" rtlCol="0" anchor="ctr"/>
          <a:lstStyle/>
          <a:p>
            <a:pPr marL="0" indent="0" algn="ctr">
              <a:buNone/>
            </a:pPr>
            <a:r>
              <a:rPr lang="en-US" sz="1600" b="1" dirty="0">
                <a:solidFill>
                  <a:srgbClr val="2E86DE"/>
                </a:solidFill>
              </a:rPr>
              <a:t>Mission Planner / GCS</a:t>
            </a:r>
            <a:endParaRPr lang="en-US" sz="1600" dirty="0"/>
          </a:p>
        </p:txBody>
      </p:sp>
      <p:sp>
        <p:nvSpPr>
          <p:cNvPr id="8" name="Shape 6"/>
          <p:cNvSpPr/>
          <p:nvPr/>
        </p:nvSpPr>
        <p:spPr>
          <a:xfrm>
            <a:off x="7589520" y="2331720"/>
            <a:ext cx="1325880" cy="329184"/>
          </a:xfrm>
          <a:prstGeom prst="roundRect">
            <a:avLst>
              <a:gd name="adj" fmla="val 22222"/>
            </a:avLst>
          </a:prstGeom>
          <a:solidFill>
            <a:srgbClr val="2E86DE"/>
          </a:solidFill>
          <a:ln w="12700">
            <a:solidFill>
              <a:srgbClr val="333333">
                <a:alpha val="0"/>
              </a:srgbClr>
            </a:solidFill>
            <a:prstDash val="solid"/>
          </a:ln>
        </p:spPr>
      </p:sp>
      <p:sp>
        <p:nvSpPr>
          <p:cNvPr id="9" name="Text 7"/>
          <p:cNvSpPr/>
          <p:nvPr/>
        </p:nvSpPr>
        <p:spPr>
          <a:xfrm>
            <a:off x="7589520" y="2395728"/>
            <a:ext cx="1325880"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Калибровка</a:t>
            </a:r>
            <a:endParaRPr lang="en-US" sz="950" dirty="0"/>
          </a:p>
        </p:txBody>
      </p:sp>
      <p:sp>
        <p:nvSpPr>
          <p:cNvPr id="10" name="Shape 8"/>
          <p:cNvSpPr/>
          <p:nvPr/>
        </p:nvSpPr>
        <p:spPr>
          <a:xfrm>
            <a:off x="7589520" y="2880360"/>
            <a:ext cx="1325880" cy="329184"/>
          </a:xfrm>
          <a:prstGeom prst="roundRect">
            <a:avLst>
              <a:gd name="adj" fmla="val 22222"/>
            </a:avLst>
          </a:prstGeom>
          <a:solidFill>
            <a:srgbClr val="38BDF8"/>
          </a:solidFill>
          <a:ln w="12700">
            <a:solidFill>
              <a:srgbClr val="333333">
                <a:alpha val="0"/>
              </a:srgbClr>
            </a:solidFill>
            <a:prstDash val="solid"/>
          </a:ln>
        </p:spPr>
      </p:sp>
      <p:sp>
        <p:nvSpPr>
          <p:cNvPr id="11" name="Text 9"/>
          <p:cNvSpPr/>
          <p:nvPr/>
        </p:nvSpPr>
        <p:spPr>
          <a:xfrm>
            <a:off x="7589520" y="2944368"/>
            <a:ext cx="1325880"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План миссии</a:t>
            </a:r>
            <a:endParaRPr lang="en-US" sz="950" dirty="0"/>
          </a:p>
        </p:txBody>
      </p:sp>
      <p:sp>
        <p:nvSpPr>
          <p:cNvPr id="12" name="Shape 10"/>
          <p:cNvSpPr/>
          <p:nvPr/>
        </p:nvSpPr>
        <p:spPr>
          <a:xfrm>
            <a:off x="7589520" y="3429000"/>
            <a:ext cx="1325880" cy="329184"/>
          </a:xfrm>
          <a:prstGeom prst="roundRect">
            <a:avLst>
              <a:gd name="adj" fmla="val 22222"/>
            </a:avLst>
          </a:prstGeom>
          <a:solidFill>
            <a:srgbClr val="2FB344"/>
          </a:solidFill>
          <a:ln w="12700">
            <a:solidFill>
              <a:srgbClr val="333333">
                <a:alpha val="0"/>
              </a:srgbClr>
            </a:solidFill>
            <a:prstDash val="solid"/>
          </a:ln>
        </p:spPr>
      </p:sp>
      <p:sp>
        <p:nvSpPr>
          <p:cNvPr id="13" name="Text 11"/>
          <p:cNvSpPr/>
          <p:nvPr/>
        </p:nvSpPr>
        <p:spPr>
          <a:xfrm>
            <a:off x="7589520" y="3493008"/>
            <a:ext cx="1325880"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Контроль полёта</a:t>
            </a:r>
            <a:endParaRPr lang="en-US" sz="950" dirty="0"/>
          </a:p>
        </p:txBody>
      </p:sp>
      <p:sp>
        <p:nvSpPr>
          <p:cNvPr id="14" name="Shape 12"/>
          <p:cNvSpPr/>
          <p:nvPr/>
        </p:nvSpPr>
        <p:spPr>
          <a:xfrm>
            <a:off x="7589520" y="3977640"/>
            <a:ext cx="1325880" cy="329184"/>
          </a:xfrm>
          <a:prstGeom prst="roundRect">
            <a:avLst>
              <a:gd name="adj" fmla="val 22222"/>
            </a:avLst>
          </a:prstGeom>
          <a:solidFill>
            <a:srgbClr val="F59E0B"/>
          </a:solidFill>
          <a:ln w="12700">
            <a:solidFill>
              <a:srgbClr val="333333">
                <a:alpha val="0"/>
              </a:srgbClr>
            </a:solidFill>
            <a:prstDash val="solid"/>
          </a:ln>
        </p:spPr>
      </p:sp>
      <p:sp>
        <p:nvSpPr>
          <p:cNvPr id="15" name="Text 13"/>
          <p:cNvSpPr/>
          <p:nvPr/>
        </p:nvSpPr>
        <p:spPr>
          <a:xfrm>
            <a:off x="7589520" y="4041648"/>
            <a:ext cx="1325880" cy="1645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Загрузка данных</a:t>
            </a:r>
            <a:endParaRPr lang="en-US" sz="950" dirty="0"/>
          </a:p>
        </p:txBody>
      </p:sp>
      <p:sp>
        <p:nvSpPr>
          <p:cNvPr id="16" name="Shape 14"/>
          <p:cNvSpPr/>
          <p:nvPr/>
        </p:nvSpPr>
        <p:spPr>
          <a:xfrm>
            <a:off x="502920" y="6446520"/>
            <a:ext cx="11201400" cy="0"/>
          </a:xfrm>
          <a:prstGeom prst="line">
            <a:avLst/>
          </a:prstGeom>
          <a:noFill/>
          <a:ln w="7620">
            <a:solidFill>
              <a:srgbClr val="B9C7D8">
                <a:alpha val="65000"/>
              </a:srgbClr>
            </a:solidFill>
            <a:prstDash val="solid"/>
          </a:ln>
        </p:spPr>
      </p:sp>
      <p:sp>
        <p:nvSpPr>
          <p:cNvPr id="17" name="Text 15"/>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18" name="Text 16"/>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Сегмент связи: C2, телеметрия, видео</a:t>
            </a:r>
            <a:endParaRPr lang="en-US" sz="3100" dirty="0"/>
          </a:p>
        </p:txBody>
      </p:sp>
      <p:pic>
        <p:nvPicPr>
          <p:cNvPr id="5" name="Image 0" descr="/mnt/data/wide_cinematic_technical_illustration_concept_ar_batch_5.png"/>
          <p:cNvPicPr>
            <a:picLocks noChangeAspect="1"/>
          </p:cNvPicPr>
          <p:nvPr/>
        </p:nvPicPr>
        <p:blipFill>
          <a:blip r:embed="rId3"/>
          <a:srcRect l="16660" r="16660"/>
          <a:stretch/>
        </p:blipFill>
        <p:spPr>
          <a:xfrm>
            <a:off x="640080" y="1115568"/>
            <a:ext cx="4983480" cy="4206240"/>
          </a:xfrm>
          <a:prstGeom prst="rect">
            <a:avLst/>
          </a:prstGeom>
        </p:spPr>
      </p:pic>
      <p:sp>
        <p:nvSpPr>
          <p:cNvPr id="6" name="Shape 3"/>
          <p:cNvSpPr/>
          <p:nvPr/>
        </p:nvSpPr>
        <p:spPr>
          <a:xfrm>
            <a:off x="6080760" y="1234440"/>
            <a:ext cx="5074920" cy="896112"/>
          </a:xfrm>
          <a:prstGeom prst="roundRect">
            <a:avLst>
              <a:gd name="adj" fmla="val 8163"/>
            </a:avLst>
          </a:prstGeom>
          <a:solidFill>
            <a:srgbClr val="FFFFFF"/>
          </a:solidFill>
          <a:ln w="12700">
            <a:solidFill>
              <a:srgbClr val="D6E2F2"/>
            </a:solidFill>
            <a:prstDash val="solid"/>
          </a:ln>
        </p:spPr>
      </p:sp>
      <p:sp>
        <p:nvSpPr>
          <p:cNvPr id="7" name="Shape 4"/>
          <p:cNvSpPr/>
          <p:nvPr/>
        </p:nvSpPr>
        <p:spPr>
          <a:xfrm>
            <a:off x="6080760" y="1234440"/>
            <a:ext cx="73152" cy="896112"/>
          </a:xfrm>
          <a:prstGeom prst="rect">
            <a:avLst/>
          </a:prstGeom>
          <a:solidFill>
            <a:srgbClr val="2E86DE"/>
          </a:solidFill>
          <a:ln w="12700">
            <a:solidFill>
              <a:srgbClr val="333333">
                <a:alpha val="0"/>
              </a:srgbClr>
            </a:solidFill>
            <a:prstDash val="solid"/>
          </a:ln>
        </p:spPr>
      </p:sp>
      <p:sp>
        <p:nvSpPr>
          <p:cNvPr id="8" name="Text 5"/>
          <p:cNvSpPr/>
          <p:nvPr/>
        </p:nvSpPr>
        <p:spPr>
          <a:xfrm>
            <a:off x="6309360" y="1399032"/>
            <a:ext cx="466344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Командно-телеметрический канал C2</a:t>
            </a:r>
            <a:endParaRPr lang="en-US" sz="1600" dirty="0"/>
          </a:p>
        </p:txBody>
      </p:sp>
      <p:sp>
        <p:nvSpPr>
          <p:cNvPr id="9" name="Text 6"/>
          <p:cNvSpPr/>
          <p:nvPr/>
        </p:nvSpPr>
        <p:spPr>
          <a:xfrm>
            <a:off x="6309360" y="1801368"/>
            <a:ext cx="4663440" cy="256032"/>
          </a:xfrm>
          <a:prstGeom prst="rect">
            <a:avLst/>
          </a:prstGeom>
          <a:noFill/>
          <a:ln/>
        </p:spPr>
        <p:txBody>
          <a:bodyPr wrap="square" lIns="254" tIns="254" rIns="254" bIns="254" rtlCol="0" anchor="t">
            <a:normAutofit fontScale="77500" lnSpcReduction="20000"/>
          </a:bodyPr>
          <a:lstStyle/>
          <a:p>
            <a:pPr marL="0" indent="0">
              <a:buNone/>
            </a:pPr>
            <a:r>
              <a:rPr lang="en-US" sz="1350" dirty="0">
                <a:solidFill>
                  <a:srgbClr val="13213A"/>
                </a:solidFill>
              </a:rPr>
              <a:t>uplink: команды управления; downlink: координаты, скорость, батарея, режимы, предупреждения.</a:t>
            </a:r>
            <a:endParaRPr lang="en-US" sz="1350" dirty="0"/>
          </a:p>
        </p:txBody>
      </p:sp>
      <p:sp>
        <p:nvSpPr>
          <p:cNvPr id="10" name="Shape 7"/>
          <p:cNvSpPr/>
          <p:nvPr/>
        </p:nvSpPr>
        <p:spPr>
          <a:xfrm>
            <a:off x="6080760" y="2359152"/>
            <a:ext cx="5074920" cy="896112"/>
          </a:xfrm>
          <a:prstGeom prst="roundRect">
            <a:avLst>
              <a:gd name="adj" fmla="val 8163"/>
            </a:avLst>
          </a:prstGeom>
          <a:solidFill>
            <a:srgbClr val="FFFFFF"/>
          </a:solidFill>
          <a:ln w="12700">
            <a:solidFill>
              <a:srgbClr val="D6E2F2"/>
            </a:solidFill>
            <a:prstDash val="solid"/>
          </a:ln>
        </p:spPr>
      </p:sp>
      <p:sp>
        <p:nvSpPr>
          <p:cNvPr id="11" name="Shape 8"/>
          <p:cNvSpPr/>
          <p:nvPr/>
        </p:nvSpPr>
        <p:spPr>
          <a:xfrm>
            <a:off x="6080760" y="2359152"/>
            <a:ext cx="73152" cy="896112"/>
          </a:xfrm>
          <a:prstGeom prst="rect">
            <a:avLst/>
          </a:prstGeom>
          <a:solidFill>
            <a:srgbClr val="38BDF8"/>
          </a:solidFill>
          <a:ln w="12700">
            <a:solidFill>
              <a:srgbClr val="333333">
                <a:alpha val="0"/>
              </a:srgbClr>
            </a:solidFill>
            <a:prstDash val="solid"/>
          </a:ln>
        </p:spPr>
      </p:sp>
      <p:sp>
        <p:nvSpPr>
          <p:cNvPr id="12" name="Text 9"/>
          <p:cNvSpPr/>
          <p:nvPr/>
        </p:nvSpPr>
        <p:spPr>
          <a:xfrm>
            <a:off x="6309360" y="2523744"/>
            <a:ext cx="466344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Канал полезной нагрузки</a:t>
            </a:r>
            <a:endParaRPr lang="en-US" sz="1600" dirty="0"/>
          </a:p>
        </p:txBody>
      </p:sp>
      <p:sp>
        <p:nvSpPr>
          <p:cNvPr id="13" name="Text 10"/>
          <p:cNvSpPr/>
          <p:nvPr/>
        </p:nvSpPr>
        <p:spPr>
          <a:xfrm>
            <a:off x="6309360" y="2926080"/>
            <a:ext cx="4663440" cy="256032"/>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HD-видео, фото, LiDAR, спектральные и сенсорные данные.</a:t>
            </a:r>
            <a:endParaRPr lang="en-US" sz="1350" dirty="0"/>
          </a:p>
        </p:txBody>
      </p:sp>
      <p:sp>
        <p:nvSpPr>
          <p:cNvPr id="14" name="Shape 11"/>
          <p:cNvSpPr/>
          <p:nvPr/>
        </p:nvSpPr>
        <p:spPr>
          <a:xfrm>
            <a:off x="6080760" y="3493008"/>
            <a:ext cx="5074920" cy="896112"/>
          </a:xfrm>
          <a:prstGeom prst="roundRect">
            <a:avLst>
              <a:gd name="adj" fmla="val 8163"/>
            </a:avLst>
          </a:prstGeom>
          <a:solidFill>
            <a:srgbClr val="FFFFFF"/>
          </a:solidFill>
          <a:ln w="12700">
            <a:solidFill>
              <a:srgbClr val="D6E2F2"/>
            </a:solidFill>
            <a:prstDash val="solid"/>
          </a:ln>
        </p:spPr>
      </p:sp>
      <p:sp>
        <p:nvSpPr>
          <p:cNvPr id="15" name="Shape 12"/>
          <p:cNvSpPr/>
          <p:nvPr/>
        </p:nvSpPr>
        <p:spPr>
          <a:xfrm>
            <a:off x="6080760" y="3493008"/>
            <a:ext cx="73152" cy="896112"/>
          </a:xfrm>
          <a:prstGeom prst="rect">
            <a:avLst/>
          </a:prstGeom>
          <a:solidFill>
            <a:srgbClr val="2FB344"/>
          </a:solidFill>
          <a:ln w="12700">
            <a:solidFill>
              <a:srgbClr val="333333">
                <a:alpha val="0"/>
              </a:srgbClr>
            </a:solidFill>
            <a:prstDash val="solid"/>
          </a:ln>
        </p:spPr>
      </p:sp>
      <p:sp>
        <p:nvSpPr>
          <p:cNvPr id="16" name="Text 13"/>
          <p:cNvSpPr/>
          <p:nvPr/>
        </p:nvSpPr>
        <p:spPr>
          <a:xfrm>
            <a:off x="6309360" y="3657600"/>
            <a:ext cx="466344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Радио, сотовая и спутниковая связь</a:t>
            </a:r>
            <a:endParaRPr lang="en-US" sz="1600" dirty="0"/>
          </a:p>
        </p:txBody>
      </p:sp>
      <p:sp>
        <p:nvSpPr>
          <p:cNvPr id="17" name="Text 14"/>
          <p:cNvSpPr/>
          <p:nvPr/>
        </p:nvSpPr>
        <p:spPr>
          <a:xfrm>
            <a:off x="6309360" y="4059936"/>
            <a:ext cx="4663440" cy="256032"/>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433/868/915 МГц, 2.4/5.8 ГГц, 4G/5G, Satcom для BLOS-миссий.</a:t>
            </a:r>
            <a:endParaRPr lang="en-US" sz="1350" dirty="0"/>
          </a:p>
        </p:txBody>
      </p:sp>
      <p:sp>
        <p:nvSpPr>
          <p:cNvPr id="18" name="Shape 15"/>
          <p:cNvSpPr/>
          <p:nvPr/>
        </p:nvSpPr>
        <p:spPr>
          <a:xfrm>
            <a:off x="6263640" y="4828032"/>
            <a:ext cx="4681728" cy="475488"/>
          </a:xfrm>
          <a:prstGeom prst="roundRect">
            <a:avLst>
              <a:gd name="adj" fmla="val 9615"/>
            </a:avLst>
          </a:prstGeom>
          <a:solidFill>
            <a:srgbClr val="EF4444">
              <a:alpha val="92000"/>
            </a:srgbClr>
          </a:solidFill>
          <a:ln w="12700">
            <a:solidFill>
              <a:srgbClr val="333333">
                <a:alpha val="0"/>
              </a:srgbClr>
            </a:solidFill>
            <a:prstDash val="solid"/>
          </a:ln>
        </p:spPr>
      </p:sp>
      <p:sp>
        <p:nvSpPr>
          <p:cNvPr id="19" name="Text 16"/>
          <p:cNvSpPr/>
          <p:nvPr/>
        </p:nvSpPr>
        <p:spPr>
          <a:xfrm>
            <a:off x="6428232" y="4937760"/>
            <a:ext cx="4352544" cy="292608"/>
          </a:xfrm>
          <a:prstGeom prst="rect">
            <a:avLst/>
          </a:prstGeom>
          <a:noFill/>
          <a:ln/>
        </p:spPr>
        <p:txBody>
          <a:bodyPr wrap="square" lIns="0" tIns="0" rIns="0" bIns="0" rtlCol="0" anchor="ctr">
            <a:normAutofit fontScale="77500" lnSpcReduction="20000"/>
          </a:bodyPr>
          <a:lstStyle/>
          <a:p>
            <a:pPr marL="0" indent="0" algn="ctr">
              <a:buNone/>
            </a:pPr>
            <a:r>
              <a:rPr lang="en-US" sz="1500" b="1" dirty="0">
                <a:solidFill>
                  <a:srgbClr val="FFFFFF"/>
                </a:solidFill>
              </a:rPr>
              <a:t>Риски: помехи, потеря связи, многолучёвость, глушение и спуфинг GNSS → failsafe/RTH/FTS</a:t>
            </a:r>
            <a:endParaRPr lang="en-US" sz="1500" dirty="0"/>
          </a:p>
        </p:txBody>
      </p:sp>
      <p:sp>
        <p:nvSpPr>
          <p:cNvPr id="20" name="Shape 17"/>
          <p:cNvSpPr/>
          <p:nvPr/>
        </p:nvSpPr>
        <p:spPr>
          <a:xfrm>
            <a:off x="502920" y="6446520"/>
            <a:ext cx="11201400" cy="0"/>
          </a:xfrm>
          <a:prstGeom prst="line">
            <a:avLst/>
          </a:prstGeom>
          <a:noFill/>
          <a:ln w="7620">
            <a:solidFill>
              <a:srgbClr val="B9C7D8">
                <a:alpha val="65000"/>
              </a:srgbClr>
            </a:solidFill>
            <a:prstDash val="solid"/>
          </a:ln>
        </p:spPr>
      </p:sp>
      <p:sp>
        <p:nvSpPr>
          <p:cNvPr id="21" name="Text 18"/>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2" name="Text 19"/>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АРХИТЕКТУРА</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ПО, данные и автономность</a:t>
            </a:r>
            <a:endParaRPr lang="en-US" sz="3100" dirty="0"/>
          </a:p>
        </p:txBody>
      </p:sp>
      <p:sp>
        <p:nvSpPr>
          <p:cNvPr id="5" name="Shape 3"/>
          <p:cNvSpPr/>
          <p:nvPr/>
        </p:nvSpPr>
        <p:spPr>
          <a:xfrm>
            <a:off x="749808" y="1417320"/>
            <a:ext cx="2331720" cy="1234440"/>
          </a:xfrm>
          <a:prstGeom prst="roundRect">
            <a:avLst>
              <a:gd name="adj" fmla="val 5926"/>
            </a:avLst>
          </a:prstGeom>
          <a:solidFill>
            <a:srgbClr val="FFFFFF"/>
          </a:solidFill>
          <a:ln w="12700">
            <a:solidFill>
              <a:srgbClr val="D6E2F2"/>
            </a:solidFill>
            <a:prstDash val="solid"/>
          </a:ln>
        </p:spPr>
      </p:sp>
      <p:sp>
        <p:nvSpPr>
          <p:cNvPr id="6" name="Shape 4"/>
          <p:cNvSpPr/>
          <p:nvPr/>
        </p:nvSpPr>
        <p:spPr>
          <a:xfrm>
            <a:off x="749808" y="1417320"/>
            <a:ext cx="73152" cy="1234440"/>
          </a:xfrm>
          <a:prstGeom prst="rect">
            <a:avLst/>
          </a:prstGeom>
          <a:solidFill>
            <a:srgbClr val="2E86DE"/>
          </a:solidFill>
          <a:ln w="12700">
            <a:solidFill>
              <a:srgbClr val="333333">
                <a:alpha val="0"/>
              </a:srgbClr>
            </a:solidFill>
            <a:prstDash val="solid"/>
          </a:ln>
        </p:spPr>
      </p:sp>
      <p:sp>
        <p:nvSpPr>
          <p:cNvPr id="7" name="Text 5"/>
          <p:cNvSpPr/>
          <p:nvPr/>
        </p:nvSpPr>
        <p:spPr>
          <a:xfrm>
            <a:off x="978408" y="1581912"/>
            <a:ext cx="192024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Планирование</a:t>
            </a:r>
            <a:endParaRPr lang="en-US" sz="1600" dirty="0"/>
          </a:p>
        </p:txBody>
      </p:sp>
      <p:sp>
        <p:nvSpPr>
          <p:cNvPr id="8" name="Text 6"/>
          <p:cNvSpPr/>
          <p:nvPr/>
        </p:nvSpPr>
        <p:spPr>
          <a:xfrm>
            <a:off x="978408" y="1984248"/>
            <a:ext cx="1920240" cy="59436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маршрут, высота, точки интереса</a:t>
            </a:r>
            <a:endParaRPr lang="en-US" sz="1350" dirty="0"/>
          </a:p>
        </p:txBody>
      </p:sp>
      <p:sp>
        <p:nvSpPr>
          <p:cNvPr id="9" name="Shape 7"/>
          <p:cNvSpPr/>
          <p:nvPr/>
        </p:nvSpPr>
        <p:spPr>
          <a:xfrm>
            <a:off x="3081528" y="2029968"/>
            <a:ext cx="457200" cy="0"/>
          </a:xfrm>
          <a:prstGeom prst="line">
            <a:avLst/>
          </a:prstGeom>
          <a:noFill/>
          <a:ln w="13970">
            <a:solidFill>
              <a:srgbClr val="B9C7D8"/>
            </a:solidFill>
            <a:prstDash val="solid"/>
            <a:tailEnd type="triangle"/>
          </a:ln>
        </p:spPr>
      </p:sp>
      <p:sp>
        <p:nvSpPr>
          <p:cNvPr id="10" name="Shape 8"/>
          <p:cNvSpPr/>
          <p:nvPr/>
        </p:nvSpPr>
        <p:spPr>
          <a:xfrm>
            <a:off x="3584448" y="1417320"/>
            <a:ext cx="2331720" cy="1234440"/>
          </a:xfrm>
          <a:prstGeom prst="roundRect">
            <a:avLst>
              <a:gd name="adj" fmla="val 5926"/>
            </a:avLst>
          </a:prstGeom>
          <a:solidFill>
            <a:srgbClr val="FFFFFF"/>
          </a:solidFill>
          <a:ln w="12700">
            <a:solidFill>
              <a:srgbClr val="D6E2F2"/>
            </a:solidFill>
            <a:prstDash val="solid"/>
          </a:ln>
        </p:spPr>
      </p:sp>
      <p:sp>
        <p:nvSpPr>
          <p:cNvPr id="11" name="Shape 9"/>
          <p:cNvSpPr/>
          <p:nvPr/>
        </p:nvSpPr>
        <p:spPr>
          <a:xfrm>
            <a:off x="3584448" y="1417320"/>
            <a:ext cx="73152" cy="1234440"/>
          </a:xfrm>
          <a:prstGeom prst="rect">
            <a:avLst/>
          </a:prstGeom>
          <a:solidFill>
            <a:srgbClr val="38BDF8"/>
          </a:solidFill>
          <a:ln w="12700">
            <a:solidFill>
              <a:srgbClr val="333333">
                <a:alpha val="0"/>
              </a:srgbClr>
            </a:solidFill>
            <a:prstDash val="solid"/>
          </a:ln>
        </p:spPr>
      </p:sp>
      <p:sp>
        <p:nvSpPr>
          <p:cNvPr id="12" name="Text 10"/>
          <p:cNvSpPr/>
          <p:nvPr/>
        </p:nvSpPr>
        <p:spPr>
          <a:xfrm>
            <a:off x="3813048" y="1581912"/>
            <a:ext cx="192024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Полёт</a:t>
            </a:r>
            <a:endParaRPr lang="en-US" sz="1600" dirty="0"/>
          </a:p>
        </p:txBody>
      </p:sp>
      <p:sp>
        <p:nvSpPr>
          <p:cNvPr id="13" name="Text 11"/>
          <p:cNvSpPr/>
          <p:nvPr/>
        </p:nvSpPr>
        <p:spPr>
          <a:xfrm>
            <a:off x="3813048" y="1984248"/>
            <a:ext cx="1920240" cy="59436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сбор данных и телеметрии</a:t>
            </a:r>
            <a:endParaRPr lang="en-US" sz="1350" dirty="0"/>
          </a:p>
        </p:txBody>
      </p:sp>
      <p:sp>
        <p:nvSpPr>
          <p:cNvPr id="14" name="Shape 12"/>
          <p:cNvSpPr/>
          <p:nvPr/>
        </p:nvSpPr>
        <p:spPr>
          <a:xfrm>
            <a:off x="5916168" y="2029968"/>
            <a:ext cx="457200" cy="0"/>
          </a:xfrm>
          <a:prstGeom prst="line">
            <a:avLst/>
          </a:prstGeom>
          <a:noFill/>
          <a:ln w="13970">
            <a:solidFill>
              <a:srgbClr val="B9C7D8"/>
            </a:solidFill>
            <a:prstDash val="solid"/>
            <a:tailEnd type="triangle"/>
          </a:ln>
        </p:spPr>
      </p:sp>
      <p:sp>
        <p:nvSpPr>
          <p:cNvPr id="15" name="Shape 13"/>
          <p:cNvSpPr/>
          <p:nvPr/>
        </p:nvSpPr>
        <p:spPr>
          <a:xfrm>
            <a:off x="6419088" y="1417320"/>
            <a:ext cx="2331720" cy="1234440"/>
          </a:xfrm>
          <a:prstGeom prst="roundRect">
            <a:avLst>
              <a:gd name="adj" fmla="val 5926"/>
            </a:avLst>
          </a:prstGeom>
          <a:solidFill>
            <a:srgbClr val="FFFFFF"/>
          </a:solidFill>
          <a:ln w="12700">
            <a:solidFill>
              <a:srgbClr val="D6E2F2"/>
            </a:solidFill>
            <a:prstDash val="solid"/>
          </a:ln>
        </p:spPr>
      </p:sp>
      <p:sp>
        <p:nvSpPr>
          <p:cNvPr id="16" name="Shape 14"/>
          <p:cNvSpPr/>
          <p:nvPr/>
        </p:nvSpPr>
        <p:spPr>
          <a:xfrm>
            <a:off x="6419088" y="1417320"/>
            <a:ext cx="73152" cy="1234440"/>
          </a:xfrm>
          <a:prstGeom prst="rect">
            <a:avLst/>
          </a:prstGeom>
          <a:solidFill>
            <a:srgbClr val="F59E0B"/>
          </a:solidFill>
          <a:ln w="12700">
            <a:solidFill>
              <a:srgbClr val="333333">
                <a:alpha val="0"/>
              </a:srgbClr>
            </a:solidFill>
            <a:prstDash val="solid"/>
          </a:ln>
        </p:spPr>
      </p:sp>
      <p:sp>
        <p:nvSpPr>
          <p:cNvPr id="17" name="Text 15"/>
          <p:cNvSpPr/>
          <p:nvPr/>
        </p:nvSpPr>
        <p:spPr>
          <a:xfrm>
            <a:off x="6647688" y="1581912"/>
            <a:ext cx="1920240" cy="274320"/>
          </a:xfrm>
          <a:prstGeom prst="rect">
            <a:avLst/>
          </a:prstGeom>
          <a:noFill/>
          <a:ln/>
        </p:spPr>
        <p:txBody>
          <a:bodyPr wrap="square" lIns="0" tIns="0" rIns="0" bIns="0" rtlCol="0" anchor="ctr">
            <a:normAutofit fontScale="92500"/>
          </a:bodyPr>
          <a:lstStyle/>
          <a:p>
            <a:pPr marL="0" indent="0">
              <a:buNone/>
            </a:pPr>
            <a:r>
              <a:rPr lang="en-US" sz="1600" b="1" dirty="0">
                <a:solidFill>
                  <a:srgbClr val="F59E0B"/>
                </a:solidFill>
              </a:rPr>
              <a:t>Передача/хранение</a:t>
            </a:r>
            <a:endParaRPr lang="en-US" sz="1600" dirty="0"/>
          </a:p>
        </p:txBody>
      </p:sp>
      <p:sp>
        <p:nvSpPr>
          <p:cNvPr id="18" name="Text 16"/>
          <p:cNvSpPr/>
          <p:nvPr/>
        </p:nvSpPr>
        <p:spPr>
          <a:xfrm>
            <a:off x="6647688" y="1984248"/>
            <a:ext cx="1920240" cy="59436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канал связи, карта памяти, облако</a:t>
            </a:r>
            <a:endParaRPr lang="en-US" sz="1350" dirty="0"/>
          </a:p>
        </p:txBody>
      </p:sp>
      <p:sp>
        <p:nvSpPr>
          <p:cNvPr id="19" name="Shape 17"/>
          <p:cNvSpPr/>
          <p:nvPr/>
        </p:nvSpPr>
        <p:spPr>
          <a:xfrm>
            <a:off x="8750808" y="2029968"/>
            <a:ext cx="457200" cy="0"/>
          </a:xfrm>
          <a:prstGeom prst="line">
            <a:avLst/>
          </a:prstGeom>
          <a:noFill/>
          <a:ln w="13970">
            <a:solidFill>
              <a:srgbClr val="B9C7D8"/>
            </a:solidFill>
            <a:prstDash val="solid"/>
            <a:tailEnd type="triangle"/>
          </a:ln>
        </p:spPr>
      </p:sp>
      <p:sp>
        <p:nvSpPr>
          <p:cNvPr id="20" name="Shape 18"/>
          <p:cNvSpPr/>
          <p:nvPr/>
        </p:nvSpPr>
        <p:spPr>
          <a:xfrm>
            <a:off x="9253728" y="1417320"/>
            <a:ext cx="2331720" cy="1234440"/>
          </a:xfrm>
          <a:prstGeom prst="roundRect">
            <a:avLst>
              <a:gd name="adj" fmla="val 5926"/>
            </a:avLst>
          </a:prstGeom>
          <a:solidFill>
            <a:srgbClr val="FFFFFF"/>
          </a:solidFill>
          <a:ln w="12700">
            <a:solidFill>
              <a:srgbClr val="D6E2F2"/>
            </a:solidFill>
            <a:prstDash val="solid"/>
          </a:ln>
        </p:spPr>
      </p:sp>
      <p:sp>
        <p:nvSpPr>
          <p:cNvPr id="21" name="Shape 19"/>
          <p:cNvSpPr/>
          <p:nvPr/>
        </p:nvSpPr>
        <p:spPr>
          <a:xfrm>
            <a:off x="9253728" y="1417320"/>
            <a:ext cx="73152" cy="1234440"/>
          </a:xfrm>
          <a:prstGeom prst="rect">
            <a:avLst/>
          </a:prstGeom>
          <a:solidFill>
            <a:srgbClr val="2FB344"/>
          </a:solidFill>
          <a:ln w="12700">
            <a:solidFill>
              <a:srgbClr val="333333">
                <a:alpha val="0"/>
              </a:srgbClr>
            </a:solidFill>
            <a:prstDash val="solid"/>
          </a:ln>
        </p:spPr>
      </p:sp>
      <p:sp>
        <p:nvSpPr>
          <p:cNvPr id="22" name="Text 20"/>
          <p:cNvSpPr/>
          <p:nvPr/>
        </p:nvSpPr>
        <p:spPr>
          <a:xfrm>
            <a:off x="9482328" y="1581912"/>
            <a:ext cx="192024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Обработка</a:t>
            </a:r>
            <a:endParaRPr lang="en-US" sz="1600" dirty="0"/>
          </a:p>
        </p:txBody>
      </p:sp>
      <p:sp>
        <p:nvSpPr>
          <p:cNvPr id="23" name="Text 21"/>
          <p:cNvSpPr/>
          <p:nvPr/>
        </p:nvSpPr>
        <p:spPr>
          <a:xfrm>
            <a:off x="9482328" y="1984248"/>
            <a:ext cx="1920240" cy="59436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ортофото, 3D-модель, индексы, отчёт</a:t>
            </a:r>
            <a:endParaRPr lang="en-US" sz="1350" dirty="0"/>
          </a:p>
        </p:txBody>
      </p:sp>
      <p:sp>
        <p:nvSpPr>
          <p:cNvPr id="24" name="Shape 22"/>
          <p:cNvSpPr/>
          <p:nvPr/>
        </p:nvSpPr>
        <p:spPr>
          <a:xfrm>
            <a:off x="1051560" y="3977640"/>
            <a:ext cx="9966960" cy="1097280"/>
          </a:xfrm>
          <a:prstGeom prst="roundRect">
            <a:avLst>
              <a:gd name="adj" fmla="val 6667"/>
            </a:avLst>
          </a:prstGeom>
          <a:solidFill>
            <a:srgbClr val="E9F2FF"/>
          </a:solidFill>
          <a:ln w="12700">
            <a:solidFill>
              <a:srgbClr val="C8DAEF"/>
            </a:solidFill>
            <a:prstDash val="solid"/>
          </a:ln>
        </p:spPr>
      </p:sp>
      <p:sp>
        <p:nvSpPr>
          <p:cNvPr id="25" name="Text 23"/>
          <p:cNvSpPr/>
          <p:nvPr/>
        </p:nvSpPr>
        <p:spPr>
          <a:xfrm>
            <a:off x="1325880" y="4187952"/>
            <a:ext cx="1828800" cy="228600"/>
          </a:xfrm>
          <a:prstGeom prst="rect">
            <a:avLst/>
          </a:prstGeom>
          <a:noFill/>
          <a:ln/>
        </p:spPr>
        <p:txBody>
          <a:bodyPr wrap="square" lIns="0" tIns="0" rIns="0" bIns="0" rtlCol="0" anchor="ctr"/>
          <a:lstStyle/>
          <a:p>
            <a:pPr marL="0" indent="0">
              <a:buNone/>
            </a:pPr>
            <a:r>
              <a:rPr lang="en-US" sz="1600" b="1" dirty="0">
                <a:solidFill>
                  <a:srgbClr val="2E86DE"/>
                </a:solidFill>
              </a:rPr>
              <a:t>Автономность и ИИ</a:t>
            </a:r>
            <a:endParaRPr lang="en-US" sz="1600" dirty="0"/>
          </a:p>
        </p:txBody>
      </p:sp>
      <p:sp>
        <p:nvSpPr>
          <p:cNvPr id="26" name="Text 24"/>
          <p:cNvSpPr/>
          <p:nvPr/>
        </p:nvSpPr>
        <p:spPr>
          <a:xfrm>
            <a:off x="3611880" y="4160520"/>
            <a:ext cx="6995160" cy="384048"/>
          </a:xfrm>
          <a:prstGeom prst="rect">
            <a:avLst/>
          </a:prstGeom>
          <a:noFill/>
          <a:ln/>
        </p:spPr>
        <p:txBody>
          <a:bodyPr wrap="square" lIns="0" tIns="0" rIns="0" bIns="0" rtlCol="0" anchor="ctr">
            <a:normAutofit fontScale="92500" lnSpcReduction="20000"/>
          </a:bodyPr>
          <a:lstStyle/>
          <a:p>
            <a:pPr marL="0" indent="0">
              <a:buNone/>
            </a:pPr>
            <a:r>
              <a:rPr lang="en-US" sz="1580" dirty="0">
                <a:solidFill>
                  <a:srgbClr val="13213A"/>
                </a:solidFill>
              </a:rPr>
              <a:t>SLAM, компьютерное зрение и edge-вычисления повышают устойчивость навигации при ослаблении GNSS (тоннели, шахты, город); в дыму, тумане и темноте возможности сенсоров ограничены и требуют испытаний.</a:t>
            </a:r>
            <a:endParaRPr lang="en-US" sz="1580" dirty="0"/>
          </a:p>
        </p:txBody>
      </p:sp>
      <p:sp>
        <p:nvSpPr>
          <p:cNvPr id="27" name="Shape 25"/>
          <p:cNvSpPr/>
          <p:nvPr/>
        </p:nvSpPr>
        <p:spPr>
          <a:xfrm>
            <a:off x="502920" y="6446520"/>
            <a:ext cx="11201400" cy="0"/>
          </a:xfrm>
          <a:prstGeom prst="line">
            <a:avLst/>
          </a:prstGeom>
          <a:noFill/>
          <a:ln w="7620">
            <a:solidFill>
              <a:srgbClr val="B9C7D8">
                <a:alpha val="65000"/>
              </a:srgbClr>
            </a:solidFill>
            <a:prstDash val="solid"/>
          </a:ln>
        </p:spPr>
      </p:sp>
      <p:sp>
        <p:nvSpPr>
          <p:cNvPr id="28" name="Text 26"/>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9" name="Text 27"/>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566928" y="1051560"/>
            <a:ext cx="109728" cy="4389120"/>
          </a:xfrm>
          <a:prstGeom prst="rect">
            <a:avLst/>
          </a:prstGeom>
          <a:solidFill>
            <a:srgbClr val="38BDF8"/>
          </a:solidFill>
          <a:ln w="12700">
            <a:solidFill>
              <a:srgbClr val="333333">
                <a:alpha val="0"/>
              </a:srgbClr>
            </a:solidFill>
            <a:prstDash val="solid"/>
          </a:ln>
        </p:spPr>
      </p:sp>
      <p:sp>
        <p:nvSpPr>
          <p:cNvPr id="3" name="Text 1"/>
          <p:cNvSpPr/>
          <p:nvPr/>
        </p:nvSpPr>
        <p:spPr>
          <a:xfrm>
            <a:off x="868680" y="1874520"/>
            <a:ext cx="9875520" cy="822960"/>
          </a:xfrm>
          <a:prstGeom prst="rect">
            <a:avLst/>
          </a:prstGeom>
          <a:noFill/>
          <a:ln/>
        </p:spPr>
        <p:txBody>
          <a:bodyPr wrap="square" lIns="0" tIns="0" rIns="0" bIns="0" rtlCol="0" anchor="ctr">
            <a:normAutofit/>
          </a:bodyPr>
          <a:lstStyle/>
          <a:p>
            <a:pPr marL="0" indent="0">
              <a:buNone/>
            </a:pPr>
            <a:r>
              <a:rPr lang="en-US" sz="4200" b="1" dirty="0">
                <a:solidFill>
                  <a:srgbClr val="FFFFFF"/>
                </a:solidFill>
              </a:rPr>
              <a:t>Регулирование и безопасность</a:t>
            </a:r>
            <a:endParaRPr lang="en-US" sz="4200" dirty="0"/>
          </a:p>
        </p:txBody>
      </p:sp>
      <p:sp>
        <p:nvSpPr>
          <p:cNvPr id="4" name="Text 2"/>
          <p:cNvSpPr/>
          <p:nvPr/>
        </p:nvSpPr>
        <p:spPr>
          <a:xfrm>
            <a:off x="896112" y="2816352"/>
            <a:ext cx="8961120" cy="411480"/>
          </a:xfrm>
          <a:prstGeom prst="rect">
            <a:avLst/>
          </a:prstGeom>
          <a:noFill/>
          <a:ln/>
        </p:spPr>
        <p:txBody>
          <a:bodyPr wrap="square" lIns="0" tIns="0" rIns="0" bIns="0" rtlCol="0" anchor="ctr">
            <a:normAutofit/>
          </a:bodyPr>
          <a:lstStyle/>
          <a:p>
            <a:pPr marL="0" indent="0">
              <a:buNone/>
            </a:pPr>
            <a:r>
              <a:rPr lang="en-US" sz="2000" dirty="0">
                <a:solidFill>
                  <a:srgbClr val="D9ECFF"/>
                </a:solidFill>
              </a:rPr>
              <a:t>Риск-ориентированный подход, процедуры и перспективы</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БЕЗОПАСНОСТЬ</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Регулирование: от правил к цифровому управлению</a:t>
            </a:r>
            <a:endParaRPr lang="en-US" sz="3100" dirty="0"/>
          </a:p>
        </p:txBody>
      </p:sp>
      <p:sp>
        <p:nvSpPr>
          <p:cNvPr id="5" name="Shape 3"/>
          <p:cNvSpPr/>
          <p:nvPr/>
        </p:nvSpPr>
        <p:spPr>
          <a:xfrm>
            <a:off x="731520" y="1234440"/>
            <a:ext cx="3246120" cy="1417320"/>
          </a:xfrm>
          <a:prstGeom prst="roundRect">
            <a:avLst>
              <a:gd name="adj" fmla="val 5161"/>
            </a:avLst>
          </a:prstGeom>
          <a:solidFill>
            <a:srgbClr val="FFFFFF"/>
          </a:solidFill>
          <a:ln w="12700">
            <a:solidFill>
              <a:srgbClr val="D6E2F2"/>
            </a:solidFill>
            <a:prstDash val="solid"/>
          </a:ln>
        </p:spPr>
      </p:sp>
      <p:sp>
        <p:nvSpPr>
          <p:cNvPr id="6" name="Shape 4"/>
          <p:cNvSpPr/>
          <p:nvPr/>
        </p:nvSpPr>
        <p:spPr>
          <a:xfrm>
            <a:off x="731520" y="1234440"/>
            <a:ext cx="73152" cy="1417320"/>
          </a:xfrm>
          <a:prstGeom prst="rect">
            <a:avLst/>
          </a:prstGeom>
          <a:solidFill>
            <a:srgbClr val="2E86DE"/>
          </a:solidFill>
          <a:ln w="12700">
            <a:solidFill>
              <a:srgbClr val="333333">
                <a:alpha val="0"/>
              </a:srgbClr>
            </a:solidFill>
            <a:prstDash val="solid"/>
          </a:ln>
        </p:spPr>
      </p:sp>
      <p:sp>
        <p:nvSpPr>
          <p:cNvPr id="7" name="Text 5"/>
          <p:cNvSpPr/>
          <p:nvPr/>
        </p:nvSpPr>
        <p:spPr>
          <a:xfrm>
            <a:off x="96012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Базовые принципы</a:t>
            </a:r>
            <a:endParaRPr lang="en-US" sz="1600" dirty="0"/>
          </a:p>
        </p:txBody>
      </p:sp>
      <p:sp>
        <p:nvSpPr>
          <p:cNvPr id="8" name="Text 6"/>
          <p:cNvSpPr/>
          <p:nvPr/>
        </p:nvSpPr>
        <p:spPr>
          <a:xfrm>
            <a:off x="960120" y="1801368"/>
            <a:ext cx="283464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регистрация/учёт, ограничения зон, требования к оператору, высота, полёты над людьми.</a:t>
            </a:r>
            <a:endParaRPr lang="en-US" sz="1350" dirty="0"/>
          </a:p>
        </p:txBody>
      </p:sp>
      <p:sp>
        <p:nvSpPr>
          <p:cNvPr id="9" name="Shape 7"/>
          <p:cNvSpPr/>
          <p:nvPr/>
        </p:nvSpPr>
        <p:spPr>
          <a:xfrm>
            <a:off x="4480560" y="1234440"/>
            <a:ext cx="3246120" cy="1417320"/>
          </a:xfrm>
          <a:prstGeom prst="roundRect">
            <a:avLst>
              <a:gd name="adj" fmla="val 5161"/>
            </a:avLst>
          </a:prstGeom>
          <a:solidFill>
            <a:srgbClr val="FFFFFF"/>
          </a:solidFill>
          <a:ln w="12700">
            <a:solidFill>
              <a:srgbClr val="D6E2F2"/>
            </a:solidFill>
            <a:prstDash val="solid"/>
          </a:ln>
        </p:spPr>
      </p:sp>
      <p:sp>
        <p:nvSpPr>
          <p:cNvPr id="10" name="Shape 8"/>
          <p:cNvSpPr/>
          <p:nvPr/>
        </p:nvSpPr>
        <p:spPr>
          <a:xfrm>
            <a:off x="4480560" y="1234440"/>
            <a:ext cx="73152" cy="1417320"/>
          </a:xfrm>
          <a:prstGeom prst="rect">
            <a:avLst/>
          </a:prstGeom>
          <a:solidFill>
            <a:srgbClr val="38BDF8"/>
          </a:solidFill>
          <a:ln w="12700">
            <a:solidFill>
              <a:srgbClr val="333333">
                <a:alpha val="0"/>
              </a:srgbClr>
            </a:solidFill>
            <a:prstDash val="solid"/>
          </a:ln>
        </p:spPr>
      </p:sp>
      <p:sp>
        <p:nvSpPr>
          <p:cNvPr id="11" name="Text 9"/>
          <p:cNvSpPr/>
          <p:nvPr/>
        </p:nvSpPr>
        <p:spPr>
          <a:xfrm>
            <a:off x="470916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VLOS / BVLOS</a:t>
            </a:r>
            <a:endParaRPr lang="en-US" sz="1600" dirty="0"/>
          </a:p>
        </p:txBody>
      </p:sp>
      <p:sp>
        <p:nvSpPr>
          <p:cNvPr id="12" name="Text 10"/>
          <p:cNvSpPr/>
          <p:nvPr/>
        </p:nvSpPr>
        <p:spPr>
          <a:xfrm>
            <a:off x="4709160" y="1801368"/>
            <a:ext cx="2834640" cy="777240"/>
          </a:xfrm>
          <a:prstGeom prst="rect">
            <a:avLst/>
          </a:prstGeom>
          <a:noFill/>
          <a:ln/>
        </p:spPr>
        <p:txBody>
          <a:bodyPr wrap="square" lIns="254" tIns="254" rIns="254" bIns="254" rtlCol="0" anchor="t">
            <a:normAutofit lnSpcReduction="10000"/>
          </a:bodyPr>
          <a:lstStyle/>
          <a:p>
            <a:pPr marL="0" indent="0">
              <a:buNone/>
            </a:pPr>
            <a:r>
              <a:rPr lang="en-US" sz="1350" dirty="0">
                <a:solidFill>
                  <a:srgbClr val="13213A"/>
                </a:solidFill>
              </a:rPr>
              <a:t>в пределах видимости и за её пределами: чем сложнее операция, тем выше требования к безопасности.</a:t>
            </a:r>
            <a:endParaRPr lang="en-US" sz="1350" dirty="0"/>
          </a:p>
        </p:txBody>
      </p:sp>
      <p:sp>
        <p:nvSpPr>
          <p:cNvPr id="13" name="Shape 11"/>
          <p:cNvSpPr/>
          <p:nvPr/>
        </p:nvSpPr>
        <p:spPr>
          <a:xfrm>
            <a:off x="8229600" y="1234440"/>
            <a:ext cx="3246120" cy="1417320"/>
          </a:xfrm>
          <a:prstGeom prst="roundRect">
            <a:avLst>
              <a:gd name="adj" fmla="val 5161"/>
            </a:avLst>
          </a:prstGeom>
          <a:solidFill>
            <a:srgbClr val="FFFFFF"/>
          </a:solidFill>
          <a:ln w="12700">
            <a:solidFill>
              <a:srgbClr val="D6E2F2"/>
            </a:solidFill>
            <a:prstDash val="solid"/>
          </a:ln>
        </p:spPr>
      </p:sp>
      <p:sp>
        <p:nvSpPr>
          <p:cNvPr id="14" name="Shape 12"/>
          <p:cNvSpPr/>
          <p:nvPr/>
        </p:nvSpPr>
        <p:spPr>
          <a:xfrm>
            <a:off x="8229600" y="1234440"/>
            <a:ext cx="73152" cy="1417320"/>
          </a:xfrm>
          <a:prstGeom prst="rect">
            <a:avLst/>
          </a:prstGeom>
          <a:solidFill>
            <a:srgbClr val="2FB344"/>
          </a:solidFill>
          <a:ln w="12700">
            <a:solidFill>
              <a:srgbClr val="333333">
                <a:alpha val="0"/>
              </a:srgbClr>
            </a:solidFill>
            <a:prstDash val="solid"/>
          </a:ln>
        </p:spPr>
      </p:sp>
      <p:sp>
        <p:nvSpPr>
          <p:cNvPr id="15" name="Text 13"/>
          <p:cNvSpPr/>
          <p:nvPr/>
        </p:nvSpPr>
        <p:spPr>
          <a:xfrm>
            <a:off x="8458200" y="1399032"/>
            <a:ext cx="283464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UTM / U-space</a:t>
            </a:r>
            <a:endParaRPr lang="en-US" sz="1600" dirty="0"/>
          </a:p>
        </p:txBody>
      </p:sp>
      <p:sp>
        <p:nvSpPr>
          <p:cNvPr id="16" name="Text 14"/>
          <p:cNvSpPr/>
          <p:nvPr/>
        </p:nvSpPr>
        <p:spPr>
          <a:xfrm>
            <a:off x="8458200" y="1801368"/>
            <a:ext cx="2834640" cy="77724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цифровая регистрация, геозоны, авторизация полёта, трекинг, конфликт-менеджмент.</a:t>
            </a:r>
            <a:endParaRPr lang="en-US" sz="1350" dirty="0"/>
          </a:p>
        </p:txBody>
      </p:sp>
      <p:sp>
        <p:nvSpPr>
          <p:cNvPr id="17" name="Shape 15"/>
          <p:cNvSpPr/>
          <p:nvPr/>
        </p:nvSpPr>
        <p:spPr>
          <a:xfrm>
            <a:off x="1508760" y="3703320"/>
            <a:ext cx="4160520" cy="1234440"/>
          </a:xfrm>
          <a:prstGeom prst="roundRect">
            <a:avLst>
              <a:gd name="adj" fmla="val 5926"/>
            </a:avLst>
          </a:prstGeom>
          <a:solidFill>
            <a:srgbClr val="FFFFFF"/>
          </a:solidFill>
          <a:ln w="12700">
            <a:solidFill>
              <a:srgbClr val="D6E2F2"/>
            </a:solidFill>
            <a:prstDash val="solid"/>
          </a:ln>
        </p:spPr>
      </p:sp>
      <p:sp>
        <p:nvSpPr>
          <p:cNvPr id="18" name="Shape 16"/>
          <p:cNvSpPr/>
          <p:nvPr/>
        </p:nvSpPr>
        <p:spPr>
          <a:xfrm>
            <a:off x="1508760" y="3703320"/>
            <a:ext cx="73152" cy="1234440"/>
          </a:xfrm>
          <a:prstGeom prst="rect">
            <a:avLst/>
          </a:prstGeom>
          <a:solidFill>
            <a:srgbClr val="F59E0B"/>
          </a:solidFill>
          <a:ln w="12700">
            <a:solidFill>
              <a:srgbClr val="333333">
                <a:alpha val="0"/>
              </a:srgbClr>
            </a:solidFill>
            <a:prstDash val="solid"/>
          </a:ln>
        </p:spPr>
      </p:sp>
      <p:sp>
        <p:nvSpPr>
          <p:cNvPr id="19" name="Text 17"/>
          <p:cNvSpPr/>
          <p:nvPr/>
        </p:nvSpPr>
        <p:spPr>
          <a:xfrm>
            <a:off x="1737360" y="3867912"/>
            <a:ext cx="3749040" cy="274320"/>
          </a:xfrm>
          <a:prstGeom prst="rect">
            <a:avLst/>
          </a:prstGeom>
          <a:noFill/>
          <a:ln/>
        </p:spPr>
        <p:txBody>
          <a:bodyPr wrap="square" lIns="0" tIns="0" rIns="0" bIns="0" rtlCol="0" anchor="ctr">
            <a:normAutofit/>
          </a:bodyPr>
          <a:lstStyle/>
          <a:p>
            <a:pPr marL="0" indent="0">
              <a:buNone/>
            </a:pPr>
            <a:r>
              <a:rPr lang="en-US" sz="1600" b="1" dirty="0">
                <a:solidFill>
                  <a:srgbClr val="F59E0B"/>
                </a:solidFill>
              </a:rPr>
              <a:t>SORA</a:t>
            </a:r>
            <a:endParaRPr lang="en-US" sz="1600" dirty="0"/>
          </a:p>
        </p:txBody>
      </p:sp>
      <p:sp>
        <p:nvSpPr>
          <p:cNvPr id="20" name="Text 18"/>
          <p:cNvSpPr/>
          <p:nvPr/>
        </p:nvSpPr>
        <p:spPr>
          <a:xfrm>
            <a:off x="1737360" y="4270248"/>
            <a:ext cx="3749040" cy="594360"/>
          </a:xfrm>
          <a:prstGeom prst="rect">
            <a:avLst/>
          </a:prstGeom>
          <a:noFill/>
          <a:ln/>
        </p:spPr>
        <p:txBody>
          <a:bodyPr wrap="square" lIns="254" tIns="254" rIns="254" bIns="254" rtlCol="0" anchor="t">
            <a:normAutofit lnSpcReduction="10000"/>
          </a:bodyPr>
          <a:lstStyle/>
          <a:p>
            <a:pPr marL="0" indent="0">
              <a:buNone/>
            </a:pPr>
            <a:r>
              <a:rPr lang="en-US" sz="1350" dirty="0">
                <a:solidFill>
                  <a:srgbClr val="13213A"/>
                </a:solidFill>
              </a:rPr>
              <a:t>метод оценки риска операции: наземный риск, воздушный риск, уровень SAIL и средства соответствия.</a:t>
            </a:r>
            <a:endParaRPr lang="en-US" sz="1350" dirty="0"/>
          </a:p>
        </p:txBody>
      </p:sp>
      <p:sp>
        <p:nvSpPr>
          <p:cNvPr id="21" name="Shape 19"/>
          <p:cNvSpPr/>
          <p:nvPr/>
        </p:nvSpPr>
        <p:spPr>
          <a:xfrm>
            <a:off x="6492240" y="3703320"/>
            <a:ext cx="4160520" cy="1234440"/>
          </a:xfrm>
          <a:prstGeom prst="roundRect">
            <a:avLst>
              <a:gd name="adj" fmla="val 5926"/>
            </a:avLst>
          </a:prstGeom>
          <a:solidFill>
            <a:srgbClr val="FFFFFF"/>
          </a:solidFill>
          <a:ln w="12700">
            <a:solidFill>
              <a:srgbClr val="D6E2F2"/>
            </a:solidFill>
            <a:prstDash val="solid"/>
          </a:ln>
        </p:spPr>
      </p:sp>
      <p:sp>
        <p:nvSpPr>
          <p:cNvPr id="22" name="Shape 20"/>
          <p:cNvSpPr/>
          <p:nvPr/>
        </p:nvSpPr>
        <p:spPr>
          <a:xfrm>
            <a:off x="6492240" y="3703320"/>
            <a:ext cx="73152" cy="1234440"/>
          </a:xfrm>
          <a:prstGeom prst="rect">
            <a:avLst/>
          </a:prstGeom>
          <a:solidFill>
            <a:srgbClr val="1F3A5F"/>
          </a:solidFill>
          <a:ln w="12700">
            <a:solidFill>
              <a:srgbClr val="333333">
                <a:alpha val="0"/>
              </a:srgbClr>
            </a:solidFill>
            <a:prstDash val="solid"/>
          </a:ln>
        </p:spPr>
      </p:sp>
      <p:sp>
        <p:nvSpPr>
          <p:cNvPr id="23" name="Text 21"/>
          <p:cNvSpPr/>
          <p:nvPr/>
        </p:nvSpPr>
        <p:spPr>
          <a:xfrm>
            <a:off x="6720840" y="3867912"/>
            <a:ext cx="3749040" cy="274320"/>
          </a:xfrm>
          <a:prstGeom prst="rect">
            <a:avLst/>
          </a:prstGeom>
          <a:noFill/>
          <a:ln/>
        </p:spPr>
        <p:txBody>
          <a:bodyPr wrap="square" lIns="0" tIns="0" rIns="0" bIns="0" rtlCol="0" anchor="ctr">
            <a:normAutofit/>
          </a:bodyPr>
          <a:lstStyle/>
          <a:p>
            <a:pPr marL="0" indent="0">
              <a:buNone/>
            </a:pPr>
            <a:r>
              <a:rPr lang="en-US" sz="1600" b="1" dirty="0">
                <a:solidFill>
                  <a:srgbClr val="1F3A5F"/>
                </a:solidFill>
              </a:rPr>
              <a:t>Класс H / ЭПР (РФ)</a:t>
            </a:r>
            <a:endParaRPr lang="en-US" sz="1600" dirty="0"/>
          </a:p>
        </p:txBody>
      </p:sp>
      <p:sp>
        <p:nvSpPr>
          <p:cNvPr id="24" name="Text 22"/>
          <p:cNvSpPr/>
          <p:nvPr/>
        </p:nvSpPr>
        <p:spPr>
          <a:xfrm>
            <a:off x="6720840" y="4270248"/>
            <a:ext cx="3749040" cy="594360"/>
          </a:xfrm>
          <a:prstGeom prst="rect">
            <a:avLst/>
          </a:prstGeom>
          <a:noFill/>
          <a:ln/>
        </p:spPr>
        <p:txBody>
          <a:bodyPr wrap="square" lIns="254" tIns="254" rIns="254" bIns="254" rtlCol="0" anchor="t">
            <a:normAutofit fontScale="92500"/>
          </a:bodyPr>
          <a:lstStyle/>
          <a:p>
            <a:pPr marL="0" indent="0">
              <a:buNone/>
            </a:pPr>
            <a:r>
              <a:rPr lang="en-US" sz="1350" dirty="0">
                <a:solidFill>
                  <a:srgbClr val="13213A"/>
                </a:solidFill>
              </a:rPr>
              <a:t>в РФ развиваются экспериментальные правовые режимы (ЭПР) и выделенные зоны для БАС; конкретные требования уточняйте по действующим документам.</a:t>
            </a:r>
            <a:endParaRPr lang="en-US" sz="1350" dirty="0"/>
          </a:p>
        </p:txBody>
      </p:sp>
      <p:sp>
        <p:nvSpPr>
          <p:cNvPr id="25" name="Shape 23"/>
          <p:cNvSpPr/>
          <p:nvPr/>
        </p:nvSpPr>
        <p:spPr>
          <a:xfrm>
            <a:off x="502920" y="6446520"/>
            <a:ext cx="11201400" cy="0"/>
          </a:xfrm>
          <a:prstGeom prst="line">
            <a:avLst/>
          </a:prstGeom>
          <a:noFill/>
          <a:ln w="7620">
            <a:solidFill>
              <a:srgbClr val="B9C7D8">
                <a:alpha val="65000"/>
              </a:srgbClr>
            </a:solidFill>
            <a:prstDash val="solid"/>
          </a:ln>
        </p:spPr>
      </p:sp>
      <p:sp>
        <p:nvSpPr>
          <p:cNvPr id="26" name="Text 24"/>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7" name="Text 25"/>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БЕЗОПАСНОСТЬ</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Эксплуатационная безопасность и отказоустойчивость</a:t>
            </a:r>
            <a:endParaRPr lang="en-US" sz="3100" dirty="0"/>
          </a:p>
        </p:txBody>
      </p:sp>
      <p:sp>
        <p:nvSpPr>
          <p:cNvPr id="5" name="Shape 3"/>
          <p:cNvSpPr/>
          <p:nvPr/>
        </p:nvSpPr>
        <p:spPr>
          <a:xfrm>
            <a:off x="777240" y="1325880"/>
            <a:ext cx="4892040" cy="1280160"/>
          </a:xfrm>
          <a:prstGeom prst="roundRect">
            <a:avLst>
              <a:gd name="adj" fmla="val 5714"/>
            </a:avLst>
          </a:prstGeom>
          <a:solidFill>
            <a:srgbClr val="FFFFFF"/>
          </a:solidFill>
          <a:ln w="12700">
            <a:solidFill>
              <a:srgbClr val="D6E2F2"/>
            </a:solidFill>
            <a:prstDash val="solid"/>
          </a:ln>
        </p:spPr>
      </p:sp>
      <p:sp>
        <p:nvSpPr>
          <p:cNvPr id="6" name="Shape 4"/>
          <p:cNvSpPr/>
          <p:nvPr/>
        </p:nvSpPr>
        <p:spPr>
          <a:xfrm>
            <a:off x="777240" y="1325880"/>
            <a:ext cx="73152" cy="1280160"/>
          </a:xfrm>
          <a:prstGeom prst="rect">
            <a:avLst/>
          </a:prstGeom>
          <a:solidFill>
            <a:srgbClr val="2E86DE"/>
          </a:solidFill>
          <a:ln w="12700">
            <a:solidFill>
              <a:srgbClr val="333333">
                <a:alpha val="0"/>
              </a:srgbClr>
            </a:solidFill>
            <a:prstDash val="solid"/>
          </a:ln>
        </p:spPr>
      </p:sp>
      <p:sp>
        <p:nvSpPr>
          <p:cNvPr id="7" name="Text 5"/>
          <p:cNvSpPr/>
          <p:nvPr/>
        </p:nvSpPr>
        <p:spPr>
          <a:xfrm>
            <a:off x="1005840" y="1490472"/>
            <a:ext cx="4480560" cy="274320"/>
          </a:xfrm>
          <a:prstGeom prst="rect">
            <a:avLst/>
          </a:prstGeom>
          <a:noFill/>
          <a:ln/>
        </p:spPr>
        <p:txBody>
          <a:bodyPr wrap="square" lIns="0" tIns="0" rIns="0" bIns="0" rtlCol="0" anchor="ctr">
            <a:normAutofit/>
          </a:bodyPr>
          <a:lstStyle/>
          <a:p>
            <a:pPr marL="0" indent="0">
              <a:buNone/>
            </a:pPr>
            <a:r>
              <a:rPr lang="en-US" sz="1600" b="1" dirty="0">
                <a:solidFill>
                  <a:srgbClr val="2E86DE"/>
                </a:solidFill>
              </a:rPr>
              <a:t>Перед полётом</a:t>
            </a:r>
            <a:endParaRPr lang="en-US" sz="1600" dirty="0"/>
          </a:p>
        </p:txBody>
      </p:sp>
      <p:sp>
        <p:nvSpPr>
          <p:cNvPr id="8" name="Text 6"/>
          <p:cNvSpPr/>
          <p:nvPr/>
        </p:nvSpPr>
        <p:spPr>
          <a:xfrm>
            <a:off x="1005840" y="1892808"/>
            <a:ext cx="4480560" cy="64008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проверка батареи, винтов, прошивки, GNSS, геозон, погоды и миссии</a:t>
            </a:r>
            <a:endParaRPr lang="en-US" sz="1350" dirty="0"/>
          </a:p>
        </p:txBody>
      </p:sp>
      <p:sp>
        <p:nvSpPr>
          <p:cNvPr id="9" name="Shape 7"/>
          <p:cNvSpPr/>
          <p:nvPr/>
        </p:nvSpPr>
        <p:spPr>
          <a:xfrm>
            <a:off x="6263640" y="1325880"/>
            <a:ext cx="4892040" cy="1280160"/>
          </a:xfrm>
          <a:prstGeom prst="roundRect">
            <a:avLst>
              <a:gd name="adj" fmla="val 5714"/>
            </a:avLst>
          </a:prstGeom>
          <a:solidFill>
            <a:srgbClr val="FFFFFF"/>
          </a:solidFill>
          <a:ln w="12700">
            <a:solidFill>
              <a:srgbClr val="D6E2F2"/>
            </a:solidFill>
            <a:prstDash val="solid"/>
          </a:ln>
        </p:spPr>
      </p:sp>
      <p:sp>
        <p:nvSpPr>
          <p:cNvPr id="10" name="Shape 8"/>
          <p:cNvSpPr/>
          <p:nvPr/>
        </p:nvSpPr>
        <p:spPr>
          <a:xfrm>
            <a:off x="6263640" y="1325880"/>
            <a:ext cx="73152" cy="1280160"/>
          </a:xfrm>
          <a:prstGeom prst="rect">
            <a:avLst/>
          </a:prstGeom>
          <a:solidFill>
            <a:srgbClr val="38BDF8"/>
          </a:solidFill>
          <a:ln w="12700">
            <a:solidFill>
              <a:srgbClr val="333333">
                <a:alpha val="0"/>
              </a:srgbClr>
            </a:solidFill>
            <a:prstDash val="solid"/>
          </a:ln>
        </p:spPr>
      </p:sp>
      <p:sp>
        <p:nvSpPr>
          <p:cNvPr id="11" name="Text 9"/>
          <p:cNvSpPr/>
          <p:nvPr/>
        </p:nvSpPr>
        <p:spPr>
          <a:xfrm>
            <a:off x="6492240" y="1490472"/>
            <a:ext cx="4480560" cy="274320"/>
          </a:xfrm>
          <a:prstGeom prst="rect">
            <a:avLst/>
          </a:prstGeom>
          <a:noFill/>
          <a:ln/>
        </p:spPr>
        <p:txBody>
          <a:bodyPr wrap="square" lIns="0" tIns="0" rIns="0" bIns="0" rtlCol="0" anchor="ctr">
            <a:normAutofit/>
          </a:bodyPr>
          <a:lstStyle/>
          <a:p>
            <a:pPr marL="0" indent="0">
              <a:buNone/>
            </a:pPr>
            <a:r>
              <a:rPr lang="en-US" sz="1600" b="1" dirty="0">
                <a:solidFill>
                  <a:srgbClr val="38BDF8"/>
                </a:solidFill>
              </a:rPr>
              <a:t>В полёте</a:t>
            </a:r>
            <a:endParaRPr lang="en-US" sz="1600" dirty="0"/>
          </a:p>
        </p:txBody>
      </p:sp>
      <p:sp>
        <p:nvSpPr>
          <p:cNvPr id="12" name="Text 10"/>
          <p:cNvSpPr/>
          <p:nvPr/>
        </p:nvSpPr>
        <p:spPr>
          <a:xfrm>
            <a:off x="6492240" y="1892808"/>
            <a:ext cx="4480560" cy="64008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контроль телеметрии, связи, ветра, заряда, дистанции до людей и объектов</a:t>
            </a:r>
            <a:endParaRPr lang="en-US" sz="1350" dirty="0"/>
          </a:p>
        </p:txBody>
      </p:sp>
      <p:sp>
        <p:nvSpPr>
          <p:cNvPr id="13" name="Shape 11"/>
          <p:cNvSpPr/>
          <p:nvPr/>
        </p:nvSpPr>
        <p:spPr>
          <a:xfrm>
            <a:off x="777240" y="3291840"/>
            <a:ext cx="4892040" cy="1280160"/>
          </a:xfrm>
          <a:prstGeom prst="roundRect">
            <a:avLst>
              <a:gd name="adj" fmla="val 5714"/>
            </a:avLst>
          </a:prstGeom>
          <a:solidFill>
            <a:srgbClr val="FFFFFF"/>
          </a:solidFill>
          <a:ln w="12700">
            <a:solidFill>
              <a:srgbClr val="D6E2F2"/>
            </a:solidFill>
            <a:prstDash val="solid"/>
          </a:ln>
        </p:spPr>
      </p:sp>
      <p:sp>
        <p:nvSpPr>
          <p:cNvPr id="14" name="Shape 12"/>
          <p:cNvSpPr/>
          <p:nvPr/>
        </p:nvSpPr>
        <p:spPr>
          <a:xfrm>
            <a:off x="777240" y="3291840"/>
            <a:ext cx="73152" cy="1280160"/>
          </a:xfrm>
          <a:prstGeom prst="rect">
            <a:avLst/>
          </a:prstGeom>
          <a:solidFill>
            <a:srgbClr val="EF4444"/>
          </a:solidFill>
          <a:ln w="12700">
            <a:solidFill>
              <a:srgbClr val="333333">
                <a:alpha val="0"/>
              </a:srgbClr>
            </a:solidFill>
            <a:prstDash val="solid"/>
          </a:ln>
        </p:spPr>
      </p:sp>
      <p:sp>
        <p:nvSpPr>
          <p:cNvPr id="15" name="Text 13"/>
          <p:cNvSpPr/>
          <p:nvPr/>
        </p:nvSpPr>
        <p:spPr>
          <a:xfrm>
            <a:off x="1005840" y="3456432"/>
            <a:ext cx="4480560" cy="274320"/>
          </a:xfrm>
          <a:prstGeom prst="rect">
            <a:avLst/>
          </a:prstGeom>
          <a:noFill/>
          <a:ln/>
        </p:spPr>
        <p:txBody>
          <a:bodyPr wrap="square" lIns="0" tIns="0" rIns="0" bIns="0" rtlCol="0" anchor="ctr">
            <a:normAutofit/>
          </a:bodyPr>
          <a:lstStyle/>
          <a:p>
            <a:pPr marL="0" indent="0">
              <a:buNone/>
            </a:pPr>
            <a:r>
              <a:rPr lang="en-US" sz="1600" b="1" dirty="0">
                <a:solidFill>
                  <a:srgbClr val="EF4444"/>
                </a:solidFill>
              </a:rPr>
              <a:t>При отказе</a:t>
            </a:r>
            <a:endParaRPr lang="en-US" sz="1600" dirty="0"/>
          </a:p>
        </p:txBody>
      </p:sp>
      <p:sp>
        <p:nvSpPr>
          <p:cNvPr id="16" name="Text 14"/>
          <p:cNvSpPr/>
          <p:nvPr/>
        </p:nvSpPr>
        <p:spPr>
          <a:xfrm>
            <a:off x="1005840" y="3858768"/>
            <a:ext cx="4480560" cy="64008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failsafe: RTH, посадка, зависание, FTS, журналирование события</a:t>
            </a:r>
            <a:endParaRPr lang="en-US" sz="1350" dirty="0"/>
          </a:p>
        </p:txBody>
      </p:sp>
      <p:sp>
        <p:nvSpPr>
          <p:cNvPr id="17" name="Shape 15"/>
          <p:cNvSpPr/>
          <p:nvPr/>
        </p:nvSpPr>
        <p:spPr>
          <a:xfrm>
            <a:off x="6263640" y="3291840"/>
            <a:ext cx="4892040" cy="1280160"/>
          </a:xfrm>
          <a:prstGeom prst="roundRect">
            <a:avLst>
              <a:gd name="adj" fmla="val 5714"/>
            </a:avLst>
          </a:prstGeom>
          <a:solidFill>
            <a:srgbClr val="FFFFFF"/>
          </a:solidFill>
          <a:ln w="12700">
            <a:solidFill>
              <a:srgbClr val="D6E2F2"/>
            </a:solidFill>
            <a:prstDash val="solid"/>
          </a:ln>
        </p:spPr>
      </p:sp>
      <p:sp>
        <p:nvSpPr>
          <p:cNvPr id="18" name="Shape 16"/>
          <p:cNvSpPr/>
          <p:nvPr/>
        </p:nvSpPr>
        <p:spPr>
          <a:xfrm>
            <a:off x="6263640" y="3291840"/>
            <a:ext cx="73152" cy="1280160"/>
          </a:xfrm>
          <a:prstGeom prst="rect">
            <a:avLst/>
          </a:prstGeom>
          <a:solidFill>
            <a:srgbClr val="2FB344"/>
          </a:solidFill>
          <a:ln w="12700">
            <a:solidFill>
              <a:srgbClr val="333333">
                <a:alpha val="0"/>
              </a:srgbClr>
            </a:solidFill>
            <a:prstDash val="solid"/>
          </a:ln>
        </p:spPr>
      </p:sp>
      <p:sp>
        <p:nvSpPr>
          <p:cNvPr id="19" name="Text 17"/>
          <p:cNvSpPr/>
          <p:nvPr/>
        </p:nvSpPr>
        <p:spPr>
          <a:xfrm>
            <a:off x="6492240" y="3456432"/>
            <a:ext cx="4480560" cy="274320"/>
          </a:xfrm>
          <a:prstGeom prst="rect">
            <a:avLst/>
          </a:prstGeom>
          <a:noFill/>
          <a:ln/>
        </p:spPr>
        <p:txBody>
          <a:bodyPr wrap="square" lIns="0" tIns="0" rIns="0" bIns="0" rtlCol="0" anchor="ctr">
            <a:normAutofit/>
          </a:bodyPr>
          <a:lstStyle/>
          <a:p>
            <a:pPr marL="0" indent="0">
              <a:buNone/>
            </a:pPr>
            <a:r>
              <a:rPr lang="en-US" sz="1600" b="1" dirty="0">
                <a:solidFill>
                  <a:srgbClr val="2FB344"/>
                </a:solidFill>
              </a:rPr>
              <a:t>После полёта</a:t>
            </a:r>
            <a:endParaRPr lang="en-US" sz="1600" dirty="0"/>
          </a:p>
        </p:txBody>
      </p:sp>
      <p:sp>
        <p:nvSpPr>
          <p:cNvPr id="20" name="Text 18"/>
          <p:cNvSpPr/>
          <p:nvPr/>
        </p:nvSpPr>
        <p:spPr>
          <a:xfrm>
            <a:off x="6492240" y="3858768"/>
            <a:ext cx="4480560" cy="640080"/>
          </a:xfrm>
          <a:prstGeom prst="rect">
            <a:avLst/>
          </a:prstGeom>
          <a:noFill/>
          <a:ln/>
        </p:spPr>
        <p:txBody>
          <a:bodyPr wrap="square" lIns="254" tIns="254" rIns="254" bIns="254" rtlCol="0" anchor="t">
            <a:normAutofit/>
          </a:bodyPr>
          <a:lstStyle/>
          <a:p>
            <a:pPr marL="0" indent="0">
              <a:buNone/>
            </a:pPr>
            <a:r>
              <a:rPr lang="en-US" sz="1350" dirty="0">
                <a:solidFill>
                  <a:srgbClr val="13213A"/>
                </a:solidFill>
              </a:rPr>
              <a:t>выгрузка данных, осмотр аппарата, анализ логов, обслуживание</a:t>
            </a:r>
            <a:endParaRPr lang="en-US" sz="1350" dirty="0"/>
          </a:p>
        </p:txBody>
      </p:sp>
      <p:sp>
        <p:nvSpPr>
          <p:cNvPr id="21" name="Shape 19"/>
          <p:cNvSpPr/>
          <p:nvPr/>
        </p:nvSpPr>
        <p:spPr>
          <a:xfrm>
            <a:off x="1097280" y="5349240"/>
            <a:ext cx="9966960" cy="502920"/>
          </a:xfrm>
          <a:prstGeom prst="roundRect">
            <a:avLst>
              <a:gd name="adj" fmla="val 9091"/>
            </a:avLst>
          </a:prstGeom>
          <a:solidFill>
            <a:srgbClr val="1F3A5F">
              <a:alpha val="92000"/>
            </a:srgbClr>
          </a:solidFill>
          <a:ln w="12700">
            <a:solidFill>
              <a:srgbClr val="333333">
                <a:alpha val="0"/>
              </a:srgbClr>
            </a:solidFill>
            <a:prstDash val="solid"/>
          </a:ln>
        </p:spPr>
      </p:sp>
      <p:sp>
        <p:nvSpPr>
          <p:cNvPr id="22" name="Text 20"/>
          <p:cNvSpPr/>
          <p:nvPr/>
        </p:nvSpPr>
        <p:spPr>
          <a:xfrm>
            <a:off x="1261872" y="5458968"/>
            <a:ext cx="9637776" cy="320040"/>
          </a:xfrm>
          <a:prstGeom prst="rect">
            <a:avLst/>
          </a:prstGeom>
          <a:noFill/>
          <a:ln/>
        </p:spPr>
        <p:txBody>
          <a:bodyPr wrap="square" lIns="0" tIns="0" rIns="0" bIns="0" rtlCol="0" anchor="ctr">
            <a:normAutofit fontScale="85000" lnSpcReduction="10000"/>
          </a:bodyPr>
          <a:lstStyle/>
          <a:p>
            <a:pPr marL="0" indent="0" algn="ctr">
              <a:buNone/>
            </a:pPr>
            <a:r>
              <a:rPr lang="en-US" sz="1500" b="1" dirty="0">
                <a:solidFill>
                  <a:srgbClr val="FFFFFF"/>
                </a:solidFill>
              </a:rPr>
              <a:t>Безопасность БАС — это не одна функция, а сочетание техники, процедур, подготовки и культуры эксплуатации</a:t>
            </a:r>
            <a:endParaRPr lang="en-US" sz="1500" dirty="0"/>
          </a:p>
        </p:txBody>
      </p:sp>
      <p:sp>
        <p:nvSpPr>
          <p:cNvPr id="23" name="Shape 21"/>
          <p:cNvSpPr/>
          <p:nvPr/>
        </p:nvSpPr>
        <p:spPr>
          <a:xfrm>
            <a:off x="502920" y="6446520"/>
            <a:ext cx="11201400" cy="0"/>
          </a:xfrm>
          <a:prstGeom prst="line">
            <a:avLst/>
          </a:prstGeom>
          <a:noFill/>
          <a:ln w="7620">
            <a:solidFill>
              <a:srgbClr val="B9C7D8">
                <a:alpha val="65000"/>
              </a:srgbClr>
            </a:solidFill>
            <a:prstDash val="solid"/>
          </a:ln>
        </p:spPr>
      </p:sp>
      <p:sp>
        <p:nvSpPr>
          <p:cNvPr id="24" name="Text 22"/>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25" name="Text 23"/>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E86DE"/>
          </a:solidFill>
          <a:ln w="12700">
            <a:solidFill>
              <a:srgbClr val="333333">
                <a:alpha val="0"/>
              </a:srgbClr>
            </a:solidFill>
            <a:prstDash val="solid"/>
          </a:ln>
        </p:spPr>
      </p:sp>
      <p:sp>
        <p:nvSpPr>
          <p:cNvPr id="3" name="Text 1"/>
          <p:cNvSpPr/>
          <p:nvPr/>
        </p:nvSpPr>
        <p:spPr>
          <a:xfrm>
            <a:off x="594360" y="256032"/>
            <a:ext cx="3840480" cy="228600"/>
          </a:xfrm>
          <a:prstGeom prst="rect">
            <a:avLst/>
          </a:prstGeom>
          <a:noFill/>
          <a:ln/>
        </p:spPr>
        <p:txBody>
          <a:bodyPr wrap="square" lIns="0" tIns="0" rIns="0" bIns="0" rtlCol="0" anchor="ctr"/>
          <a:lstStyle/>
          <a:p>
            <a:pPr marL="0" indent="0">
              <a:buNone/>
            </a:pPr>
            <a:r>
              <a:rPr lang="en-US" sz="850" b="1" dirty="0">
                <a:solidFill>
                  <a:srgbClr val="2E86DE"/>
                </a:solidFill>
              </a:rPr>
              <a:t>ИТОГИ</a:t>
            </a:r>
            <a:endParaRPr lang="en-US" sz="850" dirty="0"/>
          </a:p>
        </p:txBody>
      </p:sp>
      <p:sp>
        <p:nvSpPr>
          <p:cNvPr id="4" name="Text 2"/>
          <p:cNvSpPr/>
          <p:nvPr/>
        </p:nvSpPr>
        <p:spPr>
          <a:xfrm>
            <a:off x="566928" y="502920"/>
            <a:ext cx="11064240" cy="548640"/>
          </a:xfrm>
          <a:prstGeom prst="rect">
            <a:avLst/>
          </a:prstGeom>
          <a:noFill/>
          <a:ln/>
        </p:spPr>
        <p:txBody>
          <a:bodyPr wrap="square" lIns="0" tIns="0" rIns="0" bIns="0" rtlCol="0" anchor="ctr">
            <a:normAutofit/>
          </a:bodyPr>
          <a:lstStyle/>
          <a:p>
            <a:pPr marL="0" indent="0">
              <a:buNone/>
            </a:pPr>
            <a:r>
              <a:rPr lang="en-US" sz="3100" b="1" dirty="0">
                <a:solidFill>
                  <a:srgbClr val="13213A"/>
                </a:solidFill>
                <a:latin typeface="Arial" pitchFamily="34" charset="0"/>
                <a:ea typeface="Arial" pitchFamily="34" charset="-122"/>
                <a:cs typeface="Arial" pitchFamily="34" charset="-120"/>
              </a:rPr>
              <a:t>Итоги и контрольные вопросы</a:t>
            </a:r>
            <a:endParaRPr lang="en-US" sz="3100" dirty="0"/>
          </a:p>
        </p:txBody>
      </p:sp>
      <p:sp>
        <p:nvSpPr>
          <p:cNvPr id="5" name="Text 3"/>
          <p:cNvSpPr/>
          <p:nvPr/>
        </p:nvSpPr>
        <p:spPr>
          <a:xfrm>
            <a:off x="685800" y="1188720"/>
            <a:ext cx="5760720" cy="3291840"/>
          </a:xfrm>
          <a:prstGeom prst="rect">
            <a:avLst/>
          </a:prstGeom>
          <a:noFill/>
          <a:ln/>
        </p:spPr>
        <p:txBody>
          <a:bodyPr wrap="square" lIns="1016" tIns="1016" rIns="1016" bIns="1016" rtlCol="0" anchor="t">
            <a:normAutofit/>
          </a:bodyPr>
          <a:lstStyle/>
          <a:p>
            <a:pPr marL="0" indent="0">
              <a:buNone/>
            </a:pPr>
            <a:r>
              <a:rPr lang="en-US" sz="1950" dirty="0">
                <a:solidFill>
                  <a:srgbClr val="13213A"/>
                </a:solidFill>
                <a:latin typeface="Arial" pitchFamily="34" charset="0"/>
                <a:ea typeface="Arial" pitchFamily="34" charset="-122"/>
                <a:cs typeface="Arial" pitchFamily="34" charset="-120"/>
              </a:rPr>
              <a:t>• БАС — система, а не только летательный аппарат;</a:t>
            </a:r>
            <a:endParaRPr lang="en-US" sz="1950" dirty="0"/>
          </a:p>
          <a:p>
            <a:pPr marL="0" indent="0">
              <a:buNone/>
            </a:pPr>
            <a:r>
              <a:rPr lang="en-US" sz="1950" dirty="0">
                <a:solidFill>
                  <a:srgbClr val="13213A"/>
                </a:solidFill>
                <a:latin typeface="Arial" pitchFamily="34" charset="0"/>
                <a:ea typeface="Arial" pitchFamily="34" charset="-122"/>
                <a:cs typeface="Arial" pitchFamily="34" charset="-120"/>
              </a:rPr>
              <a:t>• тип конструкции выбирают под миссию и риск;</a:t>
            </a:r>
            <a:endParaRPr lang="en-US" sz="1950" dirty="0"/>
          </a:p>
          <a:p>
            <a:pPr marL="0" indent="0">
              <a:buNone/>
            </a:pPr>
            <a:r>
              <a:rPr lang="en-US" sz="1950" dirty="0">
                <a:solidFill>
                  <a:srgbClr val="13213A"/>
                </a:solidFill>
                <a:latin typeface="Arial" pitchFamily="34" charset="0"/>
                <a:ea typeface="Arial" pitchFamily="34" charset="-122"/>
                <a:cs typeface="Arial" pitchFamily="34" charset="-120"/>
              </a:rPr>
              <a:t>• основная прикладная ценность часто находится в полезной нагрузке и данных;</a:t>
            </a:r>
            <a:endParaRPr lang="en-US" sz="1950" dirty="0"/>
          </a:p>
          <a:p>
            <a:pPr marL="0" indent="0">
              <a:buNone/>
            </a:pPr>
            <a:r>
              <a:rPr lang="en-US" sz="1950" dirty="0">
                <a:solidFill>
                  <a:srgbClr val="13213A"/>
                </a:solidFill>
                <a:latin typeface="Arial" pitchFamily="34" charset="0"/>
                <a:ea typeface="Arial" pitchFamily="34" charset="-122"/>
                <a:cs typeface="Arial" pitchFamily="34" charset="-120"/>
              </a:rPr>
              <a:t>• архитектура БАС включает воздушный, наземный, связной и человеческий сегменты;</a:t>
            </a:r>
            <a:endParaRPr lang="en-US" sz="1950" dirty="0"/>
          </a:p>
          <a:p>
            <a:pPr marL="0" indent="0">
              <a:buNone/>
            </a:pPr>
            <a:r>
              <a:rPr lang="en-US" sz="1950" dirty="0">
                <a:solidFill>
                  <a:srgbClr val="13213A"/>
                </a:solidFill>
                <a:latin typeface="Arial" pitchFamily="34" charset="0"/>
                <a:ea typeface="Arial" pitchFamily="34" charset="-122"/>
                <a:cs typeface="Arial" pitchFamily="34" charset="-120"/>
              </a:rPr>
              <a:t>• будущее отрасли — автономность, UTM/U-space, новые источники энергии и безопасная интеграция в воздушное пространство.</a:t>
            </a:r>
            <a:endParaRPr lang="en-US" sz="1950" dirty="0"/>
          </a:p>
        </p:txBody>
      </p:sp>
      <p:sp>
        <p:nvSpPr>
          <p:cNvPr id="6" name="Shape 4"/>
          <p:cNvSpPr/>
          <p:nvPr/>
        </p:nvSpPr>
        <p:spPr>
          <a:xfrm>
            <a:off x="6812280" y="1234440"/>
            <a:ext cx="4526280" cy="3108960"/>
          </a:xfrm>
          <a:prstGeom prst="roundRect">
            <a:avLst>
              <a:gd name="adj" fmla="val 2353"/>
            </a:avLst>
          </a:prstGeom>
          <a:solidFill>
            <a:srgbClr val="FFFFFF"/>
          </a:solidFill>
          <a:ln w="12700">
            <a:solidFill>
              <a:srgbClr val="D6E2F2"/>
            </a:solidFill>
            <a:prstDash val="solid"/>
          </a:ln>
        </p:spPr>
      </p:sp>
      <p:sp>
        <p:nvSpPr>
          <p:cNvPr id="7" name="Text 5"/>
          <p:cNvSpPr/>
          <p:nvPr/>
        </p:nvSpPr>
        <p:spPr>
          <a:xfrm>
            <a:off x="7132320" y="1508760"/>
            <a:ext cx="3840480" cy="228600"/>
          </a:xfrm>
          <a:prstGeom prst="rect">
            <a:avLst/>
          </a:prstGeom>
          <a:noFill/>
          <a:ln/>
        </p:spPr>
        <p:txBody>
          <a:bodyPr wrap="square" lIns="0" tIns="0" rIns="0" bIns="0" rtlCol="0" anchor="ctr"/>
          <a:lstStyle/>
          <a:p>
            <a:pPr marL="0" indent="0" algn="ctr">
              <a:buNone/>
            </a:pPr>
            <a:r>
              <a:rPr lang="en-US" sz="1700" b="1" dirty="0">
                <a:solidFill>
                  <a:srgbClr val="2E86DE"/>
                </a:solidFill>
              </a:rPr>
              <a:t>Контрольные вопросы</a:t>
            </a:r>
            <a:endParaRPr lang="en-US" sz="1700" dirty="0"/>
          </a:p>
        </p:txBody>
      </p:sp>
      <p:sp>
        <p:nvSpPr>
          <p:cNvPr id="8" name="Text 6"/>
          <p:cNvSpPr/>
          <p:nvPr/>
        </p:nvSpPr>
        <p:spPr>
          <a:xfrm>
            <a:off x="7178040" y="1993392"/>
            <a:ext cx="3749040" cy="1691640"/>
          </a:xfrm>
          <a:prstGeom prst="rect">
            <a:avLst/>
          </a:prstGeom>
          <a:noFill/>
          <a:ln/>
        </p:spPr>
        <p:txBody>
          <a:bodyPr wrap="square" lIns="0" tIns="0" rIns="0" bIns="0" rtlCol="0" anchor="ctr">
            <a:normAutofit/>
          </a:bodyPr>
          <a:lstStyle/>
          <a:p>
            <a:pPr marL="0" indent="0">
              <a:buNone/>
            </a:pPr>
            <a:r>
              <a:rPr lang="en-US" sz="1330" dirty="0">
                <a:solidFill>
                  <a:srgbClr val="13213A"/>
                </a:solidFill>
              </a:rPr>
              <a:t>1. Чем БАС отличается от БПЛА?</a:t>
            </a:r>
            <a:endParaRPr lang="en-US" sz="1330" dirty="0"/>
          </a:p>
          <a:p>
            <a:pPr marL="0" indent="0">
              <a:buNone/>
            </a:pPr>
            <a:r>
              <a:rPr lang="en-US" sz="1330" dirty="0">
                <a:solidFill>
                  <a:srgbClr val="13213A"/>
                </a:solidFill>
              </a:rPr>
              <a:t>2. Назовите три/четыре сегмента архитектуры.</a:t>
            </a:r>
            <a:endParaRPr lang="en-US" sz="1330" dirty="0"/>
          </a:p>
          <a:p>
            <a:pPr marL="0" indent="0">
              <a:buNone/>
            </a:pPr>
            <a:r>
              <a:rPr lang="en-US" sz="1330" dirty="0">
                <a:solidFill>
                  <a:srgbClr val="13213A"/>
                </a:solidFill>
              </a:rPr>
              <a:t>3. Какой тип выбрать для съёмки большой площади?</a:t>
            </a:r>
            <a:endParaRPr lang="en-US" sz="1330" dirty="0"/>
          </a:p>
          <a:p>
            <a:pPr marL="0" indent="0">
              <a:buNone/>
            </a:pPr>
            <a:r>
              <a:rPr lang="en-US" sz="1330" dirty="0">
                <a:solidFill>
                  <a:srgbClr val="13213A"/>
                </a:solidFill>
              </a:rPr>
              <a:t>4. Что такое полезная нагрузка?</a:t>
            </a:r>
            <a:endParaRPr lang="en-US" sz="1330" dirty="0"/>
          </a:p>
          <a:p>
            <a:pPr marL="0" indent="0">
              <a:buNone/>
            </a:pPr>
            <a:r>
              <a:rPr lang="en-US" sz="1330" dirty="0">
                <a:solidFill>
                  <a:srgbClr val="13213A"/>
                </a:solidFill>
              </a:rPr>
              <a:t>5. Что делает система при потере связи?</a:t>
            </a:r>
            <a:endParaRPr lang="en-US" sz="1330" dirty="0"/>
          </a:p>
        </p:txBody>
      </p:sp>
      <p:sp>
        <p:nvSpPr>
          <p:cNvPr id="9" name="Text 7"/>
          <p:cNvSpPr/>
          <p:nvPr/>
        </p:nvSpPr>
        <p:spPr>
          <a:xfrm>
            <a:off x="749808" y="5074920"/>
            <a:ext cx="10561320" cy="658368"/>
          </a:xfrm>
          <a:prstGeom prst="rect">
            <a:avLst/>
          </a:prstGeom>
          <a:noFill/>
          <a:ln/>
        </p:spPr>
        <p:txBody>
          <a:bodyPr wrap="square" lIns="0" tIns="0" rIns="0" bIns="0" rtlCol="0" anchor="ctr">
            <a:normAutofit/>
          </a:bodyPr>
          <a:lstStyle/>
          <a:p>
            <a:pPr marL="0" indent="0">
              <a:buNone/>
            </a:pPr>
            <a:r>
              <a:rPr lang="en-US" sz="1120" dirty="0">
                <a:solidFill>
                  <a:srgbClr val="657487"/>
                </a:solidFill>
              </a:rPr>
              <a:t>Источники для обновления: исходный бриф + дополнительный deep-research; EASA U-space/SORA, ГОСТ Р 59517-2021, НТИ «Аэронет», материалы по AgTech, LiDAR, SLAM и каналам связи.</a:t>
            </a:r>
            <a:endParaRPr lang="en-US" sz="1120" dirty="0"/>
          </a:p>
        </p:txBody>
      </p:sp>
      <p:sp>
        <p:nvSpPr>
          <p:cNvPr id="10" name="Text 8"/>
          <p:cNvSpPr/>
          <p:nvPr/>
        </p:nvSpPr>
        <p:spPr>
          <a:xfrm>
            <a:off x="2792548" y="5602514"/>
            <a:ext cx="5577840" cy="615406"/>
          </a:xfrm>
          <a:prstGeom prst="rect">
            <a:avLst/>
          </a:prstGeom>
          <a:noFill/>
          <a:ln/>
        </p:spPr>
        <p:txBody>
          <a:bodyPr wrap="square" lIns="0" tIns="0" rIns="0" bIns="0" rtlCol="0" anchor="ctr"/>
          <a:lstStyle/>
          <a:p>
            <a:pPr marL="0" indent="0" algn="ctr">
              <a:buNone/>
            </a:pPr>
            <a:r>
              <a:rPr lang="en-US" sz="2800" b="1" dirty="0">
                <a:solidFill>
                  <a:srgbClr val="2E86DE"/>
                </a:solidFill>
              </a:rPr>
              <a:t>Спасибо за внимание. </a:t>
            </a:r>
            <a:endParaRPr lang="en-US" sz="2800" dirty="0"/>
          </a:p>
        </p:txBody>
      </p:sp>
      <p:sp>
        <p:nvSpPr>
          <p:cNvPr id="11" name="Shape 9"/>
          <p:cNvSpPr/>
          <p:nvPr/>
        </p:nvSpPr>
        <p:spPr>
          <a:xfrm>
            <a:off x="502920" y="6446520"/>
            <a:ext cx="11201400" cy="0"/>
          </a:xfrm>
          <a:prstGeom prst="line">
            <a:avLst/>
          </a:prstGeom>
          <a:noFill/>
          <a:ln w="7620">
            <a:solidFill>
              <a:srgbClr val="B9C7D8">
                <a:alpha val="65000"/>
              </a:srgbClr>
            </a:solidFill>
            <a:prstDash val="solid"/>
          </a:ln>
        </p:spPr>
      </p:sp>
      <p:sp>
        <p:nvSpPr>
          <p:cNvPr id="12" name="Text 10"/>
          <p:cNvSpPr/>
          <p:nvPr/>
        </p:nvSpPr>
        <p:spPr>
          <a:xfrm>
            <a:off x="502920" y="6510528"/>
            <a:ext cx="4114800" cy="201168"/>
          </a:xfrm>
          <a:prstGeom prst="rect">
            <a:avLst/>
          </a:prstGeom>
          <a:noFill/>
          <a:ln/>
        </p:spPr>
        <p:txBody>
          <a:bodyPr wrap="square" lIns="0" tIns="0" rIns="0" bIns="0" rtlCol="0" anchor="ctr"/>
          <a:lstStyle/>
          <a:p>
            <a:pPr marL="0" indent="0">
              <a:buNone/>
            </a:pPr>
            <a:r>
              <a:rPr lang="en-US" sz="850" dirty="0">
                <a:solidFill>
                  <a:srgbClr val="657487"/>
                </a:solidFill>
                <a:latin typeface="Arial" pitchFamily="34" charset="0"/>
                <a:ea typeface="Arial" pitchFamily="34" charset="-122"/>
                <a:cs typeface="Arial" pitchFamily="34" charset="-120"/>
              </a:rPr>
              <a:t>Введение в БАС</a:t>
            </a:r>
            <a:endParaRPr lang="en-US" sz="850" dirty="0"/>
          </a:p>
        </p:txBody>
      </p:sp>
      <p:sp>
        <p:nvSpPr>
          <p:cNvPr id="13" name="Text 11"/>
          <p:cNvSpPr/>
          <p:nvPr/>
        </p:nvSpPr>
        <p:spPr>
          <a:xfrm>
            <a:off x="11201400" y="6492240"/>
            <a:ext cx="502920" cy="228600"/>
          </a:xfrm>
          <a:prstGeom prst="rect">
            <a:avLst/>
          </a:prstGeom>
          <a:noFill/>
          <a:ln/>
        </p:spPr>
        <p:txBody>
          <a:bodyPr wrap="square" lIns="0" tIns="0" rIns="0" bIns="0" rtlCol="0" anchor="ctr"/>
          <a:lstStyle/>
          <a:p>
            <a:pPr marL="0" indent="0" algn="r">
              <a:buNone/>
            </a:pPr>
            <a:r>
              <a:rPr lang="en-US" sz="900" b="1" dirty="0">
                <a:solidFill>
                  <a:srgbClr val="2E86DE"/>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3200</Words>
  <Application>Microsoft Office PowerPoint</Application>
  <PresentationFormat>Широкоэкранный</PresentationFormat>
  <Paragraphs>437</Paragraphs>
  <Slides>30</Slides>
  <Notes>30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30</vt:i4>
      </vt:variant>
    </vt:vector>
  </HeadingPairs>
  <TitlesOfParts>
    <vt:vector size="33"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Введение в БАС</dc:title>
  <dc:subject>Введение в беспилотные авиационные системы</dc:subject>
  <dc:creator>OpenAI</dc:creator>
  <cp:lastModifiedBy>VR&amp;AR</cp:lastModifiedBy>
  <cp:revision>2</cp:revision>
  <dcterms:created xsi:type="dcterms:W3CDTF">2026-07-06T07:59:53Z</dcterms:created>
  <dcterms:modified xsi:type="dcterms:W3CDTF">2026-07-06T08:08:37Z</dcterms:modified>
</cp:coreProperties>
</file>